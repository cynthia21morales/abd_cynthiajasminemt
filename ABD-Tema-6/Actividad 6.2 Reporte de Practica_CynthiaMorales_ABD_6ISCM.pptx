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CEF516-D765-6710-2F4F-DEFB1F0D4E1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30C525F-2D65-B859-F141-180C0BAEF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F4952024-8558-F310-7E0C-5CF2F0B571BF}"/>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5" name="Marcador de pie de página 4">
            <a:extLst>
              <a:ext uri="{FF2B5EF4-FFF2-40B4-BE49-F238E27FC236}">
                <a16:creationId xmlns:a16="http://schemas.microsoft.com/office/drawing/2014/main" id="{4512ED14-5669-DFA4-25DA-455559DFF48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A3085E4-746E-A04E-E68E-24616714843B}"/>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1174720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2971B0-7419-ED06-9250-9B89F206175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090FEE1-B487-9511-0F38-C36B313490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0CA8DFE-3722-78B2-19B5-AA228BE88C97}"/>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5" name="Marcador de pie de página 4">
            <a:extLst>
              <a:ext uri="{FF2B5EF4-FFF2-40B4-BE49-F238E27FC236}">
                <a16:creationId xmlns:a16="http://schemas.microsoft.com/office/drawing/2014/main" id="{3E4BCCE7-EE8E-4307-1AD6-5B8E01BC84C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7330B5B-32C8-A8A1-18FF-8B07D9766D59}"/>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2731916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E04EAE-047C-42BA-4117-D5408EFFAA0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9C60711-638A-5379-42DD-66C9C08A9A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64E575-BC01-643D-D71D-7C451F17A052}"/>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5" name="Marcador de pie de página 4">
            <a:extLst>
              <a:ext uri="{FF2B5EF4-FFF2-40B4-BE49-F238E27FC236}">
                <a16:creationId xmlns:a16="http://schemas.microsoft.com/office/drawing/2014/main" id="{2956FEB6-DC2C-3E0B-3F10-F3D4EFC9C73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1015247-57A1-F065-B81B-B40E7FCDF8C3}"/>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128322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3A8F0-C84F-A8E0-0E9F-8802C8FA21B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3A5830D-6B03-10CD-3F8A-25933F0D1F9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27A9D62-D9DC-1071-AE00-977EC445DD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6898A4F-E2AF-ED3B-EFBC-6E6CFC192562}"/>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6" name="Marcador de pie de página 5">
            <a:extLst>
              <a:ext uri="{FF2B5EF4-FFF2-40B4-BE49-F238E27FC236}">
                <a16:creationId xmlns:a16="http://schemas.microsoft.com/office/drawing/2014/main" id="{311161B0-1A16-073F-65FA-3B82B54C9A8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BD46B24-7EA8-CC7A-9098-97F4CE076D7F}"/>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65003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77911-79D6-8EF3-8C39-C4F6F406A4B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28E29B5-7C2C-A93E-8A6D-DC9B67BB31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2338B99-8DE2-ABAB-8B33-420106E9FC1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33D9BE6-394D-4560-259F-D65B5BC81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11CD458-A079-1146-3CC2-0A475C5F581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CDD1D4FE-4DA0-5AF9-7144-F8D8E0100BCD}"/>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8" name="Marcador de pie de página 7">
            <a:extLst>
              <a:ext uri="{FF2B5EF4-FFF2-40B4-BE49-F238E27FC236}">
                <a16:creationId xmlns:a16="http://schemas.microsoft.com/office/drawing/2014/main" id="{65AB3187-9C45-9175-3D40-FC0C7FD7611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BF32BCAD-7236-66BA-B26D-96E1864B57AB}"/>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3505106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E4F4D-A2CC-5D93-ADB1-4076FE1E519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96D909D-E1CF-1C4F-ECC0-71ACCA4A8DA7}"/>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4" name="Marcador de pie de página 3">
            <a:extLst>
              <a:ext uri="{FF2B5EF4-FFF2-40B4-BE49-F238E27FC236}">
                <a16:creationId xmlns:a16="http://schemas.microsoft.com/office/drawing/2014/main" id="{28A38BE0-5165-66BB-7407-359C4203762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4053E75-A4F8-467D-B24A-B2322444FFF0}"/>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2282613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6FE1AD1-583E-559C-005E-B218960C409C}"/>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3" name="Marcador de pie de página 2">
            <a:extLst>
              <a:ext uri="{FF2B5EF4-FFF2-40B4-BE49-F238E27FC236}">
                <a16:creationId xmlns:a16="http://schemas.microsoft.com/office/drawing/2014/main" id="{C3E71630-A9C8-A844-8E7C-8C82460003CB}"/>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ECAB07E-7476-1362-4C2C-AE50126FED29}"/>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3692129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E651CE-F242-874D-01A4-8605D4E388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96BBB45-C8E2-1407-5CBB-5919CF0D5B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EA3C6691-8A54-4561-F795-FC3649B16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88A6748-99B9-8357-CF5F-700E2907A5DF}"/>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6" name="Marcador de pie de página 5">
            <a:extLst>
              <a:ext uri="{FF2B5EF4-FFF2-40B4-BE49-F238E27FC236}">
                <a16:creationId xmlns:a16="http://schemas.microsoft.com/office/drawing/2014/main" id="{12CC0F67-6778-24FE-84D1-B5B8EAF0CA1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F3F8A6D-96CA-BF26-0443-2F1246EF0A47}"/>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71676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50297-18E4-DFD4-69B0-8E72F182667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42618BD-6A55-0AFC-3273-93795A5F90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D96DD61-795E-C611-CA19-9987643359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1DF6AF-7D26-3E06-07B9-89BC481CF6CA}"/>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6" name="Marcador de pie de página 5">
            <a:extLst>
              <a:ext uri="{FF2B5EF4-FFF2-40B4-BE49-F238E27FC236}">
                <a16:creationId xmlns:a16="http://schemas.microsoft.com/office/drawing/2014/main" id="{ED1C89E5-3E11-417A-E173-3919B30F7CA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95B150E-B384-E738-0314-994C0CF2D1F7}"/>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306923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E911C-C42E-3D40-C648-909B3126E6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E5744FA-BDE3-6800-6E85-71EE7C1FAE7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1EE57D7-415D-B1C3-4154-7107C57E3A9E}"/>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5" name="Marcador de pie de página 4">
            <a:extLst>
              <a:ext uri="{FF2B5EF4-FFF2-40B4-BE49-F238E27FC236}">
                <a16:creationId xmlns:a16="http://schemas.microsoft.com/office/drawing/2014/main" id="{0D4B5BD3-514E-48A7-1D4F-BD3C3603C35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9D6120E-C01C-63FA-8555-E41E79C55A48}"/>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2496207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2CFC3C5-A67D-1D6D-1FDD-76275DAC370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3CD5AC1-3F8A-6136-6A82-89F828E29A8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79ABFF2-E212-72B0-F08F-98C9EB4FE016}"/>
              </a:ext>
            </a:extLst>
          </p:cNvPr>
          <p:cNvSpPr>
            <a:spLocks noGrp="1"/>
          </p:cNvSpPr>
          <p:nvPr>
            <p:ph type="dt" sz="half" idx="10"/>
          </p:nvPr>
        </p:nvSpPr>
        <p:spPr/>
        <p:txBody>
          <a:bodyPr/>
          <a:lstStyle/>
          <a:p>
            <a:fld id="{7B9926B5-DA2C-433C-B109-A090A9DA133C}" type="datetimeFigureOut">
              <a:rPr lang="es-MX" smtClean="0"/>
              <a:t>15/06/2026</a:t>
            </a:fld>
            <a:endParaRPr lang="es-MX"/>
          </a:p>
        </p:txBody>
      </p:sp>
      <p:sp>
        <p:nvSpPr>
          <p:cNvPr id="5" name="Marcador de pie de página 4">
            <a:extLst>
              <a:ext uri="{FF2B5EF4-FFF2-40B4-BE49-F238E27FC236}">
                <a16:creationId xmlns:a16="http://schemas.microsoft.com/office/drawing/2014/main" id="{47B7235D-9680-3AF6-934E-8BDB4F9FF94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53E899C-4191-D10B-5BB2-8088BF2EA669}"/>
              </a:ext>
            </a:extLst>
          </p:cNvPr>
          <p:cNvSpPr>
            <a:spLocks noGrp="1"/>
          </p:cNvSpPr>
          <p:nvPr>
            <p:ph type="sldNum" sz="quarter" idx="12"/>
          </p:nvPr>
        </p:nvSpPr>
        <p:spPr/>
        <p:txBody>
          <a:bodyPr/>
          <a:lstStyle/>
          <a:p>
            <a:fld id="{9985E614-2433-478F-8483-6AF5A175F56C}" type="slidenum">
              <a:rPr lang="es-MX" smtClean="0"/>
              <a:t>‹Nº›</a:t>
            </a:fld>
            <a:endParaRPr lang="es-MX"/>
          </a:p>
        </p:txBody>
      </p:sp>
    </p:spTree>
    <p:extLst>
      <p:ext uri="{BB962C8B-B14F-4D97-AF65-F5344CB8AC3E}">
        <p14:creationId xmlns:p14="http://schemas.microsoft.com/office/powerpoint/2010/main" val="3875722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97B861B-6D17-4151-7E86-6DB0B5C927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FA84D0A-27E3-BB4E-B80F-16BC3788E5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DCCC926-4165-3145-E067-D8DB53224E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9926B5-DA2C-433C-B109-A090A9DA133C}" type="datetimeFigureOut">
              <a:rPr lang="es-MX" smtClean="0"/>
              <a:t>15/06/2026</a:t>
            </a:fld>
            <a:endParaRPr lang="es-MX"/>
          </a:p>
        </p:txBody>
      </p:sp>
      <p:sp>
        <p:nvSpPr>
          <p:cNvPr id="5" name="Marcador de pie de página 4">
            <a:extLst>
              <a:ext uri="{FF2B5EF4-FFF2-40B4-BE49-F238E27FC236}">
                <a16:creationId xmlns:a16="http://schemas.microsoft.com/office/drawing/2014/main" id="{894CB893-6A45-1FA8-3089-4C0B026EC3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438697C7-F712-0F3D-D0A0-3079B7712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85E614-2433-478F-8483-6AF5A175F56C}" type="slidenum">
              <a:rPr lang="es-MX" smtClean="0"/>
              <a:t>‹Nº›</a:t>
            </a:fld>
            <a:endParaRPr lang="es-MX"/>
          </a:p>
        </p:txBody>
      </p:sp>
    </p:spTree>
    <p:extLst>
      <p:ext uri="{BB962C8B-B14F-4D97-AF65-F5344CB8AC3E}">
        <p14:creationId xmlns:p14="http://schemas.microsoft.com/office/powerpoint/2010/main" val="1979799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027E1BD5-1A1A-4D76-35C0-9F6E09944C1F}"/>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6.2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13 de </a:t>
            </a:r>
            <a:r>
              <a:rPr lang="en-US" sz="1600" dirty="0" err="1">
                <a:solidFill>
                  <a:srgbClr val="000000"/>
                </a:solidFill>
                <a:latin typeface="Century Gothic" panose="020B0502020202020204" pitchFamily="34" charset="0"/>
                <a:ea typeface="Glacial Indifference"/>
                <a:cs typeface="Glacial Indifference"/>
                <a:sym typeface="Glacial Indifference"/>
              </a:rPr>
              <a:t>junio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F04FC69B-B3C0-6CEF-C797-B093A9410589}"/>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84329980-A774-19A6-50FD-679D4CE2D80A}"/>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F3A36E77-E05D-E3A7-93A2-F487938C49F2}"/>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4494D9B6-9B96-AB89-08D0-E999303D7A67}"/>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EA7307CA-8550-F009-B7C7-C32ED2C20E64}"/>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EAB8C3A5-0291-2F6D-8A1E-E457EB72A007}"/>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3D4852C8-B6B5-44C5-5615-06ECC4618B39}"/>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400525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B2B248-0C90-5914-64E8-AA58CDD614F6}"/>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6354A822-A571-EAF9-AED9-2A0F7E014ADE}"/>
              </a:ext>
            </a:extLst>
          </p:cNvPr>
          <p:cNvSpPr>
            <a:spLocks noGrp="1"/>
          </p:cNvSpPr>
          <p:nvPr>
            <p:ph idx="1"/>
          </p:nvPr>
        </p:nvSpPr>
        <p:spPr/>
        <p:txBody>
          <a:bodyPr/>
          <a:lstStyle/>
          <a:p>
            <a:pPr marL="0" indent="0" algn="just">
              <a:buNone/>
            </a:pPr>
            <a:r>
              <a:rPr lang="es-MX" dirty="0" err="1"/>
              <a:t>Nginx</a:t>
            </a:r>
            <a:r>
              <a:rPr lang="es-MX" dirty="0"/>
              <a:t> es un servidor web de alto rendimiento utilizado para alojar aplicaciones web. En esta práctica se realizó la instalación y configuración de </a:t>
            </a:r>
            <a:r>
              <a:rPr lang="es-MX" dirty="0" err="1"/>
              <a:t>Nginx</a:t>
            </a:r>
            <a:r>
              <a:rPr lang="es-MX" dirty="0"/>
              <a:t> para publicar una aplicación Angular, permitiendo el acceso desde otros dispositivos de la red y modificando las direcciones de la API para reemplazar localhost por la dirección IP del servidor.</a:t>
            </a:r>
          </a:p>
        </p:txBody>
      </p:sp>
    </p:spTree>
    <p:extLst>
      <p:ext uri="{BB962C8B-B14F-4D97-AF65-F5344CB8AC3E}">
        <p14:creationId xmlns:p14="http://schemas.microsoft.com/office/powerpoint/2010/main" val="3957169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093E92-0FF4-2BA0-A413-3365B0527922}"/>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1D225A92-5BB7-B812-2389-516D19364196}"/>
              </a:ext>
            </a:extLst>
          </p:cNvPr>
          <p:cNvSpPr>
            <a:spLocks noGrp="1"/>
          </p:cNvSpPr>
          <p:nvPr>
            <p:ph idx="1"/>
          </p:nvPr>
        </p:nvSpPr>
        <p:spPr/>
        <p:txBody>
          <a:bodyPr>
            <a:normAutofit/>
          </a:bodyPr>
          <a:lstStyle/>
          <a:p>
            <a:pPr marL="0" indent="0" algn="just">
              <a:buNone/>
            </a:pPr>
            <a:r>
              <a:rPr lang="es-MX" sz="2400" dirty="0"/>
              <a:t>La presente práctica se realizó con la finalidad de adquirir conocimientos sobre la instalación y configuración de servidores web utilizando </a:t>
            </a:r>
            <a:r>
              <a:rPr lang="es-MX" sz="2400" dirty="0" err="1"/>
              <a:t>Nginx</a:t>
            </a:r>
            <a:r>
              <a:rPr lang="es-MX" sz="2400" dirty="0"/>
              <a:t>, una de las herramientas más utilizadas en el desarrollo y despliegue de aplicaciones web. Su implementación permite alojar aplicaciones de manera eficiente y facilitar el acceso a los recursos desde distintos dispositivos dentro de una red. Además, el despliegue de una aplicación Angular en </a:t>
            </a:r>
            <a:r>
              <a:rPr lang="es-MX" sz="2400" dirty="0" err="1"/>
              <a:t>Nginx</a:t>
            </a:r>
            <a:r>
              <a:rPr lang="es-MX" sz="2400" dirty="0"/>
              <a:t> contribuye al desarrollo de habilidades prácticas relacionadas con la administración de servidores, la publicación de aplicaciones y la preparación de entornos similares a los utilizados en el ámbito profesional.</a:t>
            </a:r>
          </a:p>
        </p:txBody>
      </p:sp>
    </p:spTree>
    <p:extLst>
      <p:ext uri="{BB962C8B-B14F-4D97-AF65-F5344CB8AC3E}">
        <p14:creationId xmlns:p14="http://schemas.microsoft.com/office/powerpoint/2010/main" val="2355736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20376-18AE-C70E-5762-8363F6F89040}"/>
              </a:ext>
            </a:extLst>
          </p:cNvPr>
          <p:cNvSpPr>
            <a:spLocks noGrp="1"/>
          </p:cNvSpPr>
          <p:nvPr>
            <p:ph type="title"/>
          </p:nvPr>
        </p:nvSpPr>
        <p:spPr>
          <a:xfrm>
            <a:off x="838200" y="550182"/>
            <a:ext cx="10515600" cy="1325563"/>
          </a:xfrm>
        </p:spPr>
        <p:txBody>
          <a:bodyPr>
            <a:normAutofit fontScale="90000"/>
          </a:bodyPr>
          <a:lstStyle/>
          <a:p>
            <a:r>
              <a:rPr lang="es-MX" dirty="0"/>
              <a:t>Se instaló el servidor web </a:t>
            </a:r>
            <a:r>
              <a:rPr lang="es-MX" dirty="0" err="1"/>
              <a:t>Nginx</a:t>
            </a:r>
            <a:r>
              <a:rPr lang="es-MX" dirty="0"/>
              <a:t> utilizando el gestor de paquetes APT de Ubuntu. Durante este proceso se descargaron e instalaron las dependencias necesarias para su funcionamiento.</a:t>
            </a:r>
          </a:p>
        </p:txBody>
      </p:sp>
      <p:pic>
        <p:nvPicPr>
          <p:cNvPr id="5" name="Marcador de contenido 4">
            <a:extLst>
              <a:ext uri="{FF2B5EF4-FFF2-40B4-BE49-F238E27FC236}">
                <a16:creationId xmlns:a16="http://schemas.microsoft.com/office/drawing/2014/main" id="{C9EF33D0-2262-97C4-8A3F-705D6936AE0F}"/>
              </a:ext>
            </a:extLst>
          </p:cNvPr>
          <p:cNvPicPr>
            <a:picLocks noGrp="1" noChangeAspect="1"/>
          </p:cNvPicPr>
          <p:nvPr>
            <p:ph idx="1"/>
          </p:nvPr>
        </p:nvPicPr>
        <p:blipFill>
          <a:blip r:embed="rId2"/>
          <a:stretch>
            <a:fillRect/>
          </a:stretch>
        </p:blipFill>
        <p:spPr>
          <a:xfrm>
            <a:off x="1819501" y="2391683"/>
            <a:ext cx="8552998" cy="4351338"/>
          </a:xfrm>
        </p:spPr>
      </p:pic>
    </p:spTree>
    <p:extLst>
      <p:ext uri="{BB962C8B-B14F-4D97-AF65-F5344CB8AC3E}">
        <p14:creationId xmlns:p14="http://schemas.microsoft.com/office/powerpoint/2010/main" val="2917591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57AAD-ED74-A628-FACF-5688B76550D1}"/>
              </a:ext>
            </a:extLst>
          </p:cNvPr>
          <p:cNvSpPr>
            <a:spLocks noGrp="1"/>
          </p:cNvSpPr>
          <p:nvPr>
            <p:ph type="title"/>
          </p:nvPr>
        </p:nvSpPr>
        <p:spPr/>
        <p:txBody>
          <a:bodyPr>
            <a:normAutofit fontScale="90000"/>
          </a:bodyPr>
          <a:lstStyle/>
          <a:p>
            <a:r>
              <a:rPr lang="es-MX" dirty="0"/>
              <a:t>El sistema descargó y configuró automáticamente los paquetes requeridos. Al finalizar, </a:t>
            </a:r>
            <a:r>
              <a:rPr lang="es-MX" dirty="0" err="1"/>
              <a:t>Nginx</a:t>
            </a:r>
            <a:r>
              <a:rPr lang="es-MX" dirty="0"/>
              <a:t> quedó disponible para ser utilizado como servidor web.</a:t>
            </a:r>
          </a:p>
        </p:txBody>
      </p:sp>
      <p:pic>
        <p:nvPicPr>
          <p:cNvPr id="4" name="Marcador de contenido 3">
            <a:extLst>
              <a:ext uri="{FF2B5EF4-FFF2-40B4-BE49-F238E27FC236}">
                <a16:creationId xmlns:a16="http://schemas.microsoft.com/office/drawing/2014/main" id="{35EEA507-E92F-FA26-1A29-CC55E8223011}"/>
              </a:ext>
            </a:extLst>
          </p:cNvPr>
          <p:cNvPicPr>
            <a:picLocks noGrp="1" noChangeAspect="1"/>
          </p:cNvPicPr>
          <p:nvPr>
            <p:ph idx="1"/>
          </p:nvPr>
        </p:nvPicPr>
        <p:blipFill>
          <a:blip r:embed="rId2"/>
          <a:stretch>
            <a:fillRect/>
          </a:stretch>
        </p:blipFill>
        <p:spPr>
          <a:xfrm>
            <a:off x="1819501" y="1825625"/>
            <a:ext cx="8552998" cy="4351338"/>
          </a:xfrm>
          <a:prstGeom prst="rect">
            <a:avLst/>
          </a:prstGeom>
        </p:spPr>
      </p:pic>
    </p:spTree>
    <p:extLst>
      <p:ext uri="{BB962C8B-B14F-4D97-AF65-F5344CB8AC3E}">
        <p14:creationId xmlns:p14="http://schemas.microsoft.com/office/powerpoint/2010/main" val="731275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64D918DF-ECA9-5A6C-740D-600CB7554DB1}"/>
              </a:ext>
            </a:extLst>
          </p:cNvPr>
          <p:cNvPicPr>
            <a:picLocks noGrp="1" noChangeAspect="1"/>
          </p:cNvPicPr>
          <p:nvPr>
            <p:ph idx="1"/>
          </p:nvPr>
        </p:nvPicPr>
        <p:blipFill>
          <a:blip r:embed="rId2"/>
          <a:stretch>
            <a:fillRect/>
          </a:stretch>
        </p:blipFill>
        <p:spPr>
          <a:xfrm>
            <a:off x="838200" y="2364301"/>
            <a:ext cx="10515600" cy="3273986"/>
          </a:xfrm>
          <a:prstGeom prst="rect">
            <a:avLst/>
          </a:prstGeom>
        </p:spPr>
      </p:pic>
      <p:sp>
        <p:nvSpPr>
          <p:cNvPr id="5" name="Rectangle 1">
            <a:extLst>
              <a:ext uri="{FF2B5EF4-FFF2-40B4-BE49-F238E27FC236}">
                <a16:creationId xmlns:a16="http://schemas.microsoft.com/office/drawing/2014/main" id="{4AE74763-4266-051F-3A13-7001B3F70694}"/>
              </a:ext>
            </a:extLst>
          </p:cNvPr>
          <p:cNvSpPr>
            <a:spLocks noGrp="1" noChangeArrowheads="1"/>
          </p:cNvSpPr>
          <p:nvPr>
            <p:ph type="title"/>
          </p:nvPr>
        </p:nvSpPr>
        <p:spPr bwMode="auto">
          <a:xfrm>
            <a:off x="838201" y="447730"/>
            <a:ext cx="10515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600" dirty="0"/>
              <a:t>Se verificó el estado del servicio mediante el comando </a:t>
            </a:r>
            <a:r>
              <a:rPr lang="es-MX" altLang="es-MX" sz="3600" dirty="0" err="1"/>
              <a:t>systemctl</a:t>
            </a:r>
            <a:r>
              <a:rPr lang="es-MX" altLang="es-MX" sz="3600" dirty="0"/>
              <a:t> status </a:t>
            </a:r>
            <a:r>
              <a:rPr lang="es-MX" altLang="es-MX" sz="3600" dirty="0" err="1"/>
              <a:t>nginx</a:t>
            </a:r>
            <a:r>
              <a:rPr lang="es-MX" altLang="es-MX" sz="3600" dirty="0"/>
              <a:t>, confirmando que el servidor se encontraba activo y ejecutándose correctamente. </a:t>
            </a:r>
          </a:p>
        </p:txBody>
      </p:sp>
    </p:spTree>
    <p:extLst>
      <p:ext uri="{BB962C8B-B14F-4D97-AF65-F5344CB8AC3E}">
        <p14:creationId xmlns:p14="http://schemas.microsoft.com/office/powerpoint/2010/main" val="1742765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1378D438-23DC-9EA7-1F77-D4C6D5F613B8}"/>
              </a:ext>
            </a:extLst>
          </p:cNvPr>
          <p:cNvPicPr>
            <a:picLocks noGrp="1" noChangeAspect="1"/>
          </p:cNvPicPr>
          <p:nvPr>
            <p:ph idx="1"/>
          </p:nvPr>
        </p:nvPicPr>
        <p:blipFill>
          <a:blip r:embed="rId2"/>
          <a:stretch>
            <a:fillRect/>
          </a:stretch>
        </p:blipFill>
        <p:spPr>
          <a:xfrm>
            <a:off x="1819501" y="2349477"/>
            <a:ext cx="8552998" cy="4351338"/>
          </a:xfrm>
          <a:prstGeom prst="rect">
            <a:avLst/>
          </a:prstGeom>
        </p:spPr>
      </p:pic>
      <p:sp>
        <p:nvSpPr>
          <p:cNvPr id="5" name="Rectangle 1">
            <a:extLst>
              <a:ext uri="{FF2B5EF4-FFF2-40B4-BE49-F238E27FC236}">
                <a16:creationId xmlns:a16="http://schemas.microsoft.com/office/drawing/2014/main" id="{0A75F3BF-3CE0-4D39-C1C3-A7827128EDD5}"/>
              </a:ext>
            </a:extLst>
          </p:cNvPr>
          <p:cNvSpPr>
            <a:spLocks noGrp="1" noChangeArrowheads="1"/>
          </p:cNvSpPr>
          <p:nvPr>
            <p:ph type="title"/>
          </p:nvPr>
        </p:nvSpPr>
        <p:spPr bwMode="auto">
          <a:xfrm>
            <a:off x="838201" y="157185"/>
            <a:ext cx="105918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2800" dirty="0"/>
              <a:t>Prueba en navegador</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2800" dirty="0"/>
              <a:t>Se comprobó el funcionamiento de </a:t>
            </a:r>
            <a:r>
              <a:rPr lang="es-MX" altLang="es-MX" sz="2800" dirty="0" err="1"/>
              <a:t>Nginx</a:t>
            </a:r>
            <a:r>
              <a:rPr lang="es-MX" altLang="es-MX" sz="2800" dirty="0"/>
              <a:t> accediendo desde el navegador web. La aparición de la página "</a:t>
            </a:r>
            <a:r>
              <a:rPr lang="es-MX" altLang="es-MX" sz="2800" dirty="0" err="1"/>
              <a:t>Welcome</a:t>
            </a:r>
            <a:r>
              <a:rPr lang="es-MX" altLang="es-MX" sz="2800" dirty="0"/>
              <a:t> </a:t>
            </a:r>
            <a:r>
              <a:rPr lang="es-MX" altLang="es-MX" sz="2800" dirty="0" err="1"/>
              <a:t>to</a:t>
            </a:r>
            <a:r>
              <a:rPr lang="es-MX" altLang="es-MX" sz="2800" dirty="0"/>
              <a:t> </a:t>
            </a:r>
            <a:r>
              <a:rPr lang="es-MX" altLang="es-MX" sz="2800" dirty="0" err="1"/>
              <a:t>nginx</a:t>
            </a:r>
            <a:r>
              <a:rPr lang="es-MX" altLang="es-MX" sz="2800" dirty="0"/>
              <a:t>!" confirmó que el servidor estaba respondiendo correctamente.</a:t>
            </a:r>
          </a:p>
        </p:txBody>
      </p:sp>
    </p:spTree>
    <p:extLst>
      <p:ext uri="{BB962C8B-B14F-4D97-AF65-F5344CB8AC3E}">
        <p14:creationId xmlns:p14="http://schemas.microsoft.com/office/powerpoint/2010/main" val="301813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0C1AF-41A7-C702-BCA4-ECB3218657B3}"/>
              </a:ext>
            </a:extLst>
          </p:cNvPr>
          <p:cNvSpPr>
            <a:spLocks noGrp="1"/>
          </p:cNvSpPr>
          <p:nvPr>
            <p:ph type="title"/>
          </p:nvPr>
        </p:nvSpPr>
        <p:spPr/>
        <p:txBody>
          <a:bodyPr>
            <a:noAutofit/>
          </a:bodyPr>
          <a:lstStyle/>
          <a:p>
            <a:r>
              <a:rPr lang="es-MX" sz="3200" dirty="0" err="1"/>
              <a:t>Configuracion</a:t>
            </a:r>
            <a:r>
              <a:rPr lang="es-MX" sz="3200" dirty="0"/>
              <a:t> de angular</a:t>
            </a:r>
            <a:br>
              <a:rPr lang="es-MX" sz="3200" dirty="0"/>
            </a:br>
            <a:br>
              <a:rPr lang="es-MX" sz="3200" dirty="0"/>
            </a:br>
            <a:r>
              <a:rPr lang="es-MX" sz="3200" dirty="0"/>
              <a:t>Se revisó la configuración del proyecto Angular y se preparó la carpeta generada para producción con el objetivo de desplegar la aplicación mediante </a:t>
            </a:r>
            <a:r>
              <a:rPr lang="es-MX" sz="3200" dirty="0" err="1"/>
              <a:t>Nginx</a:t>
            </a:r>
            <a:r>
              <a:rPr lang="es-MX" sz="3200" dirty="0"/>
              <a:t>.</a:t>
            </a:r>
          </a:p>
        </p:txBody>
      </p:sp>
      <p:pic>
        <p:nvPicPr>
          <p:cNvPr id="4" name="Marcador de contenido 3">
            <a:extLst>
              <a:ext uri="{FF2B5EF4-FFF2-40B4-BE49-F238E27FC236}">
                <a16:creationId xmlns:a16="http://schemas.microsoft.com/office/drawing/2014/main" id="{8BED31DD-A541-09E3-FDB8-10E1E40B789F}"/>
              </a:ext>
            </a:extLst>
          </p:cNvPr>
          <p:cNvPicPr>
            <a:picLocks noGrp="1" noChangeAspect="1"/>
          </p:cNvPicPr>
          <p:nvPr>
            <p:ph idx="1"/>
          </p:nvPr>
        </p:nvPicPr>
        <p:blipFill>
          <a:blip r:embed="rId2"/>
          <a:stretch>
            <a:fillRect/>
          </a:stretch>
        </p:blipFill>
        <p:spPr>
          <a:xfrm>
            <a:off x="1819501" y="2506662"/>
            <a:ext cx="8552998" cy="4351338"/>
          </a:xfrm>
          <a:prstGeom prst="rect">
            <a:avLst/>
          </a:prstGeom>
        </p:spPr>
      </p:pic>
    </p:spTree>
    <p:extLst>
      <p:ext uri="{BB962C8B-B14F-4D97-AF65-F5344CB8AC3E}">
        <p14:creationId xmlns:p14="http://schemas.microsoft.com/office/powerpoint/2010/main" val="1321409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CB7370-7359-20E3-6AC7-1F99E8B8B29E}"/>
              </a:ext>
            </a:extLst>
          </p:cNvPr>
          <p:cNvSpPr>
            <a:spLocks noGrp="1"/>
          </p:cNvSpPr>
          <p:nvPr>
            <p:ph type="title"/>
          </p:nvPr>
        </p:nvSpPr>
        <p:spPr/>
        <p:txBody>
          <a:bodyPr/>
          <a:lstStyle/>
          <a:p>
            <a:r>
              <a:rPr lang="es-MX" dirty="0"/>
              <a:t>Copia de archivos</a:t>
            </a:r>
          </a:p>
        </p:txBody>
      </p:sp>
      <p:pic>
        <p:nvPicPr>
          <p:cNvPr id="4" name="Marcador de contenido 3">
            <a:extLst>
              <a:ext uri="{FF2B5EF4-FFF2-40B4-BE49-F238E27FC236}">
                <a16:creationId xmlns:a16="http://schemas.microsoft.com/office/drawing/2014/main" id="{CAD61799-39F6-7862-6F92-E62066D6EE31}"/>
              </a:ext>
            </a:extLst>
          </p:cNvPr>
          <p:cNvPicPr>
            <a:picLocks noGrp="1" noChangeAspect="1"/>
          </p:cNvPicPr>
          <p:nvPr>
            <p:ph idx="1"/>
          </p:nvPr>
        </p:nvPicPr>
        <p:blipFill>
          <a:blip r:embed="rId2"/>
          <a:stretch>
            <a:fillRect/>
          </a:stretch>
        </p:blipFill>
        <p:spPr>
          <a:xfrm>
            <a:off x="838200" y="2354743"/>
            <a:ext cx="10515600" cy="506358"/>
          </a:xfrm>
          <a:prstGeom prst="rect">
            <a:avLst/>
          </a:prstGeom>
        </p:spPr>
      </p:pic>
      <p:pic>
        <p:nvPicPr>
          <p:cNvPr id="5" name="Imagen 4">
            <a:extLst>
              <a:ext uri="{FF2B5EF4-FFF2-40B4-BE49-F238E27FC236}">
                <a16:creationId xmlns:a16="http://schemas.microsoft.com/office/drawing/2014/main" id="{1F6D8056-57A7-E137-3ED9-B4E27613B549}"/>
              </a:ext>
            </a:extLst>
          </p:cNvPr>
          <p:cNvPicPr>
            <a:picLocks noChangeAspect="1"/>
          </p:cNvPicPr>
          <p:nvPr/>
        </p:nvPicPr>
        <p:blipFill>
          <a:blip r:embed="rId3"/>
          <a:stretch>
            <a:fillRect/>
          </a:stretch>
        </p:blipFill>
        <p:spPr>
          <a:xfrm>
            <a:off x="838200" y="3833132"/>
            <a:ext cx="9344025" cy="1085850"/>
          </a:xfrm>
          <a:prstGeom prst="rect">
            <a:avLst/>
          </a:prstGeom>
        </p:spPr>
      </p:pic>
      <p:sp>
        <p:nvSpPr>
          <p:cNvPr id="7" name="CuadroTexto 6">
            <a:extLst>
              <a:ext uri="{FF2B5EF4-FFF2-40B4-BE49-F238E27FC236}">
                <a16:creationId xmlns:a16="http://schemas.microsoft.com/office/drawing/2014/main" id="{FFB43EB0-0563-AC18-A913-94A7B3D932F7}"/>
              </a:ext>
            </a:extLst>
          </p:cNvPr>
          <p:cNvSpPr txBox="1"/>
          <p:nvPr/>
        </p:nvSpPr>
        <p:spPr>
          <a:xfrm>
            <a:off x="838200" y="1229023"/>
            <a:ext cx="9667672" cy="830997"/>
          </a:xfrm>
          <a:prstGeom prst="rect">
            <a:avLst/>
          </a:prstGeom>
          <a:noFill/>
        </p:spPr>
        <p:txBody>
          <a:bodyPr wrap="square">
            <a:spAutoFit/>
          </a:bodyPr>
          <a:lstStyle/>
          <a:p>
            <a:r>
              <a:rPr lang="es-MX" sz="2400" dirty="0"/>
              <a:t>los archivos compilados de Angular fueron copiados al directorio /</a:t>
            </a:r>
            <a:r>
              <a:rPr lang="es-MX" sz="2400" dirty="0" err="1"/>
              <a:t>var</a:t>
            </a:r>
            <a:r>
              <a:rPr lang="es-MX" sz="2400" dirty="0"/>
              <a:t>/www/</a:t>
            </a:r>
            <a:r>
              <a:rPr lang="es-MX" sz="2400" dirty="0" err="1"/>
              <a:t>html</a:t>
            </a:r>
            <a:r>
              <a:rPr lang="es-MX" sz="2400" dirty="0"/>
              <a:t>, utilizado por </a:t>
            </a:r>
            <a:r>
              <a:rPr lang="es-MX" sz="2400" dirty="0" err="1"/>
              <a:t>Nginx</a:t>
            </a:r>
            <a:r>
              <a:rPr lang="es-MX" sz="2400" dirty="0"/>
              <a:t> para servir contenido web.</a:t>
            </a:r>
          </a:p>
        </p:txBody>
      </p:sp>
    </p:spTree>
    <p:extLst>
      <p:ext uri="{BB962C8B-B14F-4D97-AF65-F5344CB8AC3E}">
        <p14:creationId xmlns:p14="http://schemas.microsoft.com/office/powerpoint/2010/main" val="2835840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F5649-3CDE-0FBD-85FA-A400FBF51BA5}"/>
              </a:ext>
            </a:extLst>
          </p:cNvPr>
          <p:cNvSpPr>
            <a:spLocks noGrp="1"/>
          </p:cNvSpPr>
          <p:nvPr>
            <p:ph type="title"/>
          </p:nvPr>
        </p:nvSpPr>
        <p:spPr/>
        <p:txBody>
          <a:bodyPr/>
          <a:lstStyle/>
          <a:p>
            <a:r>
              <a:rPr lang="es-MX" dirty="0"/>
              <a:t>Verificación y reinicio </a:t>
            </a:r>
          </a:p>
        </p:txBody>
      </p:sp>
      <p:pic>
        <p:nvPicPr>
          <p:cNvPr id="4" name="Marcador de contenido 3">
            <a:extLst>
              <a:ext uri="{FF2B5EF4-FFF2-40B4-BE49-F238E27FC236}">
                <a16:creationId xmlns:a16="http://schemas.microsoft.com/office/drawing/2014/main" id="{97098DF5-39D4-F6B2-6184-571E2C171A8A}"/>
              </a:ext>
            </a:extLst>
          </p:cNvPr>
          <p:cNvPicPr>
            <a:picLocks noGrp="1" noChangeAspect="1"/>
          </p:cNvPicPr>
          <p:nvPr>
            <p:ph idx="1"/>
          </p:nvPr>
        </p:nvPicPr>
        <p:blipFill>
          <a:blip r:embed="rId2"/>
          <a:stretch>
            <a:fillRect/>
          </a:stretch>
        </p:blipFill>
        <p:spPr>
          <a:xfrm>
            <a:off x="838200" y="1423564"/>
            <a:ext cx="10515600" cy="838617"/>
          </a:xfrm>
          <a:prstGeom prst="rect">
            <a:avLst/>
          </a:prstGeom>
        </p:spPr>
      </p:pic>
      <p:pic>
        <p:nvPicPr>
          <p:cNvPr id="5" name="Imagen 4">
            <a:extLst>
              <a:ext uri="{FF2B5EF4-FFF2-40B4-BE49-F238E27FC236}">
                <a16:creationId xmlns:a16="http://schemas.microsoft.com/office/drawing/2014/main" id="{9E44DB15-8488-811F-93B5-C8C37758CB6B}"/>
              </a:ext>
            </a:extLst>
          </p:cNvPr>
          <p:cNvPicPr>
            <a:picLocks noChangeAspect="1"/>
          </p:cNvPicPr>
          <p:nvPr/>
        </p:nvPicPr>
        <p:blipFill>
          <a:blip r:embed="rId3"/>
          <a:stretch>
            <a:fillRect/>
          </a:stretch>
        </p:blipFill>
        <p:spPr>
          <a:xfrm>
            <a:off x="838200" y="2440614"/>
            <a:ext cx="7905750" cy="457200"/>
          </a:xfrm>
          <a:prstGeom prst="rect">
            <a:avLst/>
          </a:prstGeom>
        </p:spPr>
      </p:pic>
      <p:sp>
        <p:nvSpPr>
          <p:cNvPr id="7" name="CuadroTexto 6">
            <a:extLst>
              <a:ext uri="{FF2B5EF4-FFF2-40B4-BE49-F238E27FC236}">
                <a16:creationId xmlns:a16="http://schemas.microsoft.com/office/drawing/2014/main" id="{187BA94E-AB68-E9EE-748D-D5E7DC01804D}"/>
              </a:ext>
            </a:extLst>
          </p:cNvPr>
          <p:cNvSpPr txBox="1"/>
          <p:nvPr/>
        </p:nvSpPr>
        <p:spPr>
          <a:xfrm>
            <a:off x="838200" y="3282019"/>
            <a:ext cx="6099242" cy="923330"/>
          </a:xfrm>
          <a:prstGeom prst="rect">
            <a:avLst/>
          </a:prstGeom>
          <a:noFill/>
        </p:spPr>
        <p:txBody>
          <a:bodyPr wrap="square">
            <a:spAutoFit/>
          </a:bodyPr>
          <a:lstStyle/>
          <a:p>
            <a:r>
              <a:rPr lang="es-MX" dirty="0"/>
              <a:t>Se verificó que los archivos se encontraran correctamente en el directorio de publicación y posteriormente se reinició el servicio </a:t>
            </a:r>
            <a:r>
              <a:rPr lang="es-MX" dirty="0" err="1"/>
              <a:t>Nginx</a:t>
            </a:r>
            <a:r>
              <a:rPr lang="es-MX" dirty="0"/>
              <a:t> para aplicar los cambios realizados.</a:t>
            </a:r>
          </a:p>
        </p:txBody>
      </p:sp>
      <p:pic>
        <p:nvPicPr>
          <p:cNvPr id="8" name="Imagen 7">
            <a:extLst>
              <a:ext uri="{FF2B5EF4-FFF2-40B4-BE49-F238E27FC236}">
                <a16:creationId xmlns:a16="http://schemas.microsoft.com/office/drawing/2014/main" id="{8EB0F6E4-BF95-AC54-4C73-C6C36F889CA0}"/>
              </a:ext>
            </a:extLst>
          </p:cNvPr>
          <p:cNvPicPr>
            <a:picLocks noChangeAspect="1"/>
          </p:cNvPicPr>
          <p:nvPr/>
        </p:nvPicPr>
        <p:blipFill>
          <a:blip r:embed="rId4"/>
          <a:stretch>
            <a:fillRect/>
          </a:stretch>
        </p:blipFill>
        <p:spPr>
          <a:xfrm>
            <a:off x="3093395" y="4287847"/>
            <a:ext cx="5051898" cy="2570153"/>
          </a:xfrm>
          <a:prstGeom prst="rect">
            <a:avLst/>
          </a:prstGeom>
        </p:spPr>
      </p:pic>
    </p:spTree>
    <p:extLst>
      <p:ext uri="{BB962C8B-B14F-4D97-AF65-F5344CB8AC3E}">
        <p14:creationId xmlns:p14="http://schemas.microsoft.com/office/powerpoint/2010/main" val="393872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AA4DE9-0292-F4F4-2C5C-CDF11DEA945D}"/>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7F0D6EEF-38B9-767B-DCE3-2825F9329AF9}"/>
              </a:ext>
            </a:extLst>
          </p:cNvPr>
          <p:cNvSpPr>
            <a:spLocks noGrp="1"/>
          </p:cNvSpPr>
          <p:nvPr>
            <p:ph idx="1"/>
          </p:nvPr>
        </p:nvSpPr>
        <p:spPr/>
        <p:txBody>
          <a:bodyPr/>
          <a:lstStyle/>
          <a:p>
            <a:pPr marL="0" indent="0" algn="just">
              <a:buNone/>
            </a:pPr>
            <a:r>
              <a:rPr lang="es-MX" dirty="0"/>
              <a:t>Durante el desarrollo de la práctica se logró instalar y configurar correctamente el servidor web </a:t>
            </a:r>
            <a:r>
              <a:rPr lang="es-MX" dirty="0" err="1"/>
              <a:t>Nginx</a:t>
            </a:r>
            <a:r>
              <a:rPr lang="es-MX" dirty="0"/>
              <a:t>, verificando su funcionamiento mediante diferentes pruebas. Asimismo, se realizó la publicación de una aplicación Angular copiando los archivos compilados al directorio de trabajo del servidor. Los resultados obtenidos permitieron comprender el proceso de despliegue de aplicaciones web en un entorno Linux, así como la importancia de </a:t>
            </a:r>
            <a:r>
              <a:rPr lang="es-MX" dirty="0" err="1"/>
              <a:t>Nginx</a:t>
            </a:r>
            <a:r>
              <a:rPr lang="es-MX" dirty="0"/>
              <a:t> como herramienta para la administración y distribución eficiente de contenido web. Esto contribuye al fortalecimiento de los conocimientos relacionados con la implementación de aplicaciones en ambientes reales de trabajo.</a:t>
            </a:r>
          </a:p>
        </p:txBody>
      </p:sp>
    </p:spTree>
    <p:extLst>
      <p:ext uri="{BB962C8B-B14F-4D97-AF65-F5344CB8AC3E}">
        <p14:creationId xmlns:p14="http://schemas.microsoft.com/office/powerpoint/2010/main" val="147212313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524</Words>
  <Application>Microsoft Office PowerPoint</Application>
  <PresentationFormat>Panorámica</PresentationFormat>
  <Paragraphs>37</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Aptos</vt:lpstr>
      <vt:lpstr>Aptos Display</vt:lpstr>
      <vt:lpstr>Arial</vt:lpstr>
      <vt:lpstr>Century Gothic</vt:lpstr>
      <vt:lpstr>Tema de Office</vt:lpstr>
      <vt:lpstr>Presentación de PowerPoint</vt:lpstr>
      <vt:lpstr>Introducción</vt:lpstr>
      <vt:lpstr>Justificación </vt:lpstr>
      <vt:lpstr>Se instaló el servidor web Nginx utilizando el gestor de paquetes APT de Ubuntu. Durante este proceso se descargaron e instalaron las dependencias necesarias para su funcionamiento.</vt:lpstr>
      <vt:lpstr>El sistema descargó y configuró automáticamente los paquetes requeridos. Al finalizar, Nginx quedó disponible para ser utilizado como servidor web.</vt:lpstr>
      <vt:lpstr>Se verificó el estado del servicio mediante el comando systemctl status nginx, confirmando que el servidor se encontraba activo y ejecutándose correctamente. </vt:lpstr>
      <vt:lpstr>Prueba en navegador Se comprobó el funcionamiento de Nginx accediendo desde el navegador web. La aparición de la página "Welcome to nginx!" confirmó que el servidor estaba respondiendo correctamente.</vt:lpstr>
      <vt:lpstr>Configuracion de angular  Se revisó la configuración del proyecto Angular y se preparó la carpeta generada para producción con el objetivo de desplegar la aplicación mediante Nginx.</vt:lpstr>
      <vt:lpstr>Copia de archivos</vt:lpstr>
      <vt:lpstr>Verificación y reinicio </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2026-06-15T16:37:39Z</dcterms:created>
  <dcterms:modified xsi:type="dcterms:W3CDTF">2026-06-15T16:53:47Z</dcterms:modified>
</cp:coreProperties>
</file>