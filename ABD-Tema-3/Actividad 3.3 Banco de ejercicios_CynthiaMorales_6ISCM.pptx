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60" r:id="rId7"/>
    <p:sldId id="265" r:id="rId8"/>
    <p:sldId id="262" r:id="rId9"/>
    <p:sldId id="266" r:id="rId10"/>
    <p:sldId id="267" r:id="rId11"/>
    <p:sldId id="268" r:id="rId12"/>
    <p:sldId id="269" r:id="rId13"/>
    <p:sldId id="264" r:id="rId14"/>
    <p:sldId id="270" r:id="rId15"/>
    <p:sldId id="271" r:id="rId16"/>
    <p:sldId id="273" r:id="rId1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8CDA7-F61C-7D7A-D3B7-42257B46FF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A187AE-2CC2-E55F-3A03-F84EB60AD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D05A78-0908-B552-78D1-3CC17EE5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00951-5831-4CF0-BE67-D523042DAC6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75B467-BE2E-656C-CC49-4727D21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774747-FD86-3F41-9638-8E03EEFB8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D3E4-2FA7-4684-A7D8-BAE1053DB4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2984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6B022-F282-0E70-D9B0-0BE403DB8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F0BA02-A89F-F753-D371-74C8218E0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4BB3FB-3329-EBC9-EE11-DFA3D07EE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00951-5831-4CF0-BE67-D523042DAC6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0F887C-52AE-3A96-7F25-AF2583793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F1C3CE-028F-7081-23FA-72707244E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D3E4-2FA7-4684-A7D8-BAE1053DB4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5739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8E5643-45ED-717B-8B15-8EBF5BD00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692D0C-C028-AB26-5583-1B2B4D224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0352C4-68D5-D2D4-C5E0-494819FA7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00951-5831-4CF0-BE67-D523042DAC6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40EBA5-AE83-63E4-57D4-A40FC4A39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8B3F3D-8AA8-97F5-5071-08232580E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D3E4-2FA7-4684-A7D8-BAE1053DB4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1499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ABA85-AA8B-0BC5-2954-4A9DA2D15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A2F7ED-0071-0205-E845-C081511509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45B4CA-6C38-0C8A-C0A0-37F9D027B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237200-3543-4A40-14B3-8B5B125CA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00951-5831-4CF0-BE67-D523042DAC6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13B515-6CA6-B814-8A9A-6A379418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246D25-CCCE-1A7B-4369-012E0A223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D3E4-2FA7-4684-A7D8-BAE1053DB4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27652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476B7-3F1E-B05F-CF86-F6AFFC868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1CA283-006E-0F02-73BA-683A8061D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B44A8AB-B833-B874-6112-7E6AAE970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A11CC45-2C2E-0FC0-014C-048ADAFEE6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57C97C6-61D9-7C02-8264-2BFF720F15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239CC7D-A808-938E-AFB6-D6A117F93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00951-5831-4CF0-BE67-D523042DAC6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779957F-F03D-C5ED-80ED-654390737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EF0EC3D-74FA-EF60-2848-F931E288C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D3E4-2FA7-4684-A7D8-BAE1053DB4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44991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38214-04A2-A5BE-23DF-29DF4624F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F73353-0022-F123-0A61-7C4CCE0AE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00951-5831-4CF0-BE67-D523042DAC6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052CA26-E301-047A-9CFE-43867C405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BB41A48-69D8-00AD-7216-DB94C61CC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D3E4-2FA7-4684-A7D8-BAE1053DB4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6176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87EC9C6-88D2-5842-A5F6-E0E9E3A8A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00951-5831-4CF0-BE67-D523042DAC6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0A4CE3-63DB-BA67-7E28-7383633F0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C186418-31CA-3D6B-9547-607B9EB66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D3E4-2FA7-4684-A7D8-BAE1053DB4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7322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8D60C5-7EDC-D9E2-ACF2-03CE8B8F0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DCC951-AE9D-39DE-DBA4-570144B5C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5F133E-E724-8A9F-E6A2-F4AB3139A0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A348C3-3A93-CFD9-1813-BBC9D1BDE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00951-5831-4CF0-BE67-D523042DAC6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BF193A-F8F8-5714-A1DB-9DBCF01A9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0E70A2-1EB7-74B6-EFA0-477AD752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D3E4-2FA7-4684-A7D8-BAE1053DB4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81988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38B890-ADBF-0D79-9921-46A8C266E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5338471-6B5C-A50E-FC38-4760C4CC58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AA66E8-CF9A-6777-D8E8-990C7836D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221095-8FB1-66F9-ABD2-5E7922C1D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00951-5831-4CF0-BE67-D523042DAC6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15B90F-CE0C-CBA9-D550-C18D180DF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8FFF0A-EA95-57F7-12D5-C9B5C7F31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D3E4-2FA7-4684-A7D8-BAE1053DB4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6915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94522-4359-7D3F-22E6-F6E9399C0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0F1F3C6-EDD1-69A2-971B-BEADD0E41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6C6EB6-7338-72EA-8499-77B1B8B62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00951-5831-4CF0-BE67-D523042DAC6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6EC9B2-0351-ADC7-E58A-6F535D095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16DBEB-671A-FBD5-5C5A-A93336B51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D3E4-2FA7-4684-A7D8-BAE1053DB4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2654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B28CEC-DB74-E08F-751A-BF538540BE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1989B78-400B-3074-EF7A-C1138BA2C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9B0E99-DF4B-47F2-64DF-E66EF79C1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00951-5831-4CF0-BE67-D523042DAC6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7E719F-E5A0-E100-5E34-BEF50F07E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214F35-D45B-7D5A-0890-BD3A2A5EB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D3E4-2FA7-4684-A7D8-BAE1053DB4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921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5275FE8-E121-8952-3EBE-5AB502798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D91417-64E2-18A7-7457-84F0AE91F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744773-E7CF-7F41-C74F-9D3FA52E94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200951-5831-4CF0-BE67-D523042DAC6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194D7C-EA17-41A6-AA3F-0EB102E6A3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80EC11-BA89-BD6F-ED28-9A12BDDE6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89D3E4-2FA7-4684-A7D8-BAE1053DB4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312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>
            <a:extLst>
              <a:ext uri="{FF2B5EF4-FFF2-40B4-BE49-F238E27FC236}">
                <a16:creationId xmlns:a16="http://schemas.microsoft.com/office/drawing/2014/main" id="{00581D2B-9907-5C12-18B1-A542C97AC861}"/>
              </a:ext>
            </a:extLst>
          </p:cNvPr>
          <p:cNvSpPr txBox="1"/>
          <p:nvPr/>
        </p:nvSpPr>
        <p:spPr>
          <a:xfrm>
            <a:off x="2374586" y="2011396"/>
            <a:ext cx="7644625" cy="4678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Administración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base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datos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Sexto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3.3 Banco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Ejercicios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24 </a:t>
            </a:r>
            <a:r>
              <a:rPr lang="en-US" sz="160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de Mayo 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del 2026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DDFA38DC-87D7-E043-DA50-7D3E4978C003}"/>
              </a:ext>
            </a:extLst>
          </p:cNvPr>
          <p:cNvSpPr txBox="1"/>
          <p:nvPr/>
        </p:nvSpPr>
        <p:spPr>
          <a:xfrm>
            <a:off x="2018662" y="1127967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89787265-4AB0-393C-236A-7754C1509410}"/>
              </a:ext>
            </a:extLst>
          </p:cNvPr>
          <p:cNvGrpSpPr/>
          <p:nvPr/>
        </p:nvGrpSpPr>
        <p:grpSpPr>
          <a:xfrm>
            <a:off x="900094" y="85695"/>
            <a:ext cx="1833537" cy="1054536"/>
            <a:chOff x="0" y="0"/>
            <a:chExt cx="3073400" cy="1308100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008F1B07-1487-1CAC-B272-6608EBFCCE65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8" name="Group 4">
            <a:extLst>
              <a:ext uri="{FF2B5EF4-FFF2-40B4-BE49-F238E27FC236}">
                <a16:creationId xmlns:a16="http://schemas.microsoft.com/office/drawing/2014/main" id="{569A78D9-3DE2-0B8D-20B8-F7879A7639DA}"/>
              </a:ext>
            </a:extLst>
          </p:cNvPr>
          <p:cNvGrpSpPr/>
          <p:nvPr/>
        </p:nvGrpSpPr>
        <p:grpSpPr>
          <a:xfrm>
            <a:off x="10101943" y="167651"/>
            <a:ext cx="1517156" cy="890624"/>
            <a:chOff x="0" y="0"/>
            <a:chExt cx="1981200" cy="1625600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07BCB7B-9475-20FD-438F-1179C2D46499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6">
            <a:extLst>
              <a:ext uri="{FF2B5EF4-FFF2-40B4-BE49-F238E27FC236}">
                <a16:creationId xmlns:a16="http://schemas.microsoft.com/office/drawing/2014/main" id="{90ABE957-E5D1-E333-9BCD-92691D6FB1E2}"/>
              </a:ext>
            </a:extLst>
          </p:cNvPr>
          <p:cNvGrpSpPr/>
          <p:nvPr/>
        </p:nvGrpSpPr>
        <p:grpSpPr>
          <a:xfrm>
            <a:off x="4853273" y="255009"/>
            <a:ext cx="2687249" cy="587136"/>
            <a:chOff x="0" y="0"/>
            <a:chExt cx="4343400" cy="90170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5F67764-25B7-8117-AAA6-B71C9A0A5DC7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304021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B96CB6-113E-5FAA-1013-F2B705726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34ADCB-A0D9-23D1-5E4B-3491B9DE2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El banco de ejercicios consiste en la validación manual y funcional de los </a:t>
            </a:r>
            <a:r>
              <a:rPr lang="es-MX" dirty="0" err="1"/>
              <a:t>endpoints</a:t>
            </a:r>
            <a:r>
              <a:rPr lang="es-MX" dirty="0"/>
              <a:t> implementados en los microservicios del sistema. Estas pruebas permiten comprobar que cada servicio responde correctamente a las solicitudes realizadas mediante métodos HTTP como GET y POST.</a:t>
            </a:r>
          </a:p>
        </p:txBody>
      </p:sp>
    </p:spTree>
    <p:extLst>
      <p:ext uri="{BB962C8B-B14F-4D97-AF65-F5344CB8AC3E}">
        <p14:creationId xmlns:p14="http://schemas.microsoft.com/office/powerpoint/2010/main" val="578206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6F26A-25A0-8971-CB70-7A46B001F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DBABA6-1F12-167D-376D-A8A0A4500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La validación de </a:t>
            </a:r>
            <a:r>
              <a:rPr lang="es-MX" dirty="0" err="1"/>
              <a:t>endpoints</a:t>
            </a:r>
            <a:r>
              <a:rPr lang="es-MX" dirty="0"/>
              <a:t> es importante porque permite verificar la comunicación entre microservicios y asegurar que las respuestas sean correctas. Esto ayuda a detectar errores en las operaciones del sistema antes de su uso real.</a:t>
            </a:r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1000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01B390-78B7-CD7F-A75E-E8FF05A35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Objetivo general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B3CBFC-6A65-9059-63FE-72F1BF967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Comprobar el funcionamiento de los </a:t>
            </a:r>
            <a:r>
              <a:rPr lang="es-MX" dirty="0" err="1"/>
              <a:t>endpoints</a:t>
            </a:r>
            <a:r>
              <a:rPr lang="es-MX" dirty="0"/>
              <a:t> de los microservicios mediante pruebas manuales.</a:t>
            </a:r>
          </a:p>
        </p:txBody>
      </p:sp>
    </p:spTree>
    <p:extLst>
      <p:ext uri="{BB962C8B-B14F-4D97-AF65-F5344CB8AC3E}">
        <p14:creationId xmlns:p14="http://schemas.microsoft.com/office/powerpoint/2010/main" val="269666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74DC5-E116-35E7-197E-D5ED8A89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5" y="1"/>
            <a:ext cx="9808028" cy="598714"/>
          </a:xfrm>
        </p:spPr>
        <p:txBody>
          <a:bodyPr>
            <a:normAutofit/>
          </a:bodyPr>
          <a:lstStyle/>
          <a:p>
            <a:r>
              <a:rPr lang="es-MX" sz="3200" dirty="0"/>
              <a:t>Importancia de las dependencias utilizadas en las pruebas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F8B383E6-3B9D-BC69-E03A-C4D0A11C3C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2745" y="740342"/>
            <a:ext cx="10239375" cy="3495675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6267CB3-809B-4CD8-9823-C88A8FB8A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315" y="4633552"/>
            <a:ext cx="11180435" cy="1484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Durante el desarrollo de las pruebas de software fue necesario agregar dependencias dentro del archivo pom.xml, ya que estas permiten que Spring </a:t>
            </a:r>
            <a:r>
              <a:rPr lang="es-MX" altLang="es-MX" dirty="0" err="1"/>
              <a:t>Boot</a:t>
            </a:r>
            <a:r>
              <a:rPr lang="es-MX" altLang="es-MX" dirty="0"/>
              <a:t> incluya librerías externas necesarias para ejecutar ciertas funciones del sistema.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Las dependencias utilizadas tienen una función específica dentro del microservicio </a:t>
            </a:r>
            <a:r>
              <a:rPr lang="es-MX" altLang="es-MX" dirty="0" err="1"/>
              <a:t>students-service</a:t>
            </a:r>
            <a:r>
              <a:rPr lang="es-MX" altLang="es-MX" dirty="0"/>
              <a:t>, principalmente para pruebas, configuración y comunicación con otros servicios.</a:t>
            </a:r>
          </a:p>
        </p:txBody>
      </p:sp>
    </p:spTree>
    <p:extLst>
      <p:ext uri="{BB962C8B-B14F-4D97-AF65-F5344CB8AC3E}">
        <p14:creationId xmlns:p14="http://schemas.microsoft.com/office/powerpoint/2010/main" val="2109423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65F86A-9B4C-01E4-0106-AB804FFC2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" y="134556"/>
            <a:ext cx="6402010" cy="319115"/>
          </a:xfrm>
        </p:spPr>
        <p:txBody>
          <a:bodyPr>
            <a:noAutofit/>
          </a:bodyPr>
          <a:lstStyle/>
          <a:p>
            <a:r>
              <a:rPr lang="es-MX" sz="3200" dirty="0"/>
              <a:t>StudentControllerTest.java (unitaria)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451F2C62-53D6-0E79-1C4A-0E9EA010B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592" t="43269" r="31290" b="17872"/>
          <a:stretch/>
        </p:blipFill>
        <p:spPr>
          <a:xfrm>
            <a:off x="4585985" y="901521"/>
            <a:ext cx="7361616" cy="2692227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477E8386-EFE7-6C3D-4012-B9F099A1E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99" y="1164614"/>
            <a:ext cx="434158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s-MX" altLang="es-MX" sz="1400" dirty="0"/>
              <a:t>Test 1 </a:t>
            </a:r>
            <a:r>
              <a:rPr lang="es-MX" sz="1200" b="1" dirty="0" err="1"/>
              <a:t>testGetStudents</a:t>
            </a:r>
            <a:r>
              <a:rPr lang="es-MX" sz="1200" b="1" dirty="0"/>
              <a:t>()</a:t>
            </a:r>
            <a:r>
              <a:rPr lang="es-MX" altLang="es-MX" sz="1400" dirty="0"/>
              <a:t>En esta prueba se crea una lista simulada de estudiantes utilizando </a:t>
            </a:r>
            <a:r>
              <a:rPr lang="es-MX" altLang="es-MX" sz="1400" b="1" dirty="0" err="1"/>
              <a:t>Arrays.asList</a:t>
            </a:r>
            <a:r>
              <a:rPr lang="es-MX" altLang="es-MX" sz="1400" b="1" dirty="0"/>
              <a:t>(). </a:t>
            </a:r>
            <a:r>
              <a:rPr lang="es-MX" altLang="es-MX" sz="1400" dirty="0"/>
              <a:t>Posteriormente, con </a:t>
            </a:r>
            <a:r>
              <a:rPr lang="es-MX" altLang="es-MX" sz="1400" b="1" dirty="0" err="1"/>
              <a:t>when</a:t>
            </a:r>
            <a:r>
              <a:rPr lang="es-MX" altLang="es-MX" sz="1400" b="1" dirty="0"/>
              <a:t>(</a:t>
            </a:r>
            <a:r>
              <a:rPr lang="es-MX" altLang="es-MX" sz="1400" b="1" dirty="0" err="1"/>
              <a:t>repository.findAll</a:t>
            </a:r>
            <a:r>
              <a:rPr lang="es-MX" altLang="es-MX" sz="1400" b="1" dirty="0"/>
              <a:t>()).</a:t>
            </a:r>
            <a:r>
              <a:rPr lang="es-MX" altLang="es-MX" sz="1400" b="1" dirty="0" err="1"/>
              <a:t>thenReturn</a:t>
            </a:r>
            <a:r>
              <a:rPr lang="es-MX" altLang="es-MX" sz="1400" b="1" dirty="0"/>
              <a:t>(</a:t>
            </a:r>
            <a:r>
              <a:rPr lang="es-MX" altLang="es-MX" sz="1400" b="1" dirty="0" err="1"/>
              <a:t>students</a:t>
            </a:r>
            <a:r>
              <a:rPr lang="es-MX" altLang="es-MX" sz="1400" b="1" dirty="0"/>
              <a:t>) </a:t>
            </a:r>
            <a:r>
              <a:rPr lang="es-MX" altLang="es-MX" sz="1400" dirty="0"/>
              <a:t>se indica a </a:t>
            </a:r>
            <a:r>
              <a:rPr lang="es-MX" altLang="es-MX" sz="1400" dirty="0" err="1"/>
              <a:t>Mockito</a:t>
            </a:r>
            <a:r>
              <a:rPr lang="es-MX" altLang="es-MX" sz="1400" dirty="0"/>
              <a:t> que cuando el controlador llame al repositorio, devuelva esa lista simulada. 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F8BF7A59-FC94-0B2D-D595-5367F5F68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14" y="3593748"/>
            <a:ext cx="5835805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400" dirty="0"/>
              <a:t>Después se ejecuta el método: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400" dirty="0" err="1"/>
              <a:t>controller.getStudents</a:t>
            </a:r>
            <a:r>
              <a:rPr lang="es-MX" altLang="es-MX" sz="1400" dirty="0"/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400" dirty="0"/>
              <a:t>Finalmente, con </a:t>
            </a:r>
            <a:r>
              <a:rPr lang="es-MX" altLang="es-MX" sz="1400" dirty="0" err="1"/>
              <a:t>assertEquals</a:t>
            </a:r>
            <a:r>
              <a:rPr lang="es-MX" altLang="es-MX" sz="1400" dirty="0"/>
              <a:t>() se verifica que la cantidad de estudiantes obtenida sea la correcta y con </a:t>
            </a:r>
            <a:r>
              <a:rPr lang="es-MX" altLang="es-MX" sz="1400" dirty="0" err="1"/>
              <a:t>verify</a:t>
            </a:r>
            <a:r>
              <a:rPr lang="es-MX" altLang="es-MX" sz="1400" dirty="0"/>
              <a:t>() se comprueba que el repositorio fue invocado.</a:t>
            </a:r>
          </a:p>
        </p:txBody>
      </p:sp>
    </p:spTree>
    <p:extLst>
      <p:ext uri="{BB962C8B-B14F-4D97-AF65-F5344CB8AC3E}">
        <p14:creationId xmlns:p14="http://schemas.microsoft.com/office/powerpoint/2010/main" val="90722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F81273DB-387D-A461-AC0A-E0EE30D4B92D}"/>
              </a:ext>
            </a:extLst>
          </p:cNvPr>
          <p:cNvSpPr txBox="1"/>
          <p:nvPr/>
        </p:nvSpPr>
        <p:spPr>
          <a:xfrm>
            <a:off x="68943" y="-184455"/>
            <a:ext cx="670439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sz="1600" dirty="0"/>
              <a:t>test 2 </a:t>
            </a:r>
            <a:r>
              <a:rPr lang="es-MX" sz="1600" b="1" dirty="0" err="1"/>
              <a:t>testSaveStudent</a:t>
            </a:r>
            <a:r>
              <a:rPr lang="es-MX" sz="1600" b="1" dirty="0"/>
              <a:t>() </a:t>
            </a:r>
            <a:r>
              <a:rPr lang="es-MX" altLang="es-MX" sz="1600" dirty="0"/>
              <a:t>Primero se crea un estudiante de prueba: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600" b="1" dirty="0" err="1"/>
              <a:t>Student</a:t>
            </a:r>
            <a:r>
              <a:rPr lang="es-MX" altLang="es-MX" sz="1600" b="1" dirty="0"/>
              <a:t> </a:t>
            </a:r>
            <a:r>
              <a:rPr lang="es-MX" altLang="es-MX" sz="1600" b="1" dirty="0" err="1"/>
              <a:t>student</a:t>
            </a:r>
            <a:r>
              <a:rPr lang="es-MX" altLang="es-MX" sz="1600" b="1" dirty="0"/>
              <a:t> = new </a:t>
            </a:r>
            <a:r>
              <a:rPr lang="es-MX" altLang="es-MX" sz="1600" b="1" dirty="0" err="1"/>
              <a:t>Student</a:t>
            </a:r>
            <a:r>
              <a:rPr lang="es-MX" altLang="es-MX" sz="1600" b="1" dirty="0"/>
              <a:t>("Kevin Morales", "kevin@gmail.com");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16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600" dirty="0"/>
              <a:t>Después, </a:t>
            </a:r>
            <a:r>
              <a:rPr lang="es-MX" altLang="es-MX" sz="1600" dirty="0" err="1"/>
              <a:t>Mockito</a:t>
            </a:r>
            <a:r>
              <a:rPr lang="es-MX" altLang="es-MX" sz="1600" dirty="0"/>
              <a:t> simula el guardado: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600" b="1" dirty="0" err="1"/>
              <a:t>when</a:t>
            </a:r>
            <a:r>
              <a:rPr lang="es-MX" altLang="es-MX" sz="1600" b="1" dirty="0"/>
              <a:t>(</a:t>
            </a:r>
            <a:r>
              <a:rPr lang="es-MX" altLang="es-MX" sz="1600" b="1" dirty="0" err="1"/>
              <a:t>repository.save</a:t>
            </a:r>
            <a:r>
              <a:rPr lang="es-MX" altLang="es-MX" sz="1600" b="1" dirty="0"/>
              <a:t>(</a:t>
            </a:r>
            <a:r>
              <a:rPr lang="es-MX" altLang="es-MX" sz="1600" b="1" dirty="0" err="1"/>
              <a:t>student</a:t>
            </a:r>
            <a:r>
              <a:rPr lang="es-MX" altLang="es-MX" sz="1600" b="1" dirty="0"/>
              <a:t>)).</a:t>
            </a:r>
            <a:r>
              <a:rPr lang="es-MX" altLang="es-MX" sz="1600" b="1" dirty="0" err="1"/>
              <a:t>thenReturn</a:t>
            </a:r>
            <a:r>
              <a:rPr lang="es-MX" altLang="es-MX" sz="1600" b="1" dirty="0"/>
              <a:t>(</a:t>
            </a:r>
            <a:r>
              <a:rPr lang="es-MX" altLang="es-MX" sz="1600" b="1" dirty="0" err="1"/>
              <a:t>student</a:t>
            </a:r>
            <a:r>
              <a:rPr lang="es-MX" altLang="es-MX" sz="1600" b="1" dirty="0"/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16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600" dirty="0"/>
              <a:t>Esto significa que cuando el controlador intente guardar 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600" dirty="0"/>
              <a:t>estudiante, </a:t>
            </a:r>
            <a:r>
              <a:rPr lang="es-MX" altLang="es-MX" sz="1600" dirty="0" err="1"/>
              <a:t>Mockito</a:t>
            </a:r>
            <a:r>
              <a:rPr lang="es-MX" altLang="es-MX" sz="1600" dirty="0"/>
              <a:t> regresará el mismo objeto sin usar MySQL.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600" dirty="0"/>
              <a:t>Luego se ejecuta: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600" b="1" dirty="0" err="1"/>
              <a:t>controller.saveStudent</a:t>
            </a:r>
            <a:r>
              <a:rPr lang="es-MX" altLang="es-MX" sz="1600" b="1" dirty="0"/>
              <a:t>(</a:t>
            </a:r>
            <a:r>
              <a:rPr lang="es-MX" altLang="es-MX" sz="1600" b="1" dirty="0" err="1"/>
              <a:t>student</a:t>
            </a:r>
            <a:r>
              <a:rPr lang="es-MX" altLang="es-MX" sz="1600" b="1" dirty="0"/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16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600" dirty="0"/>
              <a:t>Con </a:t>
            </a:r>
            <a:r>
              <a:rPr lang="es-MX" altLang="es-MX" sz="1600" b="1" dirty="0" err="1"/>
              <a:t>assertEquals</a:t>
            </a:r>
            <a:r>
              <a:rPr lang="es-MX" altLang="es-MX" sz="1600" b="1" dirty="0"/>
              <a:t>() </a:t>
            </a:r>
            <a:r>
              <a:rPr lang="es-MX" altLang="es-MX" sz="1600" dirty="0"/>
              <a:t>se comprueba que el nombre y el correo sean correctos, y con </a:t>
            </a:r>
            <a:r>
              <a:rPr lang="es-MX" altLang="es-MX" sz="1600" b="1" dirty="0" err="1"/>
              <a:t>verify</a:t>
            </a:r>
            <a:r>
              <a:rPr lang="es-MX" altLang="es-MX" sz="1600" b="1" dirty="0"/>
              <a:t>() </a:t>
            </a:r>
            <a:r>
              <a:rPr lang="es-MX" altLang="es-MX" sz="1600" dirty="0"/>
              <a:t>se verifica que </a:t>
            </a:r>
            <a:r>
              <a:rPr lang="es-MX" altLang="es-MX" sz="1600" b="1" dirty="0" err="1"/>
              <a:t>repository.save</a:t>
            </a:r>
            <a:r>
              <a:rPr lang="es-MX" altLang="es-MX" sz="1600" b="1" dirty="0"/>
              <a:t>() </a:t>
            </a:r>
            <a:r>
              <a:rPr lang="es-MX" altLang="es-MX" sz="1600" dirty="0"/>
              <a:t>se haya ejecutado una vez.</a:t>
            </a:r>
            <a:r>
              <a:rPr lang="es-MX" sz="1600" dirty="0"/>
              <a:t>.</a:t>
            </a:r>
          </a:p>
        </p:txBody>
      </p:sp>
      <p:pic>
        <p:nvPicPr>
          <p:cNvPr id="8" name="Marcador de contenido 4">
            <a:extLst>
              <a:ext uri="{FF2B5EF4-FFF2-40B4-BE49-F238E27FC236}">
                <a16:creationId xmlns:a16="http://schemas.microsoft.com/office/drawing/2014/main" id="{53014AF2-113A-C328-FDE3-78C6ABD258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8" t="8245" r="24064" b="49532"/>
          <a:stretch/>
        </p:blipFill>
        <p:spPr>
          <a:xfrm>
            <a:off x="5714999" y="869678"/>
            <a:ext cx="6408057" cy="226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35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6013C543-232F-719D-80F7-B6C626FCF0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8" t="41751" r="36697" b="15251"/>
          <a:stretch/>
        </p:blipFill>
        <p:spPr>
          <a:xfrm>
            <a:off x="5000345" y="1865288"/>
            <a:ext cx="7115455" cy="2571220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AA037A5B-D9FB-F7EA-A185-B3304633C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5560"/>
            <a:ext cx="1186179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dirty="0"/>
              <a:t>test 3 </a:t>
            </a:r>
            <a:r>
              <a:rPr lang="es-MX" b="1" dirty="0" err="1"/>
              <a:t>testGetCoursesFromService</a:t>
            </a:r>
            <a:r>
              <a:rPr lang="es-MX" b="1" dirty="0"/>
              <a:t>()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Esta prueba unitaria verifica la comunicación entre el microservicio </a:t>
            </a:r>
            <a:r>
              <a:rPr lang="es-MX" altLang="es-MX" dirty="0" err="1"/>
              <a:t>students-service</a:t>
            </a:r>
            <a:r>
              <a:rPr lang="es-MX" altLang="es-MX" dirty="0"/>
              <a:t> y el microservicio </a:t>
            </a:r>
            <a:r>
              <a:rPr lang="es-MX" altLang="es-MX" dirty="0" err="1"/>
              <a:t>courses-service</a:t>
            </a:r>
            <a:r>
              <a:rPr lang="es-MX" altLang="es-MX" dirty="0"/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Se utiliza </a:t>
            </a:r>
            <a:r>
              <a:rPr lang="es-MX" altLang="es-MX" dirty="0" err="1"/>
              <a:t>Mockito</a:t>
            </a:r>
            <a:r>
              <a:rPr lang="es-MX" altLang="es-MX" dirty="0"/>
              <a:t> para simular la respuesta del </a:t>
            </a:r>
            <a:r>
              <a:rPr lang="es-MX" altLang="es-MX" dirty="0" err="1"/>
              <a:t>RestTemplate</a:t>
            </a:r>
            <a:r>
              <a:rPr lang="es-MX" altLang="es-MX" dirty="0"/>
              <a:t>, evitando realizar una petición real entre microservicios.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Esto permite comprobar que el controlador haga correctamente la llamada externa y reciba la respuesta esperada.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153AAB6-6ED9-0862-C6DF-3CF462AD0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65288"/>
            <a:ext cx="50673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 err="1"/>
              <a:t>Mockito</a:t>
            </a:r>
            <a:r>
              <a:rPr lang="es-MX" altLang="es-MX" dirty="0"/>
              <a:t> simula esta llamada: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b="1" dirty="0" err="1"/>
              <a:t>restTemplate.getForObject</a:t>
            </a:r>
            <a:r>
              <a:rPr lang="es-MX" altLang="es-MX" b="1" dirty="0"/>
              <a:t>(...)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y devuelve: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b="1" dirty="0">
                <a:solidFill>
                  <a:schemeClr val="accent1"/>
                </a:solidFill>
              </a:rPr>
              <a:t>"Lista de cursos"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Después el controlador ejecuta: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b="1" dirty="0" err="1"/>
              <a:t>controller.getCoursesFromService</a:t>
            </a:r>
            <a:r>
              <a:rPr lang="es-MX" altLang="es-MX" b="1" dirty="0"/>
              <a:t>();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Con </a:t>
            </a:r>
            <a:r>
              <a:rPr lang="es-MX" altLang="es-MX" b="1" dirty="0" err="1"/>
              <a:t>assertEquals</a:t>
            </a:r>
            <a:r>
              <a:rPr lang="es-MX" altLang="es-MX" b="1" dirty="0"/>
              <a:t>() </a:t>
            </a:r>
            <a:r>
              <a:rPr lang="es-MX" altLang="es-MX" dirty="0"/>
              <a:t>se verifica que la respuesta coincida, y con </a:t>
            </a:r>
            <a:r>
              <a:rPr lang="es-MX" altLang="es-MX" b="1" dirty="0" err="1"/>
              <a:t>verify</a:t>
            </a:r>
            <a:r>
              <a:rPr lang="es-MX" altLang="es-MX" b="1" dirty="0"/>
              <a:t>() </a:t>
            </a:r>
            <a:r>
              <a:rPr lang="es-MX" altLang="es-MX" dirty="0"/>
              <a:t>se comprueba que el </a:t>
            </a:r>
            <a:r>
              <a:rPr lang="es-MX" altLang="es-MX" b="1" dirty="0" err="1"/>
              <a:t>RestTemplate</a:t>
            </a:r>
            <a:r>
              <a:rPr lang="es-MX" altLang="es-MX" b="1" dirty="0"/>
              <a:t> </a:t>
            </a:r>
            <a:r>
              <a:rPr lang="es-MX" altLang="es-MX" dirty="0"/>
              <a:t>haya sido utilizado correctamente.</a:t>
            </a:r>
          </a:p>
        </p:txBody>
      </p:sp>
    </p:spTree>
    <p:extLst>
      <p:ext uri="{BB962C8B-B14F-4D97-AF65-F5344CB8AC3E}">
        <p14:creationId xmlns:p14="http://schemas.microsoft.com/office/powerpoint/2010/main" val="2826719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5D304-9E0F-6B57-0D0B-CB0BE444C16E}"/>
              </a:ext>
            </a:extLst>
          </p:cNvPr>
          <p:cNvSpPr txBox="1"/>
          <p:nvPr/>
        </p:nvSpPr>
        <p:spPr>
          <a:xfrm>
            <a:off x="103414" y="247134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Test 4 </a:t>
            </a:r>
            <a:r>
              <a:rPr lang="es-MX" b="1" dirty="0" err="1"/>
              <a:t>testGetStudentsEmptyList</a:t>
            </a:r>
            <a:r>
              <a:rPr lang="es-MX" b="1" dirty="0"/>
              <a:t>() </a:t>
            </a:r>
            <a:r>
              <a:rPr lang="es-MX" dirty="0"/>
              <a:t>Esta prueba verifica el comportamiento del sistema cuando no existen estudiantes registrados.</a:t>
            </a:r>
          </a:p>
          <a:p>
            <a:r>
              <a:rPr lang="es-MX" dirty="0" err="1"/>
              <a:t>Mockito</a:t>
            </a:r>
            <a:r>
              <a:rPr lang="es-MX" dirty="0"/>
              <a:t> simula que el repositorio devuelve una lista vacía, permitiendo validar que el controlador pueda manejar este caso sin errores.</a:t>
            </a:r>
          </a:p>
          <a:p>
            <a:endParaRPr lang="es-MX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0AF76EC-43B3-7DCF-9D3C-EB61F5BAE8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18" t="42278" r="36875" b="11741"/>
          <a:stretch/>
        </p:blipFill>
        <p:spPr>
          <a:xfrm>
            <a:off x="6324600" y="373143"/>
            <a:ext cx="5763986" cy="228121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F6C3CD7-E8D2-8A3F-6383-93863C6DD29A}"/>
              </a:ext>
            </a:extLst>
          </p:cNvPr>
          <p:cNvSpPr txBox="1"/>
          <p:nvPr/>
        </p:nvSpPr>
        <p:spPr>
          <a:xfrm>
            <a:off x="7543800" y="281539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Caso especial: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Cuando no hay estudiantes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Debe regresar lista vacía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5DBA693-8034-8972-0939-AD45CD108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145438"/>
            <a:ext cx="702795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 err="1"/>
              <a:t>Mockito</a:t>
            </a:r>
            <a:r>
              <a:rPr lang="es-MX" altLang="es-MX" dirty="0"/>
              <a:t> simula: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b="1" dirty="0" err="1"/>
              <a:t>when</a:t>
            </a:r>
            <a:r>
              <a:rPr lang="es-MX" altLang="es-MX" b="1" dirty="0"/>
              <a:t>(</a:t>
            </a:r>
            <a:r>
              <a:rPr lang="es-MX" altLang="es-MX" b="1" dirty="0" err="1"/>
              <a:t>repository.findAll</a:t>
            </a:r>
            <a:r>
              <a:rPr lang="es-MX" altLang="es-MX" b="1" dirty="0"/>
              <a:t>()).</a:t>
            </a:r>
            <a:r>
              <a:rPr lang="es-MX" altLang="es-MX" b="1" dirty="0" err="1"/>
              <a:t>thenReturn</a:t>
            </a:r>
            <a:r>
              <a:rPr lang="es-MX" altLang="es-MX" b="1" dirty="0"/>
              <a:t>(</a:t>
            </a:r>
            <a:r>
              <a:rPr lang="es-MX" altLang="es-MX" b="1" dirty="0" err="1"/>
              <a:t>List.of</a:t>
            </a:r>
            <a:r>
              <a:rPr lang="es-MX" altLang="es-MX" b="1" dirty="0"/>
              <a:t>());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Después el controlador obtiene la lista y con: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b="1" dirty="0" err="1"/>
              <a:t>assertEquals</a:t>
            </a:r>
            <a:r>
              <a:rPr lang="es-MX" altLang="es-MX" b="1" dirty="0"/>
              <a:t>(0, </a:t>
            </a:r>
            <a:r>
              <a:rPr lang="es-MX" altLang="es-MX" b="1" dirty="0" err="1"/>
              <a:t>result.size</a:t>
            </a:r>
            <a:r>
              <a:rPr lang="es-MX" altLang="es-MX" b="1" dirty="0"/>
              <a:t>());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se verifica que realmente no existan estudiantes.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También se utiliza </a:t>
            </a:r>
            <a:r>
              <a:rPr lang="es-MX" altLang="es-MX" b="1" dirty="0" err="1"/>
              <a:t>verify</a:t>
            </a:r>
            <a:r>
              <a:rPr lang="es-MX" altLang="es-MX" b="1" dirty="0"/>
              <a:t>() </a:t>
            </a:r>
            <a:r>
              <a:rPr lang="es-MX" altLang="es-MX" dirty="0"/>
              <a:t>para comprobar que </a:t>
            </a:r>
            <a:r>
              <a:rPr lang="es-MX" altLang="es-MX" dirty="0" err="1"/>
              <a:t>findAll</a:t>
            </a:r>
            <a:r>
              <a:rPr lang="es-MX" altLang="es-MX" dirty="0"/>
              <a:t>() fue ejecutado.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EC10381-808B-7A07-22F6-B2FF2C37E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114" y="3885847"/>
            <a:ext cx="5671458" cy="288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114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9F1D9-3F52-66DE-1327-5F63ECA7F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19062"/>
            <a:ext cx="9093200" cy="561975"/>
          </a:xfrm>
        </p:spPr>
        <p:txBody>
          <a:bodyPr>
            <a:normAutofit/>
          </a:bodyPr>
          <a:lstStyle/>
          <a:p>
            <a:r>
              <a:rPr lang="es-MX" sz="3200" dirty="0"/>
              <a:t>CourseControllerTest.java (Prueba unitaria)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1780F2-6A93-9EB0-D7A2-B9572C688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002406"/>
            <a:ext cx="11836400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400" dirty="0"/>
              <a:t>Primero se crea una lista simulada de cursos dentro del test, utilizando objetos </a:t>
            </a:r>
            <a:r>
              <a:rPr lang="es-MX" altLang="es-MX" sz="1400" dirty="0" err="1"/>
              <a:t>Course</a:t>
            </a:r>
            <a:r>
              <a:rPr lang="es-MX" altLang="es-MX" sz="1400" dirty="0"/>
              <a:t> con datos de prueba.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400" dirty="0"/>
              <a:t>Ejemplo: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400" b="1" dirty="0" err="1"/>
              <a:t>List</a:t>
            </a:r>
            <a:r>
              <a:rPr lang="es-MX" altLang="es-MX" sz="1400" b="1" dirty="0"/>
              <a:t>&lt;</a:t>
            </a:r>
            <a:r>
              <a:rPr lang="es-MX" altLang="es-MX" sz="1400" b="1" dirty="0" err="1"/>
              <a:t>Course</a:t>
            </a:r>
            <a:r>
              <a:rPr lang="es-MX" altLang="es-MX" sz="1400" b="1" dirty="0"/>
              <a:t>&gt; </a:t>
            </a:r>
            <a:r>
              <a:rPr lang="es-MX" altLang="es-MX" sz="1400" b="1" dirty="0" err="1"/>
              <a:t>courses</a:t>
            </a:r>
            <a:r>
              <a:rPr lang="es-MX" altLang="es-MX" sz="1400" b="1" dirty="0"/>
              <a:t> = </a:t>
            </a:r>
            <a:r>
              <a:rPr lang="es-MX" altLang="es-MX" sz="1400" b="1" dirty="0" err="1"/>
              <a:t>Arrays.asList</a:t>
            </a:r>
            <a:r>
              <a:rPr lang="es-MX" altLang="es-MX" sz="1400" b="1" dirty="0"/>
              <a:t>(...)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400" dirty="0"/>
              <a:t>Después, </a:t>
            </a:r>
            <a:r>
              <a:rPr lang="es-MX" altLang="es-MX" sz="1400" dirty="0" err="1"/>
              <a:t>Mockito</a:t>
            </a:r>
            <a:r>
              <a:rPr lang="es-MX" altLang="es-MX" sz="1400" dirty="0"/>
              <a:t> simula el comportamiento del repositorio: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400" b="1" dirty="0" err="1"/>
              <a:t>when</a:t>
            </a:r>
            <a:r>
              <a:rPr lang="es-MX" altLang="es-MX" sz="1400" b="1" dirty="0"/>
              <a:t>(</a:t>
            </a:r>
            <a:r>
              <a:rPr lang="es-MX" altLang="es-MX" sz="1400" b="1" dirty="0" err="1"/>
              <a:t>repository.findAll</a:t>
            </a:r>
            <a:r>
              <a:rPr lang="es-MX" altLang="es-MX" sz="1400" b="1" dirty="0"/>
              <a:t>()).</a:t>
            </a:r>
            <a:r>
              <a:rPr lang="es-MX" altLang="es-MX" sz="1400" b="1" dirty="0" err="1"/>
              <a:t>thenReturn</a:t>
            </a:r>
            <a:r>
              <a:rPr lang="es-MX" altLang="es-MX" sz="1400" b="1" dirty="0"/>
              <a:t>(</a:t>
            </a:r>
            <a:r>
              <a:rPr lang="es-MX" altLang="es-MX" sz="1400" b="1" dirty="0" err="1"/>
              <a:t>courses</a:t>
            </a:r>
            <a:r>
              <a:rPr lang="es-MX" altLang="es-MX" sz="1400" b="1" dirty="0"/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400" dirty="0"/>
              <a:t>Esto indica que cuando el controlador solicite la lista de cursos, el repositorio no consultará MySQL, sino que devolverá la lista simulada creada en la prueba.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400" dirty="0"/>
              <a:t>Posteriormente se ejecuta: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400" b="1" dirty="0" err="1"/>
              <a:t>controller.getCourses</a:t>
            </a:r>
            <a:r>
              <a:rPr lang="es-MX" altLang="es-MX" sz="1400" b="1" dirty="0"/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400" dirty="0"/>
              <a:t>Finalmente, con </a:t>
            </a:r>
            <a:r>
              <a:rPr lang="es-MX" altLang="es-MX" sz="1400" dirty="0" err="1"/>
              <a:t>assertEquals</a:t>
            </a:r>
            <a:r>
              <a:rPr lang="es-MX" altLang="es-MX" sz="1400" dirty="0"/>
              <a:t>() se verifica que la cantidad de cursos obtenida sea la correcta, y con </a:t>
            </a:r>
            <a:r>
              <a:rPr lang="es-MX" altLang="es-MX" sz="1400" dirty="0" err="1"/>
              <a:t>verify</a:t>
            </a:r>
            <a:r>
              <a:rPr lang="es-MX" altLang="es-MX" sz="1400" dirty="0"/>
              <a:t>() se comprueba que el método </a:t>
            </a:r>
            <a:r>
              <a:rPr lang="es-MX" altLang="es-MX" sz="1400" dirty="0" err="1"/>
              <a:t>findAll</a:t>
            </a:r>
            <a:r>
              <a:rPr lang="es-MX" altLang="es-MX" sz="1400" dirty="0"/>
              <a:t>() haya sido ejecutado una vez.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5B15445-1459-F54D-DD36-DE731B55E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694629"/>
            <a:ext cx="121030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400"/>
              <a:t>Esta prueba unitaria verifica el funcionamiento del endpoint encargado de obtener la lista de cursos registrados dentro del microservicio courses-service.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FECD4F4-8838-2E59-21A1-06961B00A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755" y="3248660"/>
            <a:ext cx="7094526" cy="360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099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964D24-4E6B-28B6-AF7D-78E2AFBDE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144728"/>
            <a:ext cx="10083800" cy="473075"/>
          </a:xfrm>
        </p:spPr>
        <p:txBody>
          <a:bodyPr>
            <a:normAutofit fontScale="90000"/>
          </a:bodyPr>
          <a:lstStyle/>
          <a:p>
            <a:r>
              <a:rPr lang="es-MX" sz="3200" dirty="0"/>
              <a:t>EnrollmentControllerTest.java (Prueba unitaria)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397A05-0481-80CE-35AE-422CF76B1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" y="617803"/>
            <a:ext cx="1019047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Primero se crea un objeto de prueba </a:t>
            </a:r>
            <a:r>
              <a:rPr lang="es-MX" altLang="es-MX" dirty="0" err="1"/>
              <a:t>Enrollment</a:t>
            </a:r>
            <a:r>
              <a:rPr lang="es-MX" altLang="es-MX" dirty="0"/>
              <a:t> con datos simulados: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 err="1"/>
              <a:t>Enrollment</a:t>
            </a:r>
            <a:r>
              <a:rPr lang="es-MX" altLang="es-MX" dirty="0"/>
              <a:t> </a:t>
            </a:r>
            <a:r>
              <a:rPr lang="es-MX" altLang="es-MX" dirty="0" err="1"/>
              <a:t>enrollment</a:t>
            </a:r>
            <a:r>
              <a:rPr lang="es-MX" altLang="es-MX" dirty="0"/>
              <a:t> = new </a:t>
            </a:r>
            <a:r>
              <a:rPr lang="es-MX" altLang="es-MX" dirty="0" err="1"/>
              <a:t>Enrollment</a:t>
            </a:r>
            <a:r>
              <a:rPr lang="es-MX" altLang="es-MX" dirty="0"/>
              <a:t>(</a:t>
            </a:r>
            <a:br>
              <a:rPr lang="es-MX" altLang="es-MX" dirty="0"/>
            </a:br>
            <a:r>
              <a:rPr lang="es-MX" altLang="es-MX" dirty="0"/>
              <a:t>1L,</a:t>
            </a:r>
            <a:br>
              <a:rPr lang="es-MX" altLang="es-MX" dirty="0"/>
            </a:br>
            <a:r>
              <a:rPr lang="es-MX" altLang="es-MX" dirty="0"/>
              <a:t>2L,</a:t>
            </a:r>
            <a:br>
              <a:rPr lang="es-MX" altLang="es-MX" dirty="0"/>
            </a:br>
            <a:r>
              <a:rPr lang="es-MX" altLang="es-MX" dirty="0"/>
              <a:t>"7:00 AM",</a:t>
            </a:r>
            <a:br>
              <a:rPr lang="es-MX" altLang="es-MX" dirty="0"/>
            </a:br>
            <a:r>
              <a:rPr lang="es-MX" altLang="es-MX" dirty="0"/>
              <a:t>"A-101"</a:t>
            </a:r>
            <a:br>
              <a:rPr lang="es-MX" altLang="es-MX" dirty="0"/>
            </a:br>
            <a:r>
              <a:rPr lang="es-MX" altLang="es-MX" dirty="0"/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En este caso: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/>
              <a:t>1L representa el ID del estudiante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/>
              <a:t>2L representa el ID del curso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/>
              <a:t>"7:00 AM" representa el horario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/>
              <a:t>"A-101" representa el salón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7E955BD-073E-C724-CF74-CD2BEBDCD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00" y="5306514"/>
            <a:ext cx="1170939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Después, </a:t>
            </a:r>
            <a:r>
              <a:rPr lang="es-MX" altLang="es-MX" dirty="0" err="1"/>
              <a:t>Mockito</a:t>
            </a:r>
            <a:r>
              <a:rPr lang="es-MX" altLang="es-MX" dirty="0"/>
              <a:t> simula el comportamiento del repositorio: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b="1" dirty="0" err="1"/>
              <a:t>when</a:t>
            </a:r>
            <a:r>
              <a:rPr lang="es-MX" altLang="es-MX" b="1" dirty="0"/>
              <a:t>(</a:t>
            </a:r>
            <a:r>
              <a:rPr lang="es-MX" altLang="es-MX" b="1" dirty="0" err="1"/>
              <a:t>repository.save</a:t>
            </a:r>
            <a:r>
              <a:rPr lang="es-MX" altLang="es-MX" b="1" dirty="0"/>
              <a:t>(</a:t>
            </a:r>
            <a:r>
              <a:rPr lang="es-MX" altLang="es-MX" b="1" dirty="0" err="1"/>
              <a:t>enrollment</a:t>
            </a:r>
            <a:r>
              <a:rPr lang="es-MX" altLang="es-MX" b="1" dirty="0"/>
              <a:t>)).</a:t>
            </a:r>
            <a:r>
              <a:rPr lang="es-MX" altLang="es-MX" b="1" dirty="0" err="1"/>
              <a:t>thenReturn</a:t>
            </a:r>
            <a:r>
              <a:rPr lang="es-MX" altLang="es-MX" b="1" dirty="0"/>
              <a:t>(</a:t>
            </a:r>
            <a:r>
              <a:rPr lang="es-MX" altLang="es-MX" b="1" dirty="0" err="1"/>
              <a:t>enrollment</a:t>
            </a:r>
            <a:r>
              <a:rPr lang="es-MX" altLang="es-MX" b="1" dirty="0"/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Esto significa que cuando el controlador intente guardar la inscripción, </a:t>
            </a:r>
            <a:r>
              <a:rPr lang="es-MX" altLang="es-MX" dirty="0" err="1"/>
              <a:t>Mockito</a:t>
            </a:r>
            <a:r>
              <a:rPr lang="es-MX" altLang="es-MX" dirty="0"/>
              <a:t> regresará el mismo objeto sin necesidad de usar MySQL.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3A58B7D-CD3C-F9DA-476E-D0F2B23541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688" b="15192"/>
          <a:stretch/>
        </p:blipFill>
        <p:spPr>
          <a:xfrm>
            <a:off x="5765800" y="993775"/>
            <a:ext cx="5981700" cy="427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788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EEE48BE4-7C3B-4C1A-82F3-154E788A7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81" y="12681"/>
            <a:ext cx="561491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Posteriormente se ejecuta el método: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 err="1"/>
              <a:t>controller.createEnrollment</a:t>
            </a:r>
            <a:r>
              <a:rPr lang="es-MX" altLang="es-MX" dirty="0"/>
              <a:t>(</a:t>
            </a:r>
            <a:r>
              <a:rPr lang="es-MX" altLang="es-MX" dirty="0" err="1"/>
              <a:t>enrollment</a:t>
            </a:r>
            <a:r>
              <a:rPr lang="es-MX" altLang="es-MX" dirty="0"/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Finalmente, con </a:t>
            </a:r>
            <a:r>
              <a:rPr lang="es-MX" altLang="es-MX" dirty="0" err="1"/>
              <a:t>assertEquals</a:t>
            </a:r>
            <a:r>
              <a:rPr lang="es-MX" altLang="es-MX" dirty="0"/>
              <a:t>() se verifica que los datos guardados coincidan con los esperados, por ejemplo: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/>
              <a:t>Horario = "7:00 AM"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/>
              <a:t>Salón = "A-101"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MX" altLang="es-MX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Y con</a:t>
            </a:r>
            <a:r>
              <a:rPr lang="es-MX" altLang="es-MX" b="1" dirty="0"/>
              <a:t> </a:t>
            </a:r>
            <a:r>
              <a:rPr lang="es-MX" altLang="es-MX" b="1" dirty="0" err="1"/>
              <a:t>verify</a:t>
            </a:r>
            <a:r>
              <a:rPr lang="es-MX" altLang="es-MX" b="1" dirty="0"/>
              <a:t>() </a:t>
            </a:r>
            <a:r>
              <a:rPr lang="es-MX" altLang="es-MX" dirty="0"/>
              <a:t>se comprueba que </a:t>
            </a:r>
            <a:r>
              <a:rPr lang="es-MX" altLang="es-MX" b="1" dirty="0" err="1"/>
              <a:t>repository.save</a:t>
            </a:r>
            <a:r>
              <a:rPr lang="es-MX" altLang="es-MX" b="1" dirty="0"/>
              <a:t>() </a:t>
            </a:r>
            <a:r>
              <a:rPr lang="es-MX" altLang="es-MX" dirty="0"/>
              <a:t>se haya ejecutado correctamente una vez.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5E3BFA7-4280-7163-7FD8-EF08EF2A2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29000"/>
            <a:ext cx="56769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Funcionamiento general de la prueba: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Esta prueba permite validar el correcto comportamiento del </a:t>
            </a:r>
            <a:r>
              <a:rPr lang="es-MX" altLang="es-MX" dirty="0" err="1"/>
              <a:t>endpoint</a:t>
            </a:r>
            <a:r>
              <a:rPr lang="es-MX" altLang="es-MX" dirty="0"/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b="1" dirty="0"/>
              <a:t>POST /</a:t>
            </a:r>
            <a:r>
              <a:rPr lang="es-MX" altLang="es-MX" b="1" dirty="0" err="1"/>
              <a:t>enrollments</a:t>
            </a:r>
            <a:endParaRPr lang="es-MX" altLang="es-MX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sin necesidad de utilizar una base de datos real, asegurando que el controlador procese correctamente el registro de una inscripción y devuelva la información esperada.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FC98A51-B737-1775-BBBC-890F57525C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754"/>
          <a:stretch/>
        </p:blipFill>
        <p:spPr>
          <a:xfrm>
            <a:off x="5784888" y="620605"/>
            <a:ext cx="6148280" cy="556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27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6363E5-1740-84AA-CD1C-897061184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251504"/>
            <a:ext cx="11049000" cy="445181"/>
          </a:xfrm>
        </p:spPr>
        <p:txBody>
          <a:bodyPr>
            <a:noAutofit/>
          </a:bodyPr>
          <a:lstStyle/>
          <a:p>
            <a:r>
              <a:rPr lang="es-MX" sz="3200" dirty="0"/>
              <a:t>StudentsServiceIntegrationTest.java(Prueba de integración REAL)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ECCA41E-BD38-D5F8-3EBA-8DA1D55B1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726673"/>
            <a:ext cx="1067888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Esta prueba de integración verifica el funcionamiento real del </a:t>
            </a:r>
            <a:r>
              <a:rPr lang="es-MX" altLang="es-MX" dirty="0" err="1"/>
              <a:t>endpoint</a:t>
            </a:r>
            <a:r>
              <a:rPr lang="es-MX" altLang="es-MX" dirty="0"/>
              <a:t> encargado de obtener la lista de estudiantes registrados en la base de datos.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El controlador ejecuta una consulta real (SELECT) sobre la tabla </a:t>
            </a:r>
            <a:r>
              <a:rPr lang="es-MX" altLang="es-MX" dirty="0" err="1"/>
              <a:t>student</a:t>
            </a:r>
            <a:r>
              <a:rPr lang="es-MX" altLang="es-MX" dirty="0"/>
              <a:t>, recuperando los datos almacenados en MySQL.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Con esta prueba se valida que: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dirty="0"/>
              <a:t>Spring </a:t>
            </a:r>
            <a:r>
              <a:rPr lang="es-MX" altLang="es-MX" dirty="0" err="1"/>
              <a:t>Boot</a:t>
            </a:r>
            <a:r>
              <a:rPr lang="es-MX" altLang="es-MX" dirty="0"/>
              <a:t> se levante correctamente.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dirty="0"/>
              <a:t>La conexión con MySQL funcione.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dirty="0" err="1"/>
              <a:t>Hibernate</a:t>
            </a:r>
            <a:r>
              <a:rPr lang="es-MX" altLang="es-MX" dirty="0"/>
              <a:t> ejecute la consulta SQL real.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dirty="0"/>
              <a:t>El controlador reciba la información correctamente.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806768D-9B90-C4A9-23F8-F379E31E8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3311996"/>
            <a:ext cx="557892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Qué verifica la prueba: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dirty="0"/>
              <a:t>Que Spring </a:t>
            </a:r>
            <a:r>
              <a:rPr lang="es-MX" altLang="es-MX" dirty="0" err="1"/>
              <a:t>Boot</a:t>
            </a:r>
            <a:r>
              <a:rPr lang="es-MX" altLang="es-MX" dirty="0"/>
              <a:t> cargue correctamente el contexto de la aplicación.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dirty="0"/>
              <a:t>Que exista conexión real con MySQL.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dirty="0"/>
              <a:t>Que </a:t>
            </a:r>
            <a:r>
              <a:rPr lang="es-MX" altLang="es-MX" dirty="0" err="1"/>
              <a:t>Hibernate</a:t>
            </a:r>
            <a:r>
              <a:rPr lang="es-MX" altLang="es-MX" dirty="0"/>
              <a:t> ejecute un SELECT real.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dirty="0"/>
              <a:t>Que la lista obtenida no sea nula.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dirty="0"/>
              <a:t>Que el sistema recupere correctamente los estudiantes registrados.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4B732AB-C1F1-3D4F-CE43-188DCC1BB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044" y="2256082"/>
            <a:ext cx="6325983" cy="321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15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0D79C81-A268-52E1-16BE-2A5BBFA05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286" y="-28075"/>
            <a:ext cx="445225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Primero se inyecta el controlador real utilizando: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@Autowired</a:t>
            </a:r>
            <a:br>
              <a:rPr lang="es-MX" altLang="es-MX" dirty="0"/>
            </a:br>
            <a:r>
              <a:rPr lang="es-MX" altLang="es-MX" dirty="0" err="1"/>
              <a:t>private</a:t>
            </a:r>
            <a:r>
              <a:rPr lang="es-MX" altLang="es-MX" dirty="0"/>
              <a:t> </a:t>
            </a:r>
            <a:r>
              <a:rPr lang="es-MX" altLang="es-MX" dirty="0" err="1"/>
              <a:t>StudentController</a:t>
            </a:r>
            <a:r>
              <a:rPr lang="es-MX" altLang="es-MX" dirty="0"/>
              <a:t> </a:t>
            </a:r>
            <a:r>
              <a:rPr lang="es-MX" altLang="es-MX" dirty="0" err="1"/>
              <a:t>controller</a:t>
            </a:r>
            <a:r>
              <a:rPr lang="es-MX" altLang="es-MX" dirty="0"/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Esto permite utilizar el controlador real dentro del test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768E24A-17E6-70D1-FD15-55692AEBD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2257" y="-28075"/>
            <a:ext cx="757645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Después se ejecuta: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 err="1"/>
              <a:t>List</a:t>
            </a:r>
            <a:r>
              <a:rPr lang="es-MX" altLang="es-MX" dirty="0"/>
              <a:t>&lt;</a:t>
            </a:r>
            <a:r>
              <a:rPr lang="es-MX" altLang="es-MX" dirty="0" err="1"/>
              <a:t>Student</a:t>
            </a:r>
            <a:r>
              <a:rPr lang="es-MX" altLang="es-MX" dirty="0"/>
              <a:t>&gt; </a:t>
            </a:r>
            <a:r>
              <a:rPr lang="es-MX" altLang="es-MX" dirty="0" err="1"/>
              <a:t>students</a:t>
            </a:r>
            <a:r>
              <a:rPr lang="es-MX" altLang="es-MX" dirty="0"/>
              <a:t> = </a:t>
            </a:r>
            <a:r>
              <a:rPr lang="es-MX" altLang="es-MX" dirty="0" err="1"/>
              <a:t>controller.getStudents</a:t>
            </a:r>
            <a:r>
              <a:rPr lang="es-MX" altLang="es-MX" dirty="0"/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En este punto el sistema realiza una consulta real a MySQL: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SELECT * FROM </a:t>
            </a:r>
            <a:r>
              <a:rPr lang="es-MX" altLang="es-MX" dirty="0" err="1"/>
              <a:t>student</a:t>
            </a:r>
            <a:r>
              <a:rPr lang="es-MX" altLang="es-MX" dirty="0"/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 err="1"/>
              <a:t>Hibernate</a:t>
            </a:r>
            <a:r>
              <a:rPr lang="es-MX" altLang="es-MX" dirty="0"/>
              <a:t> muestra esta consulta en consola como evidencia de que el acceso fue real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A8F8A06-B221-50F8-3D2E-E033801730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40" t="8740" r="47678" b="61074"/>
          <a:stretch/>
        </p:blipFill>
        <p:spPr>
          <a:xfrm>
            <a:off x="468085" y="1726251"/>
            <a:ext cx="3167743" cy="187234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BB3F975-56EE-EFF3-27DF-9BC205C716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15" t="37697" r="40892" b="49242"/>
          <a:stretch/>
        </p:blipFill>
        <p:spPr>
          <a:xfrm>
            <a:off x="4452257" y="1726251"/>
            <a:ext cx="6150429" cy="1322884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535CF5BD-292E-4A79-019A-F2B930EBA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" y="3716608"/>
            <a:ext cx="793568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Posteriormente se verifica: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 err="1"/>
              <a:t>assertNotNull</a:t>
            </a:r>
            <a:r>
              <a:rPr lang="es-MX" altLang="es-MX" dirty="0"/>
              <a:t>(</a:t>
            </a:r>
            <a:r>
              <a:rPr lang="es-MX" altLang="es-MX" dirty="0" err="1"/>
              <a:t>students</a:t>
            </a:r>
            <a:r>
              <a:rPr lang="es-MX" altLang="es-MX" dirty="0"/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Esto confirma que la lista obtenida no sea nula.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Finalmente se imprime: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 err="1"/>
              <a:t>System.out.println</a:t>
            </a:r>
            <a:r>
              <a:rPr lang="es-MX" altLang="es-MX" dirty="0"/>
              <a:t>("Cantidad de estudiantes: " + </a:t>
            </a:r>
            <a:r>
              <a:rPr lang="es-MX" altLang="es-MX" dirty="0" err="1"/>
              <a:t>students.size</a:t>
            </a:r>
            <a:r>
              <a:rPr lang="es-MX" altLang="es-MX" dirty="0"/>
              <a:t>());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para mostrar cuántos estudiantes fueron recuperados desde la base de datos.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A50353B-9ADC-2D76-78D2-045B4E5C83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39" t="50838" r="40668" b="36101"/>
          <a:stretch/>
        </p:blipFill>
        <p:spPr>
          <a:xfrm>
            <a:off x="163286" y="5476967"/>
            <a:ext cx="6150429" cy="132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595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8C74DC2-8BC4-6D4E-C1F3-B2FC9E4EB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02365"/>
            <a:ext cx="667503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/>
              <a:t>Esta prueba valida el comportamiento real del endpoint: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/>
              <a:t>GET /students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/>
              <a:t>realizando una consulta directa a MySQL sin utilizar simulaciones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FDB7D2F-969C-6E9A-0846-C780472A7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6" y="1242060"/>
            <a:ext cx="5138057" cy="261398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0AE2543-8486-0147-850C-EB676BA25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42060"/>
            <a:ext cx="5256598" cy="267429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6474325-8F3B-A57D-D628-FD4119AC7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5457" y="4041649"/>
            <a:ext cx="5138057" cy="261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97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C1CC08-CD11-CDA7-13C6-8C8E22AA7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es-MX" dirty="0"/>
              <a:t>Conclusión</a:t>
            </a:r>
            <a:br>
              <a:rPr lang="es-MX" altLang="es-MX" dirty="0"/>
            </a:br>
            <a:endParaRPr lang="es-MX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5F75E4F-8A7E-2B36-A7AE-7AAC3D914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altLang="es-MX" dirty="0"/>
              <a:t>El banco de ejercicios permitió verificar el correcto funcionamiento de los microservicios mediante pruebas unitarias y de integración. Los resultados obtenidos fueron satisfactorios, ya que se comprobó que los </a:t>
            </a:r>
            <a:r>
              <a:rPr lang="es-MX" altLang="es-MX" dirty="0" err="1"/>
              <a:t>endpoints</a:t>
            </a:r>
            <a:r>
              <a:rPr lang="es-MX" altLang="es-MX" dirty="0"/>
              <a:t>, controladores y la conexión con la base de datos funcionaron correctamente. Con esto se garantizó una mayor calidad y confiabilidad del software desarrollado.</a:t>
            </a:r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446084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1345</Words>
  <Application>Microsoft Office PowerPoint</Application>
  <PresentationFormat>Panorámica</PresentationFormat>
  <Paragraphs>142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Century Gothic</vt:lpstr>
      <vt:lpstr>Tema de Office</vt:lpstr>
      <vt:lpstr>Presentación de PowerPoint</vt:lpstr>
      <vt:lpstr>Introducción</vt:lpstr>
      <vt:lpstr>Justificación </vt:lpstr>
      <vt:lpstr>Objetivo general </vt:lpstr>
      <vt:lpstr>Importancia de las dependencias utilizadas en las pruebas</vt:lpstr>
      <vt:lpstr>StudentControllerTest.java (unitaria)</vt:lpstr>
      <vt:lpstr>Presentación de PowerPoint</vt:lpstr>
      <vt:lpstr>Presentación de PowerPoint</vt:lpstr>
      <vt:lpstr>Presentación de PowerPoint</vt:lpstr>
      <vt:lpstr>CourseControllerTest.java (Prueba unitaria)</vt:lpstr>
      <vt:lpstr>EnrollmentControllerTest.java (Prueba unitaria)</vt:lpstr>
      <vt:lpstr>Presentación de PowerPoint</vt:lpstr>
      <vt:lpstr>StudentsServiceIntegrationTest.java(Prueba de integración REAL)</vt:lpstr>
      <vt:lpstr>Presentación de PowerPoint</vt:lpstr>
      <vt:lpstr>Presentación de PowerPoint</vt:lpstr>
      <vt:lpstr>Conclusión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Jasmine Morales</dc:creator>
  <cp:lastModifiedBy>Jasmine Morales</cp:lastModifiedBy>
  <cp:revision>2</cp:revision>
  <dcterms:created xsi:type="dcterms:W3CDTF">2026-05-21T00:53:53Z</dcterms:created>
  <dcterms:modified xsi:type="dcterms:W3CDTF">2026-05-30T19:46:36Z</dcterms:modified>
</cp:coreProperties>
</file>