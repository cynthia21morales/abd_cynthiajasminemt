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1"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60"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AC0FCB-3DF0-D893-A4E1-35DC48DAE26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A7DDFF4-7E5C-8313-53F7-66B8A4C5DB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4207D95F-7483-D3E7-303A-F835D0FAC777}"/>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5" name="Marcador de pie de página 4">
            <a:extLst>
              <a:ext uri="{FF2B5EF4-FFF2-40B4-BE49-F238E27FC236}">
                <a16:creationId xmlns:a16="http://schemas.microsoft.com/office/drawing/2014/main" id="{971C6D55-D50F-AE23-3654-CA42EE9EEF3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BD8E938-16E3-9F32-36D1-B637A41017A9}"/>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4243029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B7254E-3501-532D-858C-3373A0088B4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FF2A04B-0EA6-4EAF-8C7B-329FBC95C59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23D3BFE-E761-9F76-9D02-ECB876C65C1C}"/>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5" name="Marcador de pie de página 4">
            <a:extLst>
              <a:ext uri="{FF2B5EF4-FFF2-40B4-BE49-F238E27FC236}">
                <a16:creationId xmlns:a16="http://schemas.microsoft.com/office/drawing/2014/main" id="{F84F1105-E403-E7A4-97A8-A4F079A7EC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85E2F86-D483-70F6-7010-6FF90EB49B8B}"/>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1937472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544DC0-6BB2-AA82-0398-DA4526FF416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DB15D7D-EC12-ED5E-22EC-E61ED98628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DD7397F-D5E2-3315-7CBD-3B7A2FC420FA}"/>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5" name="Marcador de pie de página 4">
            <a:extLst>
              <a:ext uri="{FF2B5EF4-FFF2-40B4-BE49-F238E27FC236}">
                <a16:creationId xmlns:a16="http://schemas.microsoft.com/office/drawing/2014/main" id="{E933EE13-52A8-B058-99BF-4902E2B2275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DAA81F0-3605-B80E-78F1-6FAC417B3380}"/>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268757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116FF8-B910-526B-E85A-52BCA7C69FE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5D72CB4-9D8F-BDD8-03C9-8EA47D42387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2810F422-FF03-5244-CADB-C68FA1690CE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C8D3AFFC-B687-60B7-D2DE-A40088E05D30}"/>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6" name="Marcador de pie de página 5">
            <a:extLst>
              <a:ext uri="{FF2B5EF4-FFF2-40B4-BE49-F238E27FC236}">
                <a16:creationId xmlns:a16="http://schemas.microsoft.com/office/drawing/2014/main" id="{BE0BC2F8-BECE-224E-C306-91649574FAF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A98ADDD-2DAB-AFF8-741F-E9FF156BAFDD}"/>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4043424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E7453C-A66A-24E4-A772-5E959DC7B39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DAA4875-5279-2FF1-3B17-075A583EE4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ED55A27-0DD8-8031-3FD1-40A75F2986B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0250EAE-DD0C-965E-0FCD-6A4F776E01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C4C894D-90A1-D859-43F2-FC5A47851BE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F198EE2-CBAC-25B4-B11E-7A20EB152DBD}"/>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8" name="Marcador de pie de página 7">
            <a:extLst>
              <a:ext uri="{FF2B5EF4-FFF2-40B4-BE49-F238E27FC236}">
                <a16:creationId xmlns:a16="http://schemas.microsoft.com/office/drawing/2014/main" id="{B145E31D-3D32-8082-3266-0585AEC13179}"/>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021D173-CB3D-F7A7-3C1B-29CECE9C07A6}"/>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1091791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E9A084-B49F-C6F1-2268-933EE8EEEE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12C4D1DC-C98A-8EB3-8559-72933D3FF235}"/>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4" name="Marcador de pie de página 3">
            <a:extLst>
              <a:ext uri="{FF2B5EF4-FFF2-40B4-BE49-F238E27FC236}">
                <a16:creationId xmlns:a16="http://schemas.microsoft.com/office/drawing/2014/main" id="{48A2B71F-C913-F76D-06EF-F66C168B96D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89D5D6A3-842C-71A7-5A93-9C82CBB23F27}"/>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2687286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C514B45-7F86-C59D-8220-D5413F082647}"/>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3" name="Marcador de pie de página 2">
            <a:extLst>
              <a:ext uri="{FF2B5EF4-FFF2-40B4-BE49-F238E27FC236}">
                <a16:creationId xmlns:a16="http://schemas.microsoft.com/office/drawing/2014/main" id="{E20AEBAD-B0EA-1EBA-1619-693FE625B31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725E94D-1FC4-8E6F-E9B2-388D6577CD02}"/>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3852934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BADBEF-41E2-6217-969E-F4A35F54B77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161E05E-45F0-A76B-D7A5-4CD46EF052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15F3C8C-1295-AF71-79A2-0AD861E52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301F36E-8A68-368C-43EC-30AFEF2C29DD}"/>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6" name="Marcador de pie de página 5">
            <a:extLst>
              <a:ext uri="{FF2B5EF4-FFF2-40B4-BE49-F238E27FC236}">
                <a16:creationId xmlns:a16="http://schemas.microsoft.com/office/drawing/2014/main" id="{A0B7E285-790F-7674-9FD6-06505CDECFC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C020FCD-D1D7-6290-75BF-F097A0F0D465}"/>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192392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64D30-3345-A97C-0917-DA9C400764E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12ABA39F-8D87-6DB1-DD37-222CE9D640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4BA76DD-9E3F-9C9E-D9EF-613E245A3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155A58D-6D8A-E2FB-2CE3-A090C9C13DDE}"/>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6" name="Marcador de pie de página 5">
            <a:extLst>
              <a:ext uri="{FF2B5EF4-FFF2-40B4-BE49-F238E27FC236}">
                <a16:creationId xmlns:a16="http://schemas.microsoft.com/office/drawing/2014/main" id="{6E9DE0EA-7130-BC7E-9ACD-D30FE5E0ED7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0819E6C-9ACC-A202-FA02-7BB90C3C29C2}"/>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80786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E923A1-6298-64A2-B976-069E8EA9999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7C85997-69B4-17A1-7BB3-8E2A2CEFD24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64B6391-32FB-B40D-1B68-9522FC1B4DD9}"/>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5" name="Marcador de pie de página 4">
            <a:extLst>
              <a:ext uri="{FF2B5EF4-FFF2-40B4-BE49-F238E27FC236}">
                <a16:creationId xmlns:a16="http://schemas.microsoft.com/office/drawing/2014/main" id="{9828810A-723E-98AF-866D-4F3C4B118E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13910CE-781B-3A15-BC06-309CE72E4F81}"/>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4169261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0AC1632-760A-1B2E-48CC-D9C44E8436E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245D88A-C76B-F459-9B0B-3BC80511438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463AF4B-1480-4C67-46D3-D70DE71FF5F7}"/>
              </a:ext>
            </a:extLst>
          </p:cNvPr>
          <p:cNvSpPr>
            <a:spLocks noGrp="1"/>
          </p:cNvSpPr>
          <p:nvPr>
            <p:ph type="dt" sz="half" idx="10"/>
          </p:nvPr>
        </p:nvSpPr>
        <p:spPr/>
        <p:txBody>
          <a:bodyPr/>
          <a:lstStyle/>
          <a:p>
            <a:fld id="{85115030-FC65-4E8B-803E-4A868419C0D0}" type="datetimeFigureOut">
              <a:rPr lang="es-MX" smtClean="0"/>
              <a:t>12/06/2026</a:t>
            </a:fld>
            <a:endParaRPr lang="es-MX"/>
          </a:p>
        </p:txBody>
      </p:sp>
      <p:sp>
        <p:nvSpPr>
          <p:cNvPr id="5" name="Marcador de pie de página 4">
            <a:extLst>
              <a:ext uri="{FF2B5EF4-FFF2-40B4-BE49-F238E27FC236}">
                <a16:creationId xmlns:a16="http://schemas.microsoft.com/office/drawing/2014/main" id="{15109A1F-82E0-0EAB-A15F-942B6BFC4F0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9AAF81B-7701-AAA7-87D1-7A15FFAD5D2F}"/>
              </a:ext>
            </a:extLst>
          </p:cNvPr>
          <p:cNvSpPr>
            <a:spLocks noGrp="1"/>
          </p:cNvSpPr>
          <p:nvPr>
            <p:ph type="sldNum" sz="quarter" idx="12"/>
          </p:nvPr>
        </p:nvSpPr>
        <p:spPr/>
        <p:txBody>
          <a:bodyPr/>
          <a:lstStyle/>
          <a:p>
            <a:fld id="{CF2B7A19-F710-4163-973F-83B1D9A48163}" type="slidenum">
              <a:rPr lang="es-MX" smtClean="0"/>
              <a:t>‹Nº›</a:t>
            </a:fld>
            <a:endParaRPr lang="es-MX"/>
          </a:p>
        </p:txBody>
      </p:sp>
    </p:spTree>
    <p:extLst>
      <p:ext uri="{BB962C8B-B14F-4D97-AF65-F5344CB8AC3E}">
        <p14:creationId xmlns:p14="http://schemas.microsoft.com/office/powerpoint/2010/main" val="263736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B064C14-7606-18B7-A654-C08A8A816D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15DEEC6-9456-4EB9-56A5-7C295E2F6E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A15EF0C-9673-B1AF-AEE2-34B12D8499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115030-FC65-4E8B-803E-4A868419C0D0}" type="datetimeFigureOut">
              <a:rPr lang="es-MX" smtClean="0"/>
              <a:t>12/06/2026</a:t>
            </a:fld>
            <a:endParaRPr lang="es-MX"/>
          </a:p>
        </p:txBody>
      </p:sp>
      <p:sp>
        <p:nvSpPr>
          <p:cNvPr id="5" name="Marcador de pie de página 4">
            <a:extLst>
              <a:ext uri="{FF2B5EF4-FFF2-40B4-BE49-F238E27FC236}">
                <a16:creationId xmlns:a16="http://schemas.microsoft.com/office/drawing/2014/main" id="{802E6856-C8F9-3CC3-9FF9-D0D5E9E14C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7ADB3D6-0F19-9435-8311-5A2847A1BC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2B7A19-F710-4163-973F-83B1D9A48163}" type="slidenum">
              <a:rPr lang="es-MX" smtClean="0"/>
              <a:t>‹Nº›</a:t>
            </a:fld>
            <a:endParaRPr lang="es-MX"/>
          </a:p>
        </p:txBody>
      </p:sp>
    </p:spTree>
    <p:extLst>
      <p:ext uri="{BB962C8B-B14F-4D97-AF65-F5344CB8AC3E}">
        <p14:creationId xmlns:p14="http://schemas.microsoft.com/office/powerpoint/2010/main" val="809733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751E67A7-D9E3-EECE-D439-123516199093}"/>
              </a:ext>
            </a:extLst>
          </p:cNvPr>
          <p:cNvSpPr txBox="1"/>
          <p:nvPr/>
        </p:nvSpPr>
        <p:spPr>
          <a:xfrm>
            <a:off x="2374586" y="2011396"/>
            <a:ext cx="7644625" cy="4678204"/>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Administración</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5.3 Banco de </a:t>
            </a:r>
            <a:r>
              <a:rPr lang="en-US" sz="1600" dirty="0" err="1">
                <a:solidFill>
                  <a:srgbClr val="000000"/>
                </a:solidFill>
                <a:latin typeface="Century Gothic" panose="020B0502020202020204" pitchFamily="34" charset="0"/>
                <a:ea typeface="Glacial Indifference"/>
                <a:cs typeface="Glacial Indifference"/>
                <a:sym typeface="Glacial Indifference"/>
              </a:rPr>
              <a:t>ejercicios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11 de </a:t>
            </a:r>
            <a:r>
              <a:rPr lang="en-US" sz="1600" dirty="0" err="1">
                <a:solidFill>
                  <a:srgbClr val="000000"/>
                </a:solidFill>
                <a:latin typeface="Century Gothic" panose="020B0502020202020204" pitchFamily="34" charset="0"/>
                <a:ea typeface="Glacial Indifference"/>
                <a:cs typeface="Glacial Indifference"/>
                <a:sym typeface="Glacial Indifference"/>
              </a:rPr>
              <a:t>junio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034D7D35-BAA4-8923-8D48-22852ABCEF53}"/>
              </a:ext>
            </a:extLst>
          </p:cNvPr>
          <p:cNvSpPr txBox="1"/>
          <p:nvPr/>
        </p:nvSpPr>
        <p:spPr>
          <a:xfrm>
            <a:off x="2018662" y="1127967"/>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4A26DC8E-9A08-259A-0C8B-4975159C0B4A}"/>
              </a:ext>
            </a:extLst>
          </p:cNvPr>
          <p:cNvGrpSpPr/>
          <p:nvPr/>
        </p:nvGrpSpPr>
        <p:grpSpPr>
          <a:xfrm>
            <a:off x="900094" y="85695"/>
            <a:ext cx="1833537" cy="1054536"/>
            <a:chOff x="0" y="0"/>
            <a:chExt cx="3073400" cy="1308100"/>
          </a:xfrm>
        </p:grpSpPr>
        <p:sp>
          <p:nvSpPr>
            <p:cNvPr id="7" name="Freeform 3">
              <a:extLst>
                <a:ext uri="{FF2B5EF4-FFF2-40B4-BE49-F238E27FC236}">
                  <a16:creationId xmlns:a16="http://schemas.microsoft.com/office/drawing/2014/main" id="{2F086845-5CE9-0CE0-4F67-8B892D56FFAF}"/>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9B40D5C7-7CD7-AFD8-64F3-E93A4A0551C0}"/>
              </a:ext>
            </a:extLst>
          </p:cNvPr>
          <p:cNvGrpSpPr/>
          <p:nvPr/>
        </p:nvGrpSpPr>
        <p:grpSpPr>
          <a:xfrm>
            <a:off x="10101943" y="167651"/>
            <a:ext cx="1517156" cy="890624"/>
            <a:chOff x="0" y="0"/>
            <a:chExt cx="1981200" cy="1625600"/>
          </a:xfrm>
        </p:grpSpPr>
        <p:sp>
          <p:nvSpPr>
            <p:cNvPr id="9" name="Freeform 5">
              <a:extLst>
                <a:ext uri="{FF2B5EF4-FFF2-40B4-BE49-F238E27FC236}">
                  <a16:creationId xmlns:a16="http://schemas.microsoft.com/office/drawing/2014/main" id="{EF6FC33B-0E5D-1499-8951-7D7E0AEB4DB8}"/>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74DD9C41-FC96-37B8-A22B-DECE59452AF7}"/>
              </a:ext>
            </a:extLst>
          </p:cNvPr>
          <p:cNvGrpSpPr/>
          <p:nvPr/>
        </p:nvGrpSpPr>
        <p:grpSpPr>
          <a:xfrm>
            <a:off x="4853273" y="255009"/>
            <a:ext cx="2687249" cy="587136"/>
            <a:chOff x="0" y="0"/>
            <a:chExt cx="4343400" cy="901700"/>
          </a:xfrm>
        </p:grpSpPr>
        <p:sp>
          <p:nvSpPr>
            <p:cNvPr id="11" name="Freeform 7">
              <a:extLst>
                <a:ext uri="{FF2B5EF4-FFF2-40B4-BE49-F238E27FC236}">
                  <a16:creationId xmlns:a16="http://schemas.microsoft.com/office/drawing/2014/main" id="{745A9036-9A75-E309-F14F-41D065578C05}"/>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103168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4F3A9F-1347-841F-D2FC-59A319A6E9ED}"/>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4D57CB1B-D5A8-C657-C0E2-1947E4A3E94F}"/>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El consumo de microservicios es una técnica ampliamente utilizada en el desarrollo de aplicaciones modernas, ya que permite la comunicación entre diferentes componentes de software mediante servicios independientes. Angular proporciona herramientas que facilitan el consumo de </a:t>
            </a:r>
            <a:r>
              <a:rPr lang="es-MX" sz="2000" dirty="0" err="1">
                <a:latin typeface="Arial" panose="020B0604020202020204" pitchFamily="34" charset="0"/>
                <a:cs typeface="Arial" panose="020B0604020202020204" pitchFamily="34" charset="0"/>
              </a:rPr>
              <a:t>APIs</a:t>
            </a:r>
            <a:r>
              <a:rPr lang="es-MX" sz="2000" dirty="0">
                <a:latin typeface="Arial" panose="020B0604020202020204" pitchFamily="34" charset="0"/>
                <a:cs typeface="Arial" panose="020B0604020202020204" pitchFamily="34" charset="0"/>
              </a:rPr>
              <a:t> REST, permitiendo obtener y mostrar información proveniente de aplicaciones </a:t>
            </a:r>
            <a:r>
              <a:rPr lang="es-MX" sz="2000" dirty="0" err="1">
                <a:latin typeface="Arial" panose="020B0604020202020204" pitchFamily="34" charset="0"/>
                <a:cs typeface="Arial" panose="020B0604020202020204" pitchFamily="34" charset="0"/>
              </a:rPr>
              <a:t>backend</a:t>
            </a:r>
            <a:r>
              <a:rPr lang="es-MX" sz="2000" dirty="0">
                <a:latin typeface="Arial" panose="020B0604020202020204" pitchFamily="34" charset="0"/>
                <a:cs typeface="Arial" panose="020B0604020202020204" pitchFamily="34" charset="0"/>
              </a:rPr>
              <a:t> desarrolladas con tecnologías como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a:t>
            </a:r>
          </a:p>
          <a:p>
            <a:pPr marL="0" indent="0" algn="just">
              <a:buNone/>
            </a:pPr>
            <a:r>
              <a:rPr lang="es-MX" sz="2000" dirty="0">
                <a:latin typeface="Arial" panose="020B0604020202020204" pitchFamily="34" charset="0"/>
                <a:cs typeface="Arial" panose="020B0604020202020204" pitchFamily="34" charset="0"/>
              </a:rPr>
              <a:t>Durante esta práctica se realizaron diversos ejercicios enfocados en la integración de Angular con microservicios, verificando la correcta comunicación entre la interfaz de usuario, los servicios </a:t>
            </a:r>
            <a:r>
              <a:rPr lang="es-MX" sz="2000" dirty="0" err="1">
                <a:latin typeface="Arial" panose="020B0604020202020204" pitchFamily="34" charset="0"/>
                <a:cs typeface="Arial" panose="020B0604020202020204" pitchFamily="34" charset="0"/>
              </a:rPr>
              <a:t>backend</a:t>
            </a:r>
            <a:r>
              <a:rPr lang="es-MX" sz="2000" dirty="0">
                <a:latin typeface="Arial" panose="020B0604020202020204" pitchFamily="34" charset="0"/>
                <a:cs typeface="Arial" panose="020B0604020202020204" pitchFamily="34" charset="0"/>
              </a:rPr>
              <a:t> y la base de datos.</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5135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DFA0D8-36B5-BF1F-097B-9FEBF91DAF6F}"/>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60C2687C-B6FF-EB43-A438-911CD476F6E4}"/>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La presente práctica permite fortalecer los conocimientos relacionados con el desarrollo de aplicaciones distribuidas mediante arquitecturas basadas en microservicios. Asimismo, contribuye al aprendizaje de tecnologías utilizadas actualmente en el ámbito profesional, tales como Angular,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Eureka Server y MySQL.</a:t>
            </a:r>
          </a:p>
          <a:p>
            <a:pPr marL="0" indent="0" algn="just">
              <a:buNone/>
            </a:pPr>
            <a:r>
              <a:rPr lang="es-MX" sz="2000" dirty="0">
                <a:latin typeface="Arial" panose="020B0604020202020204" pitchFamily="34" charset="0"/>
                <a:cs typeface="Arial" panose="020B0604020202020204" pitchFamily="34" charset="0"/>
              </a:rPr>
              <a:t>Mediante los ejercicios realizados fue posible comprobar el funcionamiento de los servicios REST, la persistencia de datos y la integración entre </a:t>
            </a:r>
            <a:r>
              <a:rPr lang="es-MX" sz="2000" dirty="0" err="1">
                <a:latin typeface="Arial" panose="020B0604020202020204" pitchFamily="34" charset="0"/>
                <a:cs typeface="Arial" panose="020B0604020202020204" pitchFamily="34" charset="0"/>
              </a:rPr>
              <a:t>frontend</a:t>
            </a:r>
            <a:r>
              <a:rPr lang="es-MX" sz="2000" dirty="0">
                <a:latin typeface="Arial" panose="020B0604020202020204" pitchFamily="34" charset="0"/>
                <a:cs typeface="Arial" panose="020B0604020202020204" pitchFamily="34" charset="0"/>
              </a:rPr>
              <a:t> y </a:t>
            </a:r>
            <a:r>
              <a:rPr lang="es-MX" sz="2000" dirty="0" err="1">
                <a:latin typeface="Arial" panose="020B0604020202020204" pitchFamily="34" charset="0"/>
                <a:cs typeface="Arial" panose="020B0604020202020204" pitchFamily="34" charset="0"/>
              </a:rPr>
              <a:t>backend</a:t>
            </a:r>
            <a:r>
              <a:rPr lang="es-MX" sz="2000" dirty="0">
                <a:latin typeface="Arial" panose="020B0604020202020204" pitchFamily="34" charset="0"/>
                <a:cs typeface="Arial" panose="020B0604020202020204" pitchFamily="34" charset="0"/>
              </a:rPr>
              <a:t> dentro de una misma arquitectura.</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7728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2B75B4-D6C2-3841-1641-80ABD7C601A7}"/>
              </a:ext>
            </a:extLst>
          </p:cNvPr>
          <p:cNvSpPr>
            <a:spLocks noGrp="1"/>
          </p:cNvSpPr>
          <p:nvPr>
            <p:ph type="title"/>
          </p:nvPr>
        </p:nvSpPr>
        <p:spPr>
          <a:xfrm>
            <a:off x="3069770" y="251505"/>
            <a:ext cx="6509657" cy="429532"/>
          </a:xfrm>
        </p:spPr>
        <p:txBody>
          <a:bodyPr>
            <a:normAutofit fontScale="90000"/>
          </a:bodyPr>
          <a:lstStyle/>
          <a:p>
            <a:r>
              <a:rPr lang="es-MX" sz="2800" dirty="0"/>
              <a:t>1. Verificación de Microservicios Registrados</a:t>
            </a:r>
          </a:p>
        </p:txBody>
      </p:sp>
      <p:pic>
        <p:nvPicPr>
          <p:cNvPr id="6" name="Marcador de contenido 5">
            <a:extLst>
              <a:ext uri="{FF2B5EF4-FFF2-40B4-BE49-F238E27FC236}">
                <a16:creationId xmlns:a16="http://schemas.microsoft.com/office/drawing/2014/main" id="{1D87A677-00CF-4A11-B74E-CE98E471C161}"/>
              </a:ext>
            </a:extLst>
          </p:cNvPr>
          <p:cNvPicPr>
            <a:picLocks noGrp="1" noChangeAspect="1"/>
          </p:cNvPicPr>
          <p:nvPr>
            <p:ph idx="1"/>
          </p:nvPr>
        </p:nvPicPr>
        <p:blipFill>
          <a:blip r:embed="rId2"/>
          <a:stretch>
            <a:fillRect/>
          </a:stretch>
        </p:blipFill>
        <p:spPr>
          <a:xfrm>
            <a:off x="393472" y="1303086"/>
            <a:ext cx="5288870" cy="2690713"/>
          </a:xfrm>
          <a:prstGeom prst="rect">
            <a:avLst/>
          </a:prstGeom>
        </p:spPr>
      </p:pic>
      <p:sp>
        <p:nvSpPr>
          <p:cNvPr id="5" name="CuadroTexto 4">
            <a:extLst>
              <a:ext uri="{FF2B5EF4-FFF2-40B4-BE49-F238E27FC236}">
                <a16:creationId xmlns:a16="http://schemas.microsoft.com/office/drawing/2014/main" id="{23E98B8D-A5FE-B6A1-F613-A694DD53DCA3}"/>
              </a:ext>
            </a:extLst>
          </p:cNvPr>
          <p:cNvSpPr txBox="1"/>
          <p:nvPr/>
        </p:nvSpPr>
        <p:spPr>
          <a:xfrm>
            <a:off x="838200" y="681037"/>
            <a:ext cx="10352314" cy="369332"/>
          </a:xfrm>
          <a:prstGeom prst="rect">
            <a:avLst/>
          </a:prstGeom>
          <a:noFill/>
        </p:spPr>
        <p:txBody>
          <a:bodyPr wrap="square">
            <a:spAutoFit/>
          </a:bodyPr>
          <a:lstStyle/>
          <a:p>
            <a:r>
              <a:rPr lang="es-MX" dirty="0"/>
              <a:t>Comprobar que los microservicios se encuentran registrados correctamente en Eureka Server.</a:t>
            </a:r>
          </a:p>
        </p:txBody>
      </p:sp>
      <p:sp>
        <p:nvSpPr>
          <p:cNvPr id="8" name="CuadroTexto 7">
            <a:extLst>
              <a:ext uri="{FF2B5EF4-FFF2-40B4-BE49-F238E27FC236}">
                <a16:creationId xmlns:a16="http://schemas.microsoft.com/office/drawing/2014/main" id="{1873EF30-7914-340B-71C4-ECEF9FFA0E9B}"/>
              </a:ext>
            </a:extLst>
          </p:cNvPr>
          <p:cNvSpPr txBox="1"/>
          <p:nvPr/>
        </p:nvSpPr>
        <p:spPr>
          <a:xfrm>
            <a:off x="5845628" y="4953822"/>
            <a:ext cx="6096000" cy="923330"/>
          </a:xfrm>
          <a:prstGeom prst="rect">
            <a:avLst/>
          </a:prstGeom>
          <a:noFill/>
        </p:spPr>
        <p:txBody>
          <a:bodyPr wrap="square">
            <a:spAutoFit/>
          </a:bodyPr>
          <a:lstStyle/>
          <a:p>
            <a:r>
              <a:rPr lang="es-MX" dirty="0"/>
              <a:t>Se verificó que los servicios se encuentran registrados correctamente en estado UP, permitiendo la comunicación entre los componentes de la arquitectura.</a:t>
            </a:r>
          </a:p>
        </p:txBody>
      </p:sp>
      <p:pic>
        <p:nvPicPr>
          <p:cNvPr id="9" name="Imagen 8">
            <a:extLst>
              <a:ext uri="{FF2B5EF4-FFF2-40B4-BE49-F238E27FC236}">
                <a16:creationId xmlns:a16="http://schemas.microsoft.com/office/drawing/2014/main" id="{412ADA4F-2B02-5D1C-7DE2-37E5F80EF3DF}"/>
              </a:ext>
            </a:extLst>
          </p:cNvPr>
          <p:cNvPicPr>
            <a:picLocks noChangeAspect="1"/>
          </p:cNvPicPr>
          <p:nvPr/>
        </p:nvPicPr>
        <p:blipFill>
          <a:blip r:embed="rId3"/>
          <a:stretch>
            <a:fillRect/>
          </a:stretch>
        </p:blipFill>
        <p:spPr>
          <a:xfrm>
            <a:off x="5845628" y="1303086"/>
            <a:ext cx="5288873" cy="2690714"/>
          </a:xfrm>
          <a:prstGeom prst="rect">
            <a:avLst/>
          </a:prstGeom>
        </p:spPr>
      </p:pic>
      <p:pic>
        <p:nvPicPr>
          <p:cNvPr id="10" name="Imagen 9">
            <a:extLst>
              <a:ext uri="{FF2B5EF4-FFF2-40B4-BE49-F238E27FC236}">
                <a16:creationId xmlns:a16="http://schemas.microsoft.com/office/drawing/2014/main" id="{3EFA0A1E-9311-083D-EEDD-3F87A7A0F146}"/>
              </a:ext>
            </a:extLst>
          </p:cNvPr>
          <p:cNvPicPr>
            <a:picLocks noChangeAspect="1"/>
          </p:cNvPicPr>
          <p:nvPr/>
        </p:nvPicPr>
        <p:blipFill>
          <a:blip r:embed="rId4"/>
          <a:stretch>
            <a:fillRect/>
          </a:stretch>
        </p:blipFill>
        <p:spPr>
          <a:xfrm>
            <a:off x="393472" y="4109745"/>
            <a:ext cx="5288870" cy="2690713"/>
          </a:xfrm>
          <a:prstGeom prst="rect">
            <a:avLst/>
          </a:prstGeom>
        </p:spPr>
      </p:pic>
    </p:spTree>
    <p:extLst>
      <p:ext uri="{BB962C8B-B14F-4D97-AF65-F5344CB8AC3E}">
        <p14:creationId xmlns:p14="http://schemas.microsoft.com/office/powerpoint/2010/main" val="2607857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A84F8C-C1E0-B8CD-ECB8-65865ECC65F1}"/>
              </a:ext>
            </a:extLst>
          </p:cNvPr>
          <p:cNvSpPr>
            <a:spLocks noGrp="1"/>
          </p:cNvSpPr>
          <p:nvPr>
            <p:ph type="title"/>
          </p:nvPr>
        </p:nvSpPr>
        <p:spPr>
          <a:xfrm>
            <a:off x="3200400" y="82097"/>
            <a:ext cx="4822371" cy="375103"/>
          </a:xfrm>
        </p:spPr>
        <p:txBody>
          <a:bodyPr>
            <a:normAutofit fontScale="90000"/>
          </a:bodyPr>
          <a:lstStyle/>
          <a:p>
            <a:r>
              <a:rPr lang="es-MX" sz="2400" dirty="0"/>
              <a:t>2. Ejecución de la Aplicación Angular</a:t>
            </a:r>
          </a:p>
        </p:txBody>
      </p:sp>
      <p:pic>
        <p:nvPicPr>
          <p:cNvPr id="6" name="Marcador de contenido 5">
            <a:extLst>
              <a:ext uri="{FF2B5EF4-FFF2-40B4-BE49-F238E27FC236}">
                <a16:creationId xmlns:a16="http://schemas.microsoft.com/office/drawing/2014/main" id="{ABE676B9-AEA4-8DA7-F18F-232FECA25D56}"/>
              </a:ext>
            </a:extLst>
          </p:cNvPr>
          <p:cNvPicPr>
            <a:picLocks noGrp="1" noChangeAspect="1"/>
          </p:cNvPicPr>
          <p:nvPr>
            <p:ph idx="1"/>
          </p:nvPr>
        </p:nvPicPr>
        <p:blipFill>
          <a:blip r:embed="rId2"/>
          <a:stretch>
            <a:fillRect/>
          </a:stretch>
        </p:blipFill>
        <p:spPr>
          <a:xfrm>
            <a:off x="111065" y="809908"/>
            <a:ext cx="6048560" cy="3077205"/>
          </a:xfrm>
          <a:prstGeom prst="rect">
            <a:avLst/>
          </a:prstGeom>
        </p:spPr>
      </p:pic>
      <p:sp>
        <p:nvSpPr>
          <p:cNvPr id="5" name="CuadroTexto 4">
            <a:extLst>
              <a:ext uri="{FF2B5EF4-FFF2-40B4-BE49-F238E27FC236}">
                <a16:creationId xmlns:a16="http://schemas.microsoft.com/office/drawing/2014/main" id="{108F5D4F-7A76-4095-AC1A-68ECCA417735}"/>
              </a:ext>
            </a:extLst>
          </p:cNvPr>
          <p:cNvSpPr txBox="1"/>
          <p:nvPr/>
        </p:nvSpPr>
        <p:spPr>
          <a:xfrm>
            <a:off x="2077486" y="440576"/>
            <a:ext cx="9657313" cy="369332"/>
          </a:xfrm>
          <a:prstGeom prst="rect">
            <a:avLst/>
          </a:prstGeom>
          <a:noFill/>
        </p:spPr>
        <p:txBody>
          <a:bodyPr wrap="square">
            <a:spAutoFit/>
          </a:bodyPr>
          <a:lstStyle/>
          <a:p>
            <a:r>
              <a:rPr lang="es-MX" dirty="0"/>
              <a:t>Verificar el correcto funcionamiento del </a:t>
            </a:r>
            <a:r>
              <a:rPr lang="es-MX" dirty="0" err="1"/>
              <a:t>frontend</a:t>
            </a:r>
            <a:r>
              <a:rPr lang="es-MX" dirty="0"/>
              <a:t> desarrollado en Angular.</a:t>
            </a:r>
          </a:p>
        </p:txBody>
      </p:sp>
      <p:pic>
        <p:nvPicPr>
          <p:cNvPr id="7" name="Imagen 6">
            <a:extLst>
              <a:ext uri="{FF2B5EF4-FFF2-40B4-BE49-F238E27FC236}">
                <a16:creationId xmlns:a16="http://schemas.microsoft.com/office/drawing/2014/main" id="{3C0BCACA-0579-624E-9C95-D964695A9960}"/>
              </a:ext>
            </a:extLst>
          </p:cNvPr>
          <p:cNvPicPr>
            <a:picLocks noChangeAspect="1"/>
          </p:cNvPicPr>
          <p:nvPr/>
        </p:nvPicPr>
        <p:blipFill>
          <a:blip r:embed="rId3"/>
          <a:stretch>
            <a:fillRect/>
          </a:stretch>
        </p:blipFill>
        <p:spPr>
          <a:xfrm>
            <a:off x="6197868" y="809907"/>
            <a:ext cx="6048560" cy="3077205"/>
          </a:xfrm>
          <a:prstGeom prst="rect">
            <a:avLst/>
          </a:prstGeom>
        </p:spPr>
      </p:pic>
      <p:sp>
        <p:nvSpPr>
          <p:cNvPr id="9" name="CuadroTexto 8">
            <a:extLst>
              <a:ext uri="{FF2B5EF4-FFF2-40B4-BE49-F238E27FC236}">
                <a16:creationId xmlns:a16="http://schemas.microsoft.com/office/drawing/2014/main" id="{4354FBE0-A2E3-30D5-2DB1-8BD5ED7A6F09}"/>
              </a:ext>
            </a:extLst>
          </p:cNvPr>
          <p:cNvSpPr txBox="1"/>
          <p:nvPr/>
        </p:nvSpPr>
        <p:spPr>
          <a:xfrm>
            <a:off x="1315625" y="4054792"/>
            <a:ext cx="9764485" cy="646331"/>
          </a:xfrm>
          <a:prstGeom prst="rect">
            <a:avLst/>
          </a:prstGeom>
          <a:noFill/>
        </p:spPr>
        <p:txBody>
          <a:bodyPr wrap="square">
            <a:spAutoFit/>
          </a:bodyPr>
          <a:lstStyle/>
          <a:p>
            <a:pPr algn="ctr"/>
            <a:r>
              <a:rPr lang="es-MX" dirty="0"/>
              <a:t>La aplicación Angular inició correctamente y quedó disponible para los usuarios mediante navegador web e incluso funcionan las herramientas de ayuda.</a:t>
            </a:r>
          </a:p>
        </p:txBody>
      </p:sp>
      <p:pic>
        <p:nvPicPr>
          <p:cNvPr id="10" name="Imagen 9">
            <a:extLst>
              <a:ext uri="{FF2B5EF4-FFF2-40B4-BE49-F238E27FC236}">
                <a16:creationId xmlns:a16="http://schemas.microsoft.com/office/drawing/2014/main" id="{C04CD336-E08C-8EAA-6D98-B65165C18ED2}"/>
              </a:ext>
            </a:extLst>
          </p:cNvPr>
          <p:cNvPicPr>
            <a:picLocks noChangeAspect="1"/>
          </p:cNvPicPr>
          <p:nvPr/>
        </p:nvPicPr>
        <p:blipFill>
          <a:blip r:embed="rId4"/>
          <a:stretch>
            <a:fillRect/>
          </a:stretch>
        </p:blipFill>
        <p:spPr>
          <a:xfrm>
            <a:off x="2458088" y="4685899"/>
            <a:ext cx="4107275" cy="2090004"/>
          </a:xfrm>
          <a:prstGeom prst="rect">
            <a:avLst/>
          </a:prstGeom>
        </p:spPr>
      </p:pic>
      <p:pic>
        <p:nvPicPr>
          <p:cNvPr id="11" name="Imagen 10">
            <a:extLst>
              <a:ext uri="{FF2B5EF4-FFF2-40B4-BE49-F238E27FC236}">
                <a16:creationId xmlns:a16="http://schemas.microsoft.com/office/drawing/2014/main" id="{F4C01EC1-6617-FD8D-19F2-AAECB6C02DF3}"/>
              </a:ext>
            </a:extLst>
          </p:cNvPr>
          <p:cNvPicPr>
            <a:picLocks noChangeAspect="1"/>
          </p:cNvPicPr>
          <p:nvPr/>
        </p:nvPicPr>
        <p:blipFill>
          <a:blip r:embed="rId5"/>
          <a:stretch>
            <a:fillRect/>
          </a:stretch>
        </p:blipFill>
        <p:spPr>
          <a:xfrm>
            <a:off x="6769099" y="4701123"/>
            <a:ext cx="4107275" cy="2090004"/>
          </a:xfrm>
          <a:prstGeom prst="rect">
            <a:avLst/>
          </a:prstGeom>
        </p:spPr>
      </p:pic>
    </p:spTree>
    <p:extLst>
      <p:ext uri="{BB962C8B-B14F-4D97-AF65-F5344CB8AC3E}">
        <p14:creationId xmlns:p14="http://schemas.microsoft.com/office/powerpoint/2010/main" val="3534758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EFE37E-ADE0-DB74-28BD-DFC599F81019}"/>
              </a:ext>
            </a:extLst>
          </p:cNvPr>
          <p:cNvSpPr>
            <a:spLocks noGrp="1"/>
          </p:cNvSpPr>
          <p:nvPr>
            <p:ph type="title"/>
          </p:nvPr>
        </p:nvSpPr>
        <p:spPr>
          <a:xfrm>
            <a:off x="838200" y="365126"/>
            <a:ext cx="2383971" cy="315912"/>
          </a:xfrm>
        </p:spPr>
        <p:txBody>
          <a:bodyPr>
            <a:normAutofit fontScale="90000"/>
          </a:bodyPr>
          <a:lstStyle/>
          <a:p>
            <a:r>
              <a:rPr lang="es-MX" sz="2000" dirty="0"/>
              <a:t>Consulta de Estudiantes</a:t>
            </a:r>
          </a:p>
        </p:txBody>
      </p:sp>
      <p:pic>
        <p:nvPicPr>
          <p:cNvPr id="6" name="Marcador de contenido 5">
            <a:extLst>
              <a:ext uri="{FF2B5EF4-FFF2-40B4-BE49-F238E27FC236}">
                <a16:creationId xmlns:a16="http://schemas.microsoft.com/office/drawing/2014/main" id="{800CCEBC-E635-0F83-37A7-2A043F7DB830}"/>
              </a:ext>
            </a:extLst>
          </p:cNvPr>
          <p:cNvPicPr>
            <a:picLocks noGrp="1" noChangeAspect="1"/>
          </p:cNvPicPr>
          <p:nvPr>
            <p:ph idx="1"/>
          </p:nvPr>
        </p:nvPicPr>
        <p:blipFill>
          <a:blip r:embed="rId2"/>
          <a:stretch>
            <a:fillRect/>
          </a:stretch>
        </p:blipFill>
        <p:spPr>
          <a:xfrm>
            <a:off x="0" y="1633690"/>
            <a:ext cx="3797528" cy="1931992"/>
          </a:xfrm>
          <a:prstGeom prst="rect">
            <a:avLst/>
          </a:prstGeom>
        </p:spPr>
      </p:pic>
      <p:sp>
        <p:nvSpPr>
          <p:cNvPr id="5" name="CuadroTexto 4">
            <a:extLst>
              <a:ext uri="{FF2B5EF4-FFF2-40B4-BE49-F238E27FC236}">
                <a16:creationId xmlns:a16="http://schemas.microsoft.com/office/drawing/2014/main" id="{1C27A102-6872-E267-EA8F-8C181E415B19}"/>
              </a:ext>
            </a:extLst>
          </p:cNvPr>
          <p:cNvSpPr txBox="1"/>
          <p:nvPr/>
        </p:nvSpPr>
        <p:spPr>
          <a:xfrm>
            <a:off x="217714" y="987359"/>
            <a:ext cx="3733800" cy="646331"/>
          </a:xfrm>
          <a:prstGeom prst="rect">
            <a:avLst/>
          </a:prstGeom>
          <a:noFill/>
        </p:spPr>
        <p:txBody>
          <a:bodyPr wrap="square">
            <a:spAutoFit/>
          </a:bodyPr>
          <a:lstStyle/>
          <a:p>
            <a:r>
              <a:rPr lang="es-MX" dirty="0"/>
              <a:t>Consumir información del microservicio de estudiantes.</a:t>
            </a:r>
          </a:p>
        </p:txBody>
      </p:sp>
      <p:pic>
        <p:nvPicPr>
          <p:cNvPr id="7" name="Imagen 6">
            <a:extLst>
              <a:ext uri="{FF2B5EF4-FFF2-40B4-BE49-F238E27FC236}">
                <a16:creationId xmlns:a16="http://schemas.microsoft.com/office/drawing/2014/main" id="{239604FE-EA6C-B2D1-3EF0-08CB15CE90FD}"/>
              </a:ext>
            </a:extLst>
          </p:cNvPr>
          <p:cNvPicPr>
            <a:picLocks noChangeAspect="1"/>
          </p:cNvPicPr>
          <p:nvPr/>
        </p:nvPicPr>
        <p:blipFill>
          <a:blip r:embed="rId3"/>
          <a:stretch>
            <a:fillRect/>
          </a:stretch>
        </p:blipFill>
        <p:spPr>
          <a:xfrm>
            <a:off x="4343399" y="1649497"/>
            <a:ext cx="3766457" cy="1916185"/>
          </a:xfrm>
          <a:prstGeom prst="rect">
            <a:avLst/>
          </a:prstGeom>
        </p:spPr>
      </p:pic>
      <p:pic>
        <p:nvPicPr>
          <p:cNvPr id="8" name="Imagen 7">
            <a:extLst>
              <a:ext uri="{FF2B5EF4-FFF2-40B4-BE49-F238E27FC236}">
                <a16:creationId xmlns:a16="http://schemas.microsoft.com/office/drawing/2014/main" id="{12AFE345-74F9-9026-6602-063698A3049B}"/>
              </a:ext>
            </a:extLst>
          </p:cNvPr>
          <p:cNvPicPr>
            <a:picLocks noChangeAspect="1"/>
          </p:cNvPicPr>
          <p:nvPr/>
        </p:nvPicPr>
        <p:blipFill>
          <a:blip r:embed="rId4"/>
          <a:stretch>
            <a:fillRect/>
          </a:stretch>
        </p:blipFill>
        <p:spPr>
          <a:xfrm>
            <a:off x="8273143" y="1633690"/>
            <a:ext cx="3799114" cy="1932799"/>
          </a:xfrm>
          <a:prstGeom prst="rect">
            <a:avLst/>
          </a:prstGeom>
        </p:spPr>
      </p:pic>
      <p:sp>
        <p:nvSpPr>
          <p:cNvPr id="9" name="Rectangle 1">
            <a:extLst>
              <a:ext uri="{FF2B5EF4-FFF2-40B4-BE49-F238E27FC236}">
                <a16:creationId xmlns:a16="http://schemas.microsoft.com/office/drawing/2014/main" id="{E907CB4D-A798-08E5-B6D0-3E2199177C05}"/>
              </a:ext>
            </a:extLst>
          </p:cNvPr>
          <p:cNvSpPr>
            <a:spLocks noChangeArrowheads="1"/>
          </p:cNvSpPr>
          <p:nvPr/>
        </p:nvSpPr>
        <p:spPr bwMode="auto">
          <a:xfrm>
            <a:off x="172585" y="5718769"/>
            <a:ext cx="362494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solidFill>
                  <a:schemeClr val="tx1"/>
                </a:solidFill>
                <a:effectLst/>
                <a:latin typeface="Arial" panose="020B0604020202020204" pitchFamily="34" charset="0"/>
              </a:rPr>
              <a:t>Se recuperó correctamente la información de los estudiantes almacenada en la base de datos.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3" name="CuadroTexto 12">
            <a:extLst>
              <a:ext uri="{FF2B5EF4-FFF2-40B4-BE49-F238E27FC236}">
                <a16:creationId xmlns:a16="http://schemas.microsoft.com/office/drawing/2014/main" id="{074492EF-D2DB-7C92-FBB4-3984B2896672}"/>
              </a:ext>
            </a:extLst>
          </p:cNvPr>
          <p:cNvSpPr txBox="1"/>
          <p:nvPr/>
        </p:nvSpPr>
        <p:spPr>
          <a:xfrm>
            <a:off x="4343398" y="987359"/>
            <a:ext cx="3211287" cy="646331"/>
          </a:xfrm>
          <a:prstGeom prst="rect">
            <a:avLst/>
          </a:prstGeom>
          <a:noFill/>
        </p:spPr>
        <p:txBody>
          <a:bodyPr wrap="square">
            <a:spAutoFit/>
          </a:bodyPr>
          <a:lstStyle/>
          <a:p>
            <a:r>
              <a:rPr lang="es-MX" dirty="0"/>
              <a:t>Consumir información del microservicio de profesores.</a:t>
            </a:r>
          </a:p>
        </p:txBody>
      </p:sp>
      <p:sp>
        <p:nvSpPr>
          <p:cNvPr id="15" name="CuadroTexto 14">
            <a:extLst>
              <a:ext uri="{FF2B5EF4-FFF2-40B4-BE49-F238E27FC236}">
                <a16:creationId xmlns:a16="http://schemas.microsoft.com/office/drawing/2014/main" id="{45245495-B270-7E14-FEB8-2695E5F7B3FB}"/>
              </a:ext>
            </a:extLst>
          </p:cNvPr>
          <p:cNvSpPr txBox="1"/>
          <p:nvPr/>
        </p:nvSpPr>
        <p:spPr>
          <a:xfrm>
            <a:off x="4076700" y="5718769"/>
            <a:ext cx="4196443" cy="1200329"/>
          </a:xfrm>
          <a:prstGeom prst="rect">
            <a:avLst/>
          </a:prstGeom>
          <a:noFill/>
        </p:spPr>
        <p:txBody>
          <a:bodyPr wrap="square">
            <a:spAutoFit/>
          </a:bodyPr>
          <a:lstStyle/>
          <a:p>
            <a:r>
              <a:rPr lang="es-MX" dirty="0"/>
              <a:t>Los datos fueron mostrados correctamente mediante peticiones realizadas al microservicio correspondiente.</a:t>
            </a:r>
          </a:p>
        </p:txBody>
      </p:sp>
      <p:sp>
        <p:nvSpPr>
          <p:cNvPr id="17" name="CuadroTexto 16">
            <a:extLst>
              <a:ext uri="{FF2B5EF4-FFF2-40B4-BE49-F238E27FC236}">
                <a16:creationId xmlns:a16="http://schemas.microsoft.com/office/drawing/2014/main" id="{5E4E7B41-E18D-186E-B54B-4411C1D29B45}"/>
              </a:ext>
            </a:extLst>
          </p:cNvPr>
          <p:cNvSpPr txBox="1"/>
          <p:nvPr/>
        </p:nvSpPr>
        <p:spPr>
          <a:xfrm>
            <a:off x="8427129" y="987358"/>
            <a:ext cx="3048000" cy="646332"/>
          </a:xfrm>
          <a:prstGeom prst="rect">
            <a:avLst/>
          </a:prstGeom>
          <a:noFill/>
        </p:spPr>
        <p:txBody>
          <a:bodyPr wrap="square">
            <a:spAutoFit/>
          </a:bodyPr>
          <a:lstStyle/>
          <a:p>
            <a:r>
              <a:rPr lang="es-MX" dirty="0"/>
              <a:t>Consumir información del microservicio de cursos.</a:t>
            </a:r>
          </a:p>
        </p:txBody>
      </p:sp>
      <p:sp>
        <p:nvSpPr>
          <p:cNvPr id="19" name="CuadroTexto 18">
            <a:extLst>
              <a:ext uri="{FF2B5EF4-FFF2-40B4-BE49-F238E27FC236}">
                <a16:creationId xmlns:a16="http://schemas.microsoft.com/office/drawing/2014/main" id="{93910773-BDD0-F49F-66C5-A896B3AD3BA5}"/>
              </a:ext>
            </a:extLst>
          </p:cNvPr>
          <p:cNvSpPr txBox="1"/>
          <p:nvPr/>
        </p:nvSpPr>
        <p:spPr>
          <a:xfrm>
            <a:off x="8552315" y="5718769"/>
            <a:ext cx="3519942" cy="923330"/>
          </a:xfrm>
          <a:prstGeom prst="rect">
            <a:avLst/>
          </a:prstGeom>
          <a:noFill/>
        </p:spPr>
        <p:txBody>
          <a:bodyPr wrap="square">
            <a:spAutoFit/>
          </a:bodyPr>
          <a:lstStyle/>
          <a:p>
            <a:r>
              <a:rPr lang="es-MX" dirty="0"/>
              <a:t>La aplicación mostró correctamente la información de los cursos registrados.</a:t>
            </a:r>
          </a:p>
        </p:txBody>
      </p:sp>
      <p:pic>
        <p:nvPicPr>
          <p:cNvPr id="20" name="Imagen 19">
            <a:extLst>
              <a:ext uri="{FF2B5EF4-FFF2-40B4-BE49-F238E27FC236}">
                <a16:creationId xmlns:a16="http://schemas.microsoft.com/office/drawing/2014/main" id="{CCEB3FE8-93DF-803A-FFB2-4BC61179D1F0}"/>
              </a:ext>
            </a:extLst>
          </p:cNvPr>
          <p:cNvPicPr>
            <a:picLocks noChangeAspect="1"/>
          </p:cNvPicPr>
          <p:nvPr/>
        </p:nvPicPr>
        <p:blipFill>
          <a:blip r:embed="rId5"/>
          <a:stretch>
            <a:fillRect/>
          </a:stretch>
        </p:blipFill>
        <p:spPr>
          <a:xfrm>
            <a:off x="8273143" y="3595751"/>
            <a:ext cx="4042309" cy="2056946"/>
          </a:xfrm>
          <a:prstGeom prst="rect">
            <a:avLst/>
          </a:prstGeom>
        </p:spPr>
      </p:pic>
      <p:pic>
        <p:nvPicPr>
          <p:cNvPr id="21" name="Imagen 20">
            <a:extLst>
              <a:ext uri="{FF2B5EF4-FFF2-40B4-BE49-F238E27FC236}">
                <a16:creationId xmlns:a16="http://schemas.microsoft.com/office/drawing/2014/main" id="{18230204-F95C-3F94-0A02-D6D8A5A6EF02}"/>
              </a:ext>
            </a:extLst>
          </p:cNvPr>
          <p:cNvPicPr>
            <a:picLocks noChangeAspect="1"/>
          </p:cNvPicPr>
          <p:nvPr/>
        </p:nvPicPr>
        <p:blipFill>
          <a:blip r:embed="rId6"/>
          <a:stretch>
            <a:fillRect/>
          </a:stretch>
        </p:blipFill>
        <p:spPr>
          <a:xfrm>
            <a:off x="4362094" y="3801024"/>
            <a:ext cx="3638907" cy="1851673"/>
          </a:xfrm>
          <a:prstGeom prst="rect">
            <a:avLst/>
          </a:prstGeom>
        </p:spPr>
      </p:pic>
      <p:pic>
        <p:nvPicPr>
          <p:cNvPr id="22" name="Imagen 21">
            <a:extLst>
              <a:ext uri="{FF2B5EF4-FFF2-40B4-BE49-F238E27FC236}">
                <a16:creationId xmlns:a16="http://schemas.microsoft.com/office/drawing/2014/main" id="{C010A743-74D2-9063-5F68-1409A2DC7E36}"/>
              </a:ext>
            </a:extLst>
          </p:cNvPr>
          <p:cNvPicPr>
            <a:picLocks noChangeAspect="1"/>
          </p:cNvPicPr>
          <p:nvPr/>
        </p:nvPicPr>
        <p:blipFill>
          <a:blip r:embed="rId7"/>
          <a:stretch>
            <a:fillRect/>
          </a:stretch>
        </p:blipFill>
        <p:spPr>
          <a:xfrm>
            <a:off x="119743" y="3799465"/>
            <a:ext cx="3796749" cy="1931992"/>
          </a:xfrm>
          <a:prstGeom prst="rect">
            <a:avLst/>
          </a:prstGeom>
        </p:spPr>
      </p:pic>
      <p:sp>
        <p:nvSpPr>
          <p:cNvPr id="23" name="Título 1">
            <a:extLst>
              <a:ext uri="{FF2B5EF4-FFF2-40B4-BE49-F238E27FC236}">
                <a16:creationId xmlns:a16="http://schemas.microsoft.com/office/drawing/2014/main" id="{C504D0A6-BCEC-0E11-AF22-778BCC3B7FC2}"/>
              </a:ext>
            </a:extLst>
          </p:cNvPr>
          <p:cNvSpPr txBox="1">
            <a:spLocks/>
          </p:cNvSpPr>
          <p:nvPr/>
        </p:nvSpPr>
        <p:spPr>
          <a:xfrm>
            <a:off x="4557996" y="359570"/>
            <a:ext cx="2383971" cy="31591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t>Consulta de Profesores</a:t>
            </a:r>
          </a:p>
        </p:txBody>
      </p:sp>
      <p:sp>
        <p:nvSpPr>
          <p:cNvPr id="24" name="Título 1">
            <a:extLst>
              <a:ext uri="{FF2B5EF4-FFF2-40B4-BE49-F238E27FC236}">
                <a16:creationId xmlns:a16="http://schemas.microsoft.com/office/drawing/2014/main" id="{1FF1401F-C206-F51C-AB03-C195C277AC92}"/>
              </a:ext>
            </a:extLst>
          </p:cNvPr>
          <p:cNvSpPr txBox="1">
            <a:spLocks/>
          </p:cNvSpPr>
          <p:nvPr/>
        </p:nvSpPr>
        <p:spPr>
          <a:xfrm>
            <a:off x="8277792" y="201614"/>
            <a:ext cx="2383971" cy="31591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t>Consulta de cursos</a:t>
            </a:r>
          </a:p>
        </p:txBody>
      </p:sp>
    </p:spTree>
    <p:extLst>
      <p:ext uri="{BB962C8B-B14F-4D97-AF65-F5344CB8AC3E}">
        <p14:creationId xmlns:p14="http://schemas.microsoft.com/office/powerpoint/2010/main" val="39956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FACA6E-5C6F-B7D8-8CEB-9E93F2BC8307}"/>
              </a:ext>
            </a:extLst>
          </p:cNvPr>
          <p:cNvSpPr>
            <a:spLocks noGrp="1"/>
          </p:cNvSpPr>
          <p:nvPr>
            <p:ph type="title"/>
          </p:nvPr>
        </p:nvSpPr>
        <p:spPr/>
        <p:txBody>
          <a:bodyPr/>
          <a:lstStyle/>
          <a:p>
            <a:r>
              <a:rPr lang="es-MX" dirty="0"/>
              <a:t>Validación de Integración Angular – Spring </a:t>
            </a:r>
            <a:r>
              <a:rPr lang="es-MX" dirty="0" err="1"/>
              <a:t>Boot</a:t>
            </a:r>
            <a:r>
              <a:rPr lang="es-MX" dirty="0"/>
              <a:t> – MySQL</a:t>
            </a:r>
          </a:p>
        </p:txBody>
      </p:sp>
      <p:pic>
        <p:nvPicPr>
          <p:cNvPr id="4" name="Marcador de contenido 3">
            <a:extLst>
              <a:ext uri="{FF2B5EF4-FFF2-40B4-BE49-F238E27FC236}">
                <a16:creationId xmlns:a16="http://schemas.microsoft.com/office/drawing/2014/main" id="{8DEA707B-8557-0E5E-0F1C-455C189504AF}"/>
              </a:ext>
            </a:extLst>
          </p:cNvPr>
          <p:cNvPicPr>
            <a:picLocks noGrp="1" noChangeAspect="1"/>
          </p:cNvPicPr>
          <p:nvPr>
            <p:ph idx="1"/>
          </p:nvPr>
        </p:nvPicPr>
        <p:blipFill>
          <a:blip r:embed="rId2"/>
          <a:stretch>
            <a:fillRect/>
          </a:stretch>
        </p:blipFill>
        <p:spPr>
          <a:xfrm>
            <a:off x="174563" y="1707521"/>
            <a:ext cx="3624942" cy="1844190"/>
          </a:xfrm>
          <a:prstGeom prst="rect">
            <a:avLst/>
          </a:prstGeom>
        </p:spPr>
      </p:pic>
      <p:pic>
        <p:nvPicPr>
          <p:cNvPr id="5" name="Imagen 4">
            <a:extLst>
              <a:ext uri="{FF2B5EF4-FFF2-40B4-BE49-F238E27FC236}">
                <a16:creationId xmlns:a16="http://schemas.microsoft.com/office/drawing/2014/main" id="{885737A4-2D1D-5725-A0D0-8CE5F3B1A4E7}"/>
              </a:ext>
            </a:extLst>
          </p:cNvPr>
          <p:cNvPicPr>
            <a:picLocks noChangeAspect="1"/>
          </p:cNvPicPr>
          <p:nvPr/>
        </p:nvPicPr>
        <p:blipFill>
          <a:blip r:embed="rId3"/>
          <a:stretch>
            <a:fillRect/>
          </a:stretch>
        </p:blipFill>
        <p:spPr>
          <a:xfrm>
            <a:off x="3926927" y="1767948"/>
            <a:ext cx="3821667" cy="1944273"/>
          </a:xfrm>
          <a:prstGeom prst="rect">
            <a:avLst/>
          </a:prstGeom>
        </p:spPr>
      </p:pic>
      <p:pic>
        <p:nvPicPr>
          <p:cNvPr id="7" name="Imagen 6">
            <a:extLst>
              <a:ext uri="{FF2B5EF4-FFF2-40B4-BE49-F238E27FC236}">
                <a16:creationId xmlns:a16="http://schemas.microsoft.com/office/drawing/2014/main" id="{49A25BA2-9505-C8E1-1829-1ABE7767E339}"/>
              </a:ext>
            </a:extLst>
          </p:cNvPr>
          <p:cNvPicPr>
            <a:picLocks noChangeAspect="1"/>
          </p:cNvPicPr>
          <p:nvPr/>
        </p:nvPicPr>
        <p:blipFill>
          <a:blip r:embed="rId4"/>
          <a:stretch>
            <a:fillRect/>
          </a:stretch>
        </p:blipFill>
        <p:spPr>
          <a:xfrm>
            <a:off x="8019954" y="4000299"/>
            <a:ext cx="3633792" cy="1849070"/>
          </a:xfrm>
          <a:prstGeom prst="rect">
            <a:avLst/>
          </a:prstGeom>
        </p:spPr>
      </p:pic>
      <p:pic>
        <p:nvPicPr>
          <p:cNvPr id="8" name="Imagen 7">
            <a:extLst>
              <a:ext uri="{FF2B5EF4-FFF2-40B4-BE49-F238E27FC236}">
                <a16:creationId xmlns:a16="http://schemas.microsoft.com/office/drawing/2014/main" id="{C5E12A5B-B492-ED0C-A8D5-74894574DED6}"/>
              </a:ext>
            </a:extLst>
          </p:cNvPr>
          <p:cNvPicPr>
            <a:picLocks noChangeAspect="1"/>
          </p:cNvPicPr>
          <p:nvPr/>
        </p:nvPicPr>
        <p:blipFill>
          <a:blip r:embed="rId5"/>
          <a:stretch>
            <a:fillRect/>
          </a:stretch>
        </p:blipFill>
        <p:spPr>
          <a:xfrm>
            <a:off x="3899477" y="3905095"/>
            <a:ext cx="3820886" cy="1944274"/>
          </a:xfrm>
          <a:prstGeom prst="rect">
            <a:avLst/>
          </a:prstGeom>
        </p:spPr>
      </p:pic>
      <p:pic>
        <p:nvPicPr>
          <p:cNvPr id="9" name="Imagen 8">
            <a:extLst>
              <a:ext uri="{FF2B5EF4-FFF2-40B4-BE49-F238E27FC236}">
                <a16:creationId xmlns:a16="http://schemas.microsoft.com/office/drawing/2014/main" id="{D668AE21-EB05-B2BC-A9BB-FD1458A59CB9}"/>
              </a:ext>
            </a:extLst>
          </p:cNvPr>
          <p:cNvPicPr>
            <a:picLocks noChangeAspect="1"/>
          </p:cNvPicPr>
          <p:nvPr/>
        </p:nvPicPr>
        <p:blipFill>
          <a:blip r:embed="rId6"/>
          <a:stretch>
            <a:fillRect/>
          </a:stretch>
        </p:blipFill>
        <p:spPr>
          <a:xfrm>
            <a:off x="127814" y="3709216"/>
            <a:ext cx="3527753" cy="2204618"/>
          </a:xfrm>
          <a:prstGeom prst="rect">
            <a:avLst/>
          </a:prstGeom>
        </p:spPr>
      </p:pic>
      <p:pic>
        <p:nvPicPr>
          <p:cNvPr id="10" name="Imagen 9">
            <a:extLst>
              <a:ext uri="{FF2B5EF4-FFF2-40B4-BE49-F238E27FC236}">
                <a16:creationId xmlns:a16="http://schemas.microsoft.com/office/drawing/2014/main" id="{17DD2928-4E84-7A14-9843-8262D7DE993C}"/>
              </a:ext>
            </a:extLst>
          </p:cNvPr>
          <p:cNvPicPr>
            <a:picLocks noChangeAspect="1"/>
          </p:cNvPicPr>
          <p:nvPr/>
        </p:nvPicPr>
        <p:blipFill>
          <a:blip r:embed="rId7"/>
          <a:stretch>
            <a:fillRect/>
          </a:stretch>
        </p:blipFill>
        <p:spPr>
          <a:xfrm>
            <a:off x="8019954" y="1784095"/>
            <a:ext cx="3820888" cy="1944275"/>
          </a:xfrm>
          <a:prstGeom prst="rect">
            <a:avLst/>
          </a:prstGeom>
        </p:spPr>
      </p:pic>
      <p:sp>
        <p:nvSpPr>
          <p:cNvPr id="12" name="CuadroTexto 11">
            <a:extLst>
              <a:ext uri="{FF2B5EF4-FFF2-40B4-BE49-F238E27FC236}">
                <a16:creationId xmlns:a16="http://schemas.microsoft.com/office/drawing/2014/main" id="{03DC2ADA-C527-8B25-0153-6501F3227B9D}"/>
              </a:ext>
            </a:extLst>
          </p:cNvPr>
          <p:cNvSpPr txBox="1"/>
          <p:nvPr/>
        </p:nvSpPr>
        <p:spPr>
          <a:xfrm>
            <a:off x="1987034" y="6106708"/>
            <a:ext cx="8896866" cy="646331"/>
          </a:xfrm>
          <a:prstGeom prst="rect">
            <a:avLst/>
          </a:prstGeom>
          <a:noFill/>
        </p:spPr>
        <p:txBody>
          <a:bodyPr wrap="square">
            <a:spAutoFit/>
          </a:bodyPr>
          <a:lstStyle/>
          <a:p>
            <a:r>
              <a:rPr lang="es-MX" dirty="0"/>
              <a:t>Se comprobó la correcta comunicación entre Angular, los microservicios desarrollados en Spring </a:t>
            </a:r>
            <a:r>
              <a:rPr lang="es-MX" dirty="0" err="1"/>
              <a:t>Boot</a:t>
            </a:r>
            <a:r>
              <a:rPr lang="es-MX" dirty="0"/>
              <a:t> y la base de datos MySQL.</a:t>
            </a:r>
          </a:p>
        </p:txBody>
      </p:sp>
    </p:spTree>
    <p:extLst>
      <p:ext uri="{BB962C8B-B14F-4D97-AF65-F5344CB8AC3E}">
        <p14:creationId xmlns:p14="http://schemas.microsoft.com/office/powerpoint/2010/main" val="670835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E39E16-494C-970F-92D6-C4162779EDBF}"/>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0D5B321A-CB3C-F9E6-49CA-B453770C2E62}"/>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Los ejercicios realizados permitieron verificar el correcto funcionamiento de una arquitectura basada en microservicios consumidos mediante Angular. Se comprobó la comunicación entre </a:t>
            </a:r>
            <a:r>
              <a:rPr lang="es-MX" sz="2000" dirty="0" err="1">
                <a:latin typeface="Arial" panose="020B0604020202020204" pitchFamily="34" charset="0"/>
                <a:cs typeface="Arial" panose="020B0604020202020204" pitchFamily="34" charset="0"/>
              </a:rPr>
              <a:t>frontend</a:t>
            </a:r>
            <a:r>
              <a:rPr lang="es-MX" sz="2000" dirty="0">
                <a:latin typeface="Arial" panose="020B0604020202020204" pitchFamily="34" charset="0"/>
                <a:cs typeface="Arial" panose="020B0604020202020204" pitchFamily="34" charset="0"/>
              </a:rPr>
              <a:t> y </a:t>
            </a:r>
            <a:r>
              <a:rPr lang="es-MX" sz="2000" dirty="0" err="1">
                <a:latin typeface="Arial" panose="020B0604020202020204" pitchFamily="34" charset="0"/>
                <a:cs typeface="Arial" panose="020B0604020202020204" pitchFamily="34" charset="0"/>
              </a:rPr>
              <a:t>backend</a:t>
            </a:r>
            <a:r>
              <a:rPr lang="es-MX" sz="2000" dirty="0">
                <a:latin typeface="Arial" panose="020B0604020202020204" pitchFamily="34" charset="0"/>
                <a:cs typeface="Arial" panose="020B0604020202020204" pitchFamily="34" charset="0"/>
              </a:rPr>
              <a:t> utilizando servicios REST, así como la persistencia de los datos en MySQL. Los resultados obtenidos demuestran que la integración entre Angular,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y Eureka Server se realizó exitosamente, permitiendo administrar información de estudiantes, profesores y cursos de manera eficiente.</a:t>
            </a:r>
          </a:p>
        </p:txBody>
      </p:sp>
    </p:spTree>
    <p:extLst>
      <p:ext uri="{BB962C8B-B14F-4D97-AF65-F5344CB8AC3E}">
        <p14:creationId xmlns:p14="http://schemas.microsoft.com/office/powerpoint/2010/main" val="13740049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TotalTime>
  <Words>491</Words>
  <Application>Microsoft Office PowerPoint</Application>
  <PresentationFormat>Panorámica</PresentationFormat>
  <Paragraphs>46</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Aptos Display</vt:lpstr>
      <vt:lpstr>Arial</vt:lpstr>
      <vt:lpstr>Century Gothic</vt:lpstr>
      <vt:lpstr>Tema de Office</vt:lpstr>
      <vt:lpstr>Presentación de PowerPoint</vt:lpstr>
      <vt:lpstr>Introducción </vt:lpstr>
      <vt:lpstr>Justificación </vt:lpstr>
      <vt:lpstr>1. Verificación de Microservicios Registrados</vt:lpstr>
      <vt:lpstr>2. Ejecución de la Aplicación Angular</vt:lpstr>
      <vt:lpstr>Consulta de Estudiantes</vt:lpstr>
      <vt:lpstr>Validación de Integración Angular – Spring Boot – MySQL</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1</cp:revision>
  <dcterms:created xsi:type="dcterms:W3CDTF">2026-06-12T09:06:22Z</dcterms:created>
  <dcterms:modified xsi:type="dcterms:W3CDTF">2026-06-12T13:05:37Z</dcterms:modified>
</cp:coreProperties>
</file>