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E8ED"/>
    <a:srgbClr val="FEFEF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BDE9CC-05F9-DCEB-1136-C10F430C73C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F8BF038-E9FE-26CB-A9AE-0CED4EC7A6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FC9B2CC8-47A3-D7D3-C5F9-4316BE9B69B2}"/>
              </a:ext>
            </a:extLst>
          </p:cNvPr>
          <p:cNvSpPr>
            <a:spLocks noGrp="1"/>
          </p:cNvSpPr>
          <p:nvPr>
            <p:ph type="dt" sz="half" idx="10"/>
          </p:nvPr>
        </p:nvSpPr>
        <p:spPr/>
        <p:txBody>
          <a:bodyPr/>
          <a:lstStyle/>
          <a:p>
            <a:fld id="{709F4AFB-E5ED-4A9C-92F5-399014BDBDF8}" type="datetimeFigureOut">
              <a:rPr lang="es-MX" smtClean="0"/>
              <a:t>12/06/2026</a:t>
            </a:fld>
            <a:endParaRPr lang="es-MX"/>
          </a:p>
        </p:txBody>
      </p:sp>
      <p:sp>
        <p:nvSpPr>
          <p:cNvPr id="5" name="Marcador de pie de página 4">
            <a:extLst>
              <a:ext uri="{FF2B5EF4-FFF2-40B4-BE49-F238E27FC236}">
                <a16:creationId xmlns:a16="http://schemas.microsoft.com/office/drawing/2014/main" id="{28A647F9-45A9-9216-2CCF-13007514263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391CF47-A711-3A16-91AE-1B6B0B37EEA2}"/>
              </a:ext>
            </a:extLst>
          </p:cNvPr>
          <p:cNvSpPr>
            <a:spLocks noGrp="1"/>
          </p:cNvSpPr>
          <p:nvPr>
            <p:ph type="sldNum" sz="quarter" idx="12"/>
          </p:nvPr>
        </p:nvSpPr>
        <p:spPr/>
        <p:txBody>
          <a:bodyPr/>
          <a:lstStyle/>
          <a:p>
            <a:fld id="{049C8138-8455-45E7-86C8-86F5C4AD9971}" type="slidenum">
              <a:rPr lang="es-MX" smtClean="0"/>
              <a:t>‹Nº›</a:t>
            </a:fld>
            <a:endParaRPr lang="es-MX"/>
          </a:p>
        </p:txBody>
      </p:sp>
    </p:spTree>
    <p:extLst>
      <p:ext uri="{BB962C8B-B14F-4D97-AF65-F5344CB8AC3E}">
        <p14:creationId xmlns:p14="http://schemas.microsoft.com/office/powerpoint/2010/main" val="834273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6BAD8D-B02F-C91B-7D27-FBC960EADAA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494FA5F-1FC5-9C16-41AA-E5F83795DE4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ACB78A1-6807-D3EB-1395-25AC3C903EE8}"/>
              </a:ext>
            </a:extLst>
          </p:cNvPr>
          <p:cNvSpPr>
            <a:spLocks noGrp="1"/>
          </p:cNvSpPr>
          <p:nvPr>
            <p:ph type="dt" sz="half" idx="10"/>
          </p:nvPr>
        </p:nvSpPr>
        <p:spPr/>
        <p:txBody>
          <a:bodyPr/>
          <a:lstStyle/>
          <a:p>
            <a:fld id="{709F4AFB-E5ED-4A9C-92F5-399014BDBDF8}" type="datetimeFigureOut">
              <a:rPr lang="es-MX" smtClean="0"/>
              <a:t>12/06/2026</a:t>
            </a:fld>
            <a:endParaRPr lang="es-MX"/>
          </a:p>
        </p:txBody>
      </p:sp>
      <p:sp>
        <p:nvSpPr>
          <p:cNvPr id="5" name="Marcador de pie de página 4">
            <a:extLst>
              <a:ext uri="{FF2B5EF4-FFF2-40B4-BE49-F238E27FC236}">
                <a16:creationId xmlns:a16="http://schemas.microsoft.com/office/drawing/2014/main" id="{75F267CD-8CCE-F3F1-11AE-21473D71D1F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010C5DB-AB3E-9880-C30B-C1F0205D7476}"/>
              </a:ext>
            </a:extLst>
          </p:cNvPr>
          <p:cNvSpPr>
            <a:spLocks noGrp="1"/>
          </p:cNvSpPr>
          <p:nvPr>
            <p:ph type="sldNum" sz="quarter" idx="12"/>
          </p:nvPr>
        </p:nvSpPr>
        <p:spPr/>
        <p:txBody>
          <a:bodyPr/>
          <a:lstStyle/>
          <a:p>
            <a:fld id="{049C8138-8455-45E7-86C8-86F5C4AD9971}" type="slidenum">
              <a:rPr lang="es-MX" smtClean="0"/>
              <a:t>‹Nº›</a:t>
            </a:fld>
            <a:endParaRPr lang="es-MX"/>
          </a:p>
        </p:txBody>
      </p:sp>
    </p:spTree>
    <p:extLst>
      <p:ext uri="{BB962C8B-B14F-4D97-AF65-F5344CB8AC3E}">
        <p14:creationId xmlns:p14="http://schemas.microsoft.com/office/powerpoint/2010/main" val="384849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0CE349-7D5E-44DD-325A-864B115DD60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403EC66-CC54-1C6D-E1C2-4E428A715F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98F3925-DCB6-6CA4-98EE-7ABE4F10DB31}"/>
              </a:ext>
            </a:extLst>
          </p:cNvPr>
          <p:cNvSpPr>
            <a:spLocks noGrp="1"/>
          </p:cNvSpPr>
          <p:nvPr>
            <p:ph type="dt" sz="half" idx="10"/>
          </p:nvPr>
        </p:nvSpPr>
        <p:spPr/>
        <p:txBody>
          <a:bodyPr/>
          <a:lstStyle/>
          <a:p>
            <a:fld id="{709F4AFB-E5ED-4A9C-92F5-399014BDBDF8}" type="datetimeFigureOut">
              <a:rPr lang="es-MX" smtClean="0"/>
              <a:t>12/06/2026</a:t>
            </a:fld>
            <a:endParaRPr lang="es-MX"/>
          </a:p>
        </p:txBody>
      </p:sp>
      <p:sp>
        <p:nvSpPr>
          <p:cNvPr id="5" name="Marcador de pie de página 4">
            <a:extLst>
              <a:ext uri="{FF2B5EF4-FFF2-40B4-BE49-F238E27FC236}">
                <a16:creationId xmlns:a16="http://schemas.microsoft.com/office/drawing/2014/main" id="{35523DE8-68C9-CA42-241C-B908C8F024E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71CFF4-9FA9-CAF3-E35B-13C8B4AC9296}"/>
              </a:ext>
            </a:extLst>
          </p:cNvPr>
          <p:cNvSpPr>
            <a:spLocks noGrp="1"/>
          </p:cNvSpPr>
          <p:nvPr>
            <p:ph type="sldNum" sz="quarter" idx="12"/>
          </p:nvPr>
        </p:nvSpPr>
        <p:spPr/>
        <p:txBody>
          <a:bodyPr/>
          <a:lstStyle/>
          <a:p>
            <a:fld id="{049C8138-8455-45E7-86C8-86F5C4AD9971}" type="slidenum">
              <a:rPr lang="es-MX" smtClean="0"/>
              <a:t>‹Nº›</a:t>
            </a:fld>
            <a:endParaRPr lang="es-MX"/>
          </a:p>
        </p:txBody>
      </p:sp>
    </p:spTree>
    <p:extLst>
      <p:ext uri="{BB962C8B-B14F-4D97-AF65-F5344CB8AC3E}">
        <p14:creationId xmlns:p14="http://schemas.microsoft.com/office/powerpoint/2010/main" val="4068297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4553CB-C529-5CD1-B0A4-4C5C2448E41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83907D1-9C43-238E-F522-A4E57D1FEC0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F110009B-189C-905E-A2CE-D626E83ADFF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59225FD-5EA6-C31D-6023-2DC0C5C98CA1}"/>
              </a:ext>
            </a:extLst>
          </p:cNvPr>
          <p:cNvSpPr>
            <a:spLocks noGrp="1"/>
          </p:cNvSpPr>
          <p:nvPr>
            <p:ph type="dt" sz="half" idx="10"/>
          </p:nvPr>
        </p:nvSpPr>
        <p:spPr/>
        <p:txBody>
          <a:bodyPr/>
          <a:lstStyle/>
          <a:p>
            <a:fld id="{709F4AFB-E5ED-4A9C-92F5-399014BDBDF8}" type="datetimeFigureOut">
              <a:rPr lang="es-MX" smtClean="0"/>
              <a:t>12/06/2026</a:t>
            </a:fld>
            <a:endParaRPr lang="es-MX"/>
          </a:p>
        </p:txBody>
      </p:sp>
      <p:sp>
        <p:nvSpPr>
          <p:cNvPr id="6" name="Marcador de pie de página 5">
            <a:extLst>
              <a:ext uri="{FF2B5EF4-FFF2-40B4-BE49-F238E27FC236}">
                <a16:creationId xmlns:a16="http://schemas.microsoft.com/office/drawing/2014/main" id="{F8DEC07B-2141-C4C1-9F35-FC4747BD4A5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8E8DCD8-3AFC-1B53-7C91-8BFB09E3222E}"/>
              </a:ext>
            </a:extLst>
          </p:cNvPr>
          <p:cNvSpPr>
            <a:spLocks noGrp="1"/>
          </p:cNvSpPr>
          <p:nvPr>
            <p:ph type="sldNum" sz="quarter" idx="12"/>
          </p:nvPr>
        </p:nvSpPr>
        <p:spPr/>
        <p:txBody>
          <a:bodyPr/>
          <a:lstStyle/>
          <a:p>
            <a:fld id="{049C8138-8455-45E7-86C8-86F5C4AD9971}" type="slidenum">
              <a:rPr lang="es-MX" smtClean="0"/>
              <a:t>‹Nº›</a:t>
            </a:fld>
            <a:endParaRPr lang="es-MX"/>
          </a:p>
        </p:txBody>
      </p:sp>
    </p:spTree>
    <p:extLst>
      <p:ext uri="{BB962C8B-B14F-4D97-AF65-F5344CB8AC3E}">
        <p14:creationId xmlns:p14="http://schemas.microsoft.com/office/powerpoint/2010/main" val="194990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93444B-7A7D-7B75-4BCD-343E2FC89C2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23C8E23-4790-17BF-54D4-56D7D9D9E5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CE5C254-FBDA-E9F7-4EBF-403D61A5816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47FB836C-0421-6D2E-BCC3-A4BFD15474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214EADD-B2D2-E76A-EE47-56B1CF868C5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BC95EEF4-78A3-B48A-80A1-2C9217AC5E6E}"/>
              </a:ext>
            </a:extLst>
          </p:cNvPr>
          <p:cNvSpPr>
            <a:spLocks noGrp="1"/>
          </p:cNvSpPr>
          <p:nvPr>
            <p:ph type="dt" sz="half" idx="10"/>
          </p:nvPr>
        </p:nvSpPr>
        <p:spPr/>
        <p:txBody>
          <a:bodyPr/>
          <a:lstStyle/>
          <a:p>
            <a:fld id="{709F4AFB-E5ED-4A9C-92F5-399014BDBDF8}" type="datetimeFigureOut">
              <a:rPr lang="es-MX" smtClean="0"/>
              <a:t>12/06/2026</a:t>
            </a:fld>
            <a:endParaRPr lang="es-MX"/>
          </a:p>
        </p:txBody>
      </p:sp>
      <p:sp>
        <p:nvSpPr>
          <p:cNvPr id="8" name="Marcador de pie de página 7">
            <a:extLst>
              <a:ext uri="{FF2B5EF4-FFF2-40B4-BE49-F238E27FC236}">
                <a16:creationId xmlns:a16="http://schemas.microsoft.com/office/drawing/2014/main" id="{C784B62B-B662-451B-AF98-FDBAC76F312B}"/>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62988999-B0CC-BE77-5B2A-FCE2F080E66D}"/>
              </a:ext>
            </a:extLst>
          </p:cNvPr>
          <p:cNvSpPr>
            <a:spLocks noGrp="1"/>
          </p:cNvSpPr>
          <p:nvPr>
            <p:ph type="sldNum" sz="quarter" idx="12"/>
          </p:nvPr>
        </p:nvSpPr>
        <p:spPr/>
        <p:txBody>
          <a:bodyPr/>
          <a:lstStyle/>
          <a:p>
            <a:fld id="{049C8138-8455-45E7-86C8-86F5C4AD9971}" type="slidenum">
              <a:rPr lang="es-MX" smtClean="0"/>
              <a:t>‹Nº›</a:t>
            </a:fld>
            <a:endParaRPr lang="es-MX"/>
          </a:p>
        </p:txBody>
      </p:sp>
    </p:spTree>
    <p:extLst>
      <p:ext uri="{BB962C8B-B14F-4D97-AF65-F5344CB8AC3E}">
        <p14:creationId xmlns:p14="http://schemas.microsoft.com/office/powerpoint/2010/main" val="2066783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DA592B-E09F-8FDC-24D8-E2B1089989D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2D403A05-BFAD-CE7B-EBA7-4BA723600E06}"/>
              </a:ext>
            </a:extLst>
          </p:cNvPr>
          <p:cNvSpPr>
            <a:spLocks noGrp="1"/>
          </p:cNvSpPr>
          <p:nvPr>
            <p:ph type="dt" sz="half" idx="10"/>
          </p:nvPr>
        </p:nvSpPr>
        <p:spPr/>
        <p:txBody>
          <a:bodyPr/>
          <a:lstStyle/>
          <a:p>
            <a:fld id="{709F4AFB-E5ED-4A9C-92F5-399014BDBDF8}" type="datetimeFigureOut">
              <a:rPr lang="es-MX" smtClean="0"/>
              <a:t>12/06/2026</a:t>
            </a:fld>
            <a:endParaRPr lang="es-MX"/>
          </a:p>
        </p:txBody>
      </p:sp>
      <p:sp>
        <p:nvSpPr>
          <p:cNvPr id="4" name="Marcador de pie de página 3">
            <a:extLst>
              <a:ext uri="{FF2B5EF4-FFF2-40B4-BE49-F238E27FC236}">
                <a16:creationId xmlns:a16="http://schemas.microsoft.com/office/drawing/2014/main" id="{58BCA79C-A4D0-0A4A-9A15-D1B4E831725C}"/>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E2130CA6-6BD4-B710-9762-F1FE889D40E8}"/>
              </a:ext>
            </a:extLst>
          </p:cNvPr>
          <p:cNvSpPr>
            <a:spLocks noGrp="1"/>
          </p:cNvSpPr>
          <p:nvPr>
            <p:ph type="sldNum" sz="quarter" idx="12"/>
          </p:nvPr>
        </p:nvSpPr>
        <p:spPr/>
        <p:txBody>
          <a:bodyPr/>
          <a:lstStyle/>
          <a:p>
            <a:fld id="{049C8138-8455-45E7-86C8-86F5C4AD9971}" type="slidenum">
              <a:rPr lang="es-MX" smtClean="0"/>
              <a:t>‹Nº›</a:t>
            </a:fld>
            <a:endParaRPr lang="es-MX"/>
          </a:p>
        </p:txBody>
      </p:sp>
    </p:spTree>
    <p:extLst>
      <p:ext uri="{BB962C8B-B14F-4D97-AF65-F5344CB8AC3E}">
        <p14:creationId xmlns:p14="http://schemas.microsoft.com/office/powerpoint/2010/main" val="2754167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4517136-7380-6D4A-1C98-5CDD5107BE9A}"/>
              </a:ext>
            </a:extLst>
          </p:cNvPr>
          <p:cNvSpPr>
            <a:spLocks noGrp="1"/>
          </p:cNvSpPr>
          <p:nvPr>
            <p:ph type="dt" sz="half" idx="10"/>
          </p:nvPr>
        </p:nvSpPr>
        <p:spPr/>
        <p:txBody>
          <a:bodyPr/>
          <a:lstStyle/>
          <a:p>
            <a:fld id="{709F4AFB-E5ED-4A9C-92F5-399014BDBDF8}" type="datetimeFigureOut">
              <a:rPr lang="es-MX" smtClean="0"/>
              <a:t>12/06/2026</a:t>
            </a:fld>
            <a:endParaRPr lang="es-MX"/>
          </a:p>
        </p:txBody>
      </p:sp>
      <p:sp>
        <p:nvSpPr>
          <p:cNvPr id="3" name="Marcador de pie de página 2">
            <a:extLst>
              <a:ext uri="{FF2B5EF4-FFF2-40B4-BE49-F238E27FC236}">
                <a16:creationId xmlns:a16="http://schemas.microsoft.com/office/drawing/2014/main" id="{8A0088FB-4910-B211-E82A-D3BAEA487E96}"/>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A0C42FB2-6A3F-47EA-E49C-8ECE78C23325}"/>
              </a:ext>
            </a:extLst>
          </p:cNvPr>
          <p:cNvSpPr>
            <a:spLocks noGrp="1"/>
          </p:cNvSpPr>
          <p:nvPr>
            <p:ph type="sldNum" sz="quarter" idx="12"/>
          </p:nvPr>
        </p:nvSpPr>
        <p:spPr/>
        <p:txBody>
          <a:bodyPr/>
          <a:lstStyle/>
          <a:p>
            <a:fld id="{049C8138-8455-45E7-86C8-86F5C4AD9971}" type="slidenum">
              <a:rPr lang="es-MX" smtClean="0"/>
              <a:t>‹Nº›</a:t>
            </a:fld>
            <a:endParaRPr lang="es-MX"/>
          </a:p>
        </p:txBody>
      </p:sp>
    </p:spTree>
    <p:extLst>
      <p:ext uri="{BB962C8B-B14F-4D97-AF65-F5344CB8AC3E}">
        <p14:creationId xmlns:p14="http://schemas.microsoft.com/office/powerpoint/2010/main" val="3400229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848D2A-9DC7-E320-F906-E5051089A1B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BBDC48A-511F-497D-78C3-9B9915EF17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29B44BC0-8668-08BA-2B12-F9CE0DB99B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CFA8D93-EA0F-91DB-0B56-B97A11527E33}"/>
              </a:ext>
            </a:extLst>
          </p:cNvPr>
          <p:cNvSpPr>
            <a:spLocks noGrp="1"/>
          </p:cNvSpPr>
          <p:nvPr>
            <p:ph type="dt" sz="half" idx="10"/>
          </p:nvPr>
        </p:nvSpPr>
        <p:spPr/>
        <p:txBody>
          <a:bodyPr/>
          <a:lstStyle/>
          <a:p>
            <a:fld id="{709F4AFB-E5ED-4A9C-92F5-399014BDBDF8}" type="datetimeFigureOut">
              <a:rPr lang="es-MX" smtClean="0"/>
              <a:t>12/06/2026</a:t>
            </a:fld>
            <a:endParaRPr lang="es-MX"/>
          </a:p>
        </p:txBody>
      </p:sp>
      <p:sp>
        <p:nvSpPr>
          <p:cNvPr id="6" name="Marcador de pie de página 5">
            <a:extLst>
              <a:ext uri="{FF2B5EF4-FFF2-40B4-BE49-F238E27FC236}">
                <a16:creationId xmlns:a16="http://schemas.microsoft.com/office/drawing/2014/main" id="{4112F10A-FB9D-76C4-2D6C-60D1B14FB4D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4BC5B22-0EC7-7340-E56F-A0AD5F00DBC5}"/>
              </a:ext>
            </a:extLst>
          </p:cNvPr>
          <p:cNvSpPr>
            <a:spLocks noGrp="1"/>
          </p:cNvSpPr>
          <p:nvPr>
            <p:ph type="sldNum" sz="quarter" idx="12"/>
          </p:nvPr>
        </p:nvSpPr>
        <p:spPr/>
        <p:txBody>
          <a:bodyPr/>
          <a:lstStyle/>
          <a:p>
            <a:fld id="{049C8138-8455-45E7-86C8-86F5C4AD9971}" type="slidenum">
              <a:rPr lang="es-MX" smtClean="0"/>
              <a:t>‹Nº›</a:t>
            </a:fld>
            <a:endParaRPr lang="es-MX"/>
          </a:p>
        </p:txBody>
      </p:sp>
    </p:spTree>
    <p:extLst>
      <p:ext uri="{BB962C8B-B14F-4D97-AF65-F5344CB8AC3E}">
        <p14:creationId xmlns:p14="http://schemas.microsoft.com/office/powerpoint/2010/main" val="346971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8BCC78-AE0D-74C3-D084-AA0952F5E90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89CE70AD-5B83-A1AD-C11C-32DA06BB96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25F27958-93C2-B111-782D-4B3379E7FA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AE3C186-A8AB-37E5-4D94-974D07610339}"/>
              </a:ext>
            </a:extLst>
          </p:cNvPr>
          <p:cNvSpPr>
            <a:spLocks noGrp="1"/>
          </p:cNvSpPr>
          <p:nvPr>
            <p:ph type="dt" sz="half" idx="10"/>
          </p:nvPr>
        </p:nvSpPr>
        <p:spPr/>
        <p:txBody>
          <a:bodyPr/>
          <a:lstStyle/>
          <a:p>
            <a:fld id="{709F4AFB-E5ED-4A9C-92F5-399014BDBDF8}" type="datetimeFigureOut">
              <a:rPr lang="es-MX" smtClean="0"/>
              <a:t>12/06/2026</a:t>
            </a:fld>
            <a:endParaRPr lang="es-MX"/>
          </a:p>
        </p:txBody>
      </p:sp>
      <p:sp>
        <p:nvSpPr>
          <p:cNvPr id="6" name="Marcador de pie de página 5">
            <a:extLst>
              <a:ext uri="{FF2B5EF4-FFF2-40B4-BE49-F238E27FC236}">
                <a16:creationId xmlns:a16="http://schemas.microsoft.com/office/drawing/2014/main" id="{2024D62C-69B5-8486-8422-186B1CF7C8D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D3BFE85-7D23-E037-B3C0-7409E63892BC}"/>
              </a:ext>
            </a:extLst>
          </p:cNvPr>
          <p:cNvSpPr>
            <a:spLocks noGrp="1"/>
          </p:cNvSpPr>
          <p:nvPr>
            <p:ph type="sldNum" sz="quarter" idx="12"/>
          </p:nvPr>
        </p:nvSpPr>
        <p:spPr/>
        <p:txBody>
          <a:bodyPr/>
          <a:lstStyle/>
          <a:p>
            <a:fld id="{049C8138-8455-45E7-86C8-86F5C4AD9971}" type="slidenum">
              <a:rPr lang="es-MX" smtClean="0"/>
              <a:t>‹Nº›</a:t>
            </a:fld>
            <a:endParaRPr lang="es-MX"/>
          </a:p>
        </p:txBody>
      </p:sp>
    </p:spTree>
    <p:extLst>
      <p:ext uri="{BB962C8B-B14F-4D97-AF65-F5344CB8AC3E}">
        <p14:creationId xmlns:p14="http://schemas.microsoft.com/office/powerpoint/2010/main" val="111060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E92F70-50B2-F7BE-7785-31BC281D626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C3B7B4B-5BFA-70F8-07BB-9710FBD78BC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5E6B116-F181-509F-C541-4DDDA04F72E8}"/>
              </a:ext>
            </a:extLst>
          </p:cNvPr>
          <p:cNvSpPr>
            <a:spLocks noGrp="1"/>
          </p:cNvSpPr>
          <p:nvPr>
            <p:ph type="dt" sz="half" idx="10"/>
          </p:nvPr>
        </p:nvSpPr>
        <p:spPr/>
        <p:txBody>
          <a:bodyPr/>
          <a:lstStyle/>
          <a:p>
            <a:fld id="{709F4AFB-E5ED-4A9C-92F5-399014BDBDF8}" type="datetimeFigureOut">
              <a:rPr lang="es-MX" smtClean="0"/>
              <a:t>12/06/2026</a:t>
            </a:fld>
            <a:endParaRPr lang="es-MX"/>
          </a:p>
        </p:txBody>
      </p:sp>
      <p:sp>
        <p:nvSpPr>
          <p:cNvPr id="5" name="Marcador de pie de página 4">
            <a:extLst>
              <a:ext uri="{FF2B5EF4-FFF2-40B4-BE49-F238E27FC236}">
                <a16:creationId xmlns:a16="http://schemas.microsoft.com/office/drawing/2014/main" id="{BAD9C58A-F3F5-C8ED-41A0-A5B64E8FB7C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AE66995-E360-EF56-BDD9-304059AED877}"/>
              </a:ext>
            </a:extLst>
          </p:cNvPr>
          <p:cNvSpPr>
            <a:spLocks noGrp="1"/>
          </p:cNvSpPr>
          <p:nvPr>
            <p:ph type="sldNum" sz="quarter" idx="12"/>
          </p:nvPr>
        </p:nvSpPr>
        <p:spPr/>
        <p:txBody>
          <a:bodyPr/>
          <a:lstStyle/>
          <a:p>
            <a:fld id="{049C8138-8455-45E7-86C8-86F5C4AD9971}" type="slidenum">
              <a:rPr lang="es-MX" smtClean="0"/>
              <a:t>‹Nº›</a:t>
            </a:fld>
            <a:endParaRPr lang="es-MX"/>
          </a:p>
        </p:txBody>
      </p:sp>
    </p:spTree>
    <p:extLst>
      <p:ext uri="{BB962C8B-B14F-4D97-AF65-F5344CB8AC3E}">
        <p14:creationId xmlns:p14="http://schemas.microsoft.com/office/powerpoint/2010/main" val="609812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92529DE-CAE0-6698-787F-DE673FD0829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4DB4465-4FA2-F25A-1EAF-C7D2A8BD5C6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F17FF1F-CA13-B90C-66D7-7BBF8E6B839D}"/>
              </a:ext>
            </a:extLst>
          </p:cNvPr>
          <p:cNvSpPr>
            <a:spLocks noGrp="1"/>
          </p:cNvSpPr>
          <p:nvPr>
            <p:ph type="dt" sz="half" idx="10"/>
          </p:nvPr>
        </p:nvSpPr>
        <p:spPr/>
        <p:txBody>
          <a:bodyPr/>
          <a:lstStyle/>
          <a:p>
            <a:fld id="{709F4AFB-E5ED-4A9C-92F5-399014BDBDF8}" type="datetimeFigureOut">
              <a:rPr lang="es-MX" smtClean="0"/>
              <a:t>12/06/2026</a:t>
            </a:fld>
            <a:endParaRPr lang="es-MX"/>
          </a:p>
        </p:txBody>
      </p:sp>
      <p:sp>
        <p:nvSpPr>
          <p:cNvPr id="5" name="Marcador de pie de página 4">
            <a:extLst>
              <a:ext uri="{FF2B5EF4-FFF2-40B4-BE49-F238E27FC236}">
                <a16:creationId xmlns:a16="http://schemas.microsoft.com/office/drawing/2014/main" id="{3B374214-5708-8338-4C21-19FB2BC2436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692099C-E655-098F-A18D-15622F083888}"/>
              </a:ext>
            </a:extLst>
          </p:cNvPr>
          <p:cNvSpPr>
            <a:spLocks noGrp="1"/>
          </p:cNvSpPr>
          <p:nvPr>
            <p:ph type="sldNum" sz="quarter" idx="12"/>
          </p:nvPr>
        </p:nvSpPr>
        <p:spPr/>
        <p:txBody>
          <a:bodyPr/>
          <a:lstStyle/>
          <a:p>
            <a:fld id="{049C8138-8455-45E7-86C8-86F5C4AD9971}" type="slidenum">
              <a:rPr lang="es-MX" smtClean="0"/>
              <a:t>‹Nº›</a:t>
            </a:fld>
            <a:endParaRPr lang="es-MX"/>
          </a:p>
        </p:txBody>
      </p:sp>
    </p:spTree>
    <p:extLst>
      <p:ext uri="{BB962C8B-B14F-4D97-AF65-F5344CB8AC3E}">
        <p14:creationId xmlns:p14="http://schemas.microsoft.com/office/powerpoint/2010/main" val="3929758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31E287D-C060-47E1-42D8-C59A982ED1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B6D1EAA-0370-0EA8-A6AC-EAE3F4388F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2C76623-1350-E8C0-0833-5CB5135896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9F4AFB-E5ED-4A9C-92F5-399014BDBDF8}" type="datetimeFigureOut">
              <a:rPr lang="es-MX" smtClean="0"/>
              <a:t>12/06/2026</a:t>
            </a:fld>
            <a:endParaRPr lang="es-MX"/>
          </a:p>
        </p:txBody>
      </p:sp>
      <p:sp>
        <p:nvSpPr>
          <p:cNvPr id="5" name="Marcador de pie de página 4">
            <a:extLst>
              <a:ext uri="{FF2B5EF4-FFF2-40B4-BE49-F238E27FC236}">
                <a16:creationId xmlns:a16="http://schemas.microsoft.com/office/drawing/2014/main" id="{C0664B3B-26E4-BA38-85E8-10935DB0C5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A1C1BF1B-DBC8-2E7C-B3C9-145CCB631C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9C8138-8455-45E7-86C8-86F5C4AD9971}" type="slidenum">
              <a:rPr lang="es-MX" smtClean="0"/>
              <a:t>‹Nº›</a:t>
            </a:fld>
            <a:endParaRPr lang="es-MX"/>
          </a:p>
        </p:txBody>
      </p:sp>
    </p:spTree>
    <p:extLst>
      <p:ext uri="{BB962C8B-B14F-4D97-AF65-F5344CB8AC3E}">
        <p14:creationId xmlns:p14="http://schemas.microsoft.com/office/powerpoint/2010/main" val="27347804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274BB1C9-981C-853A-29E7-A47CC93839A9}"/>
              </a:ext>
            </a:extLst>
          </p:cNvPr>
          <p:cNvSpPr txBox="1"/>
          <p:nvPr/>
        </p:nvSpPr>
        <p:spPr>
          <a:xfrm>
            <a:off x="2374586" y="2011396"/>
            <a:ext cx="7644625" cy="4678204"/>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Administración</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5.2 </a:t>
            </a:r>
            <a:r>
              <a:rPr lang="en-US" sz="1600" dirty="0" err="1">
                <a:solidFill>
                  <a:srgbClr val="000000"/>
                </a:solidFill>
                <a:latin typeface="Century Gothic" panose="020B0502020202020204" pitchFamily="34" charset="0"/>
                <a:ea typeface="Glacial Indifference"/>
                <a:cs typeface="Glacial Indifference"/>
                <a:sym typeface="Glacial Indifference"/>
              </a:rPr>
              <a:t>Reporte</a:t>
            </a:r>
            <a:r>
              <a:rPr lang="en-US" sz="1600" dirty="0">
                <a:solidFill>
                  <a:srgbClr val="000000"/>
                </a:solidFill>
                <a:latin typeface="Century Gothic" panose="020B0502020202020204" pitchFamily="34" charset="0"/>
                <a:ea typeface="Glacial Indifference"/>
                <a:cs typeface="Glacial Indifference"/>
                <a:sym typeface="Glacial Indifference"/>
              </a:rPr>
              <a:t> de </a:t>
            </a:r>
            <a:r>
              <a:rPr lang="en-US" sz="1600" dirty="0" err="1">
                <a:solidFill>
                  <a:srgbClr val="000000"/>
                </a:solidFill>
                <a:latin typeface="Century Gothic" panose="020B0502020202020204" pitchFamily="34" charset="0"/>
                <a:ea typeface="Glacial Indifference"/>
                <a:cs typeface="Glacial Indifference"/>
                <a:sym typeface="Glacial Indifference"/>
              </a:rPr>
              <a:t>Practica</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07 de </a:t>
            </a:r>
            <a:r>
              <a:rPr lang="en-US" sz="1600" dirty="0" err="1">
                <a:solidFill>
                  <a:srgbClr val="000000"/>
                </a:solidFill>
                <a:latin typeface="Century Gothic" panose="020B0502020202020204" pitchFamily="34" charset="0"/>
                <a:ea typeface="Glacial Indifference"/>
                <a:cs typeface="Glacial Indifference"/>
                <a:sym typeface="Glacial Indifference"/>
              </a:rPr>
              <a:t>junio</a:t>
            </a:r>
            <a:r>
              <a:rPr lang="en-US" sz="1600" dirty="0">
                <a:solidFill>
                  <a:srgbClr val="000000"/>
                </a:solidFill>
                <a:latin typeface="Century Gothic" panose="020B0502020202020204" pitchFamily="34" charset="0"/>
                <a:ea typeface="Glacial Indifference"/>
                <a:cs typeface="Glacial Indifference"/>
                <a:sym typeface="Glacial Indifference"/>
              </a:rPr>
              <a:t> del 2026</a:t>
            </a:r>
          </a:p>
        </p:txBody>
      </p:sp>
      <p:sp>
        <p:nvSpPr>
          <p:cNvPr id="5" name="TextBox 8">
            <a:extLst>
              <a:ext uri="{FF2B5EF4-FFF2-40B4-BE49-F238E27FC236}">
                <a16:creationId xmlns:a16="http://schemas.microsoft.com/office/drawing/2014/main" id="{1E760666-A74F-E989-1D22-CFB5FE6C7196}"/>
              </a:ext>
            </a:extLst>
          </p:cNvPr>
          <p:cNvSpPr txBox="1"/>
          <p:nvPr/>
        </p:nvSpPr>
        <p:spPr>
          <a:xfrm>
            <a:off x="2018662" y="1127967"/>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A01C6AA6-D42D-1E34-8324-545418FAEAB1}"/>
              </a:ext>
            </a:extLst>
          </p:cNvPr>
          <p:cNvGrpSpPr/>
          <p:nvPr/>
        </p:nvGrpSpPr>
        <p:grpSpPr>
          <a:xfrm>
            <a:off x="900094" y="85695"/>
            <a:ext cx="1833537" cy="1054536"/>
            <a:chOff x="0" y="0"/>
            <a:chExt cx="3073400" cy="1308100"/>
          </a:xfrm>
        </p:grpSpPr>
        <p:sp>
          <p:nvSpPr>
            <p:cNvPr id="7" name="Freeform 3">
              <a:extLst>
                <a:ext uri="{FF2B5EF4-FFF2-40B4-BE49-F238E27FC236}">
                  <a16:creationId xmlns:a16="http://schemas.microsoft.com/office/drawing/2014/main" id="{DC1C3258-BB51-52F2-61A6-B1A9B09D9E6D}"/>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04E08C30-8BC3-7A5B-38E5-557604F5B13D}"/>
              </a:ext>
            </a:extLst>
          </p:cNvPr>
          <p:cNvGrpSpPr/>
          <p:nvPr/>
        </p:nvGrpSpPr>
        <p:grpSpPr>
          <a:xfrm>
            <a:off x="10101943" y="167651"/>
            <a:ext cx="1517156" cy="890624"/>
            <a:chOff x="0" y="0"/>
            <a:chExt cx="1981200" cy="1625600"/>
          </a:xfrm>
        </p:grpSpPr>
        <p:sp>
          <p:nvSpPr>
            <p:cNvPr id="9" name="Freeform 5">
              <a:extLst>
                <a:ext uri="{FF2B5EF4-FFF2-40B4-BE49-F238E27FC236}">
                  <a16:creationId xmlns:a16="http://schemas.microsoft.com/office/drawing/2014/main" id="{367A1692-962C-0DF8-F7D3-87DDC59CE2F3}"/>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3B8125D7-F4EF-F57B-F41C-6D695025DA00}"/>
              </a:ext>
            </a:extLst>
          </p:cNvPr>
          <p:cNvGrpSpPr/>
          <p:nvPr/>
        </p:nvGrpSpPr>
        <p:grpSpPr>
          <a:xfrm>
            <a:off x="4853273" y="255009"/>
            <a:ext cx="2687249" cy="587136"/>
            <a:chOff x="0" y="0"/>
            <a:chExt cx="4343400" cy="901700"/>
          </a:xfrm>
        </p:grpSpPr>
        <p:sp>
          <p:nvSpPr>
            <p:cNvPr id="11" name="Freeform 7">
              <a:extLst>
                <a:ext uri="{FF2B5EF4-FFF2-40B4-BE49-F238E27FC236}">
                  <a16:creationId xmlns:a16="http://schemas.microsoft.com/office/drawing/2014/main" id="{AAC45E32-F0CB-1064-A1FA-27E6FF8BAEB3}"/>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4136694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DB1855-BAB9-F504-3030-E6BC627B5DA6}"/>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0D7EE706-CC04-FA04-7E71-5C3E44055A71}"/>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Actualmente, las aplicaciones web modernas requieren una comunicación eficiente entre el </a:t>
            </a:r>
            <a:r>
              <a:rPr lang="es-MX" sz="2000" dirty="0" err="1">
                <a:latin typeface="Arial" panose="020B0604020202020204" pitchFamily="34" charset="0"/>
                <a:cs typeface="Arial" panose="020B0604020202020204" pitchFamily="34" charset="0"/>
              </a:rPr>
              <a:t>frontend</a:t>
            </a:r>
            <a:r>
              <a:rPr lang="es-MX" sz="2000" dirty="0">
                <a:latin typeface="Arial" panose="020B0604020202020204" pitchFamily="34" charset="0"/>
                <a:cs typeface="Arial" panose="020B0604020202020204" pitchFamily="34" charset="0"/>
              </a:rPr>
              <a:t> y el </a:t>
            </a:r>
            <a:r>
              <a:rPr lang="es-MX" sz="2000" dirty="0" err="1">
                <a:latin typeface="Arial" panose="020B0604020202020204" pitchFamily="34" charset="0"/>
                <a:cs typeface="Arial" panose="020B0604020202020204" pitchFamily="34" charset="0"/>
              </a:rPr>
              <a:t>backend</a:t>
            </a:r>
            <a:r>
              <a:rPr lang="es-MX" sz="2000" dirty="0">
                <a:latin typeface="Arial" panose="020B0604020202020204" pitchFamily="34" charset="0"/>
                <a:cs typeface="Arial" panose="020B0604020202020204" pitchFamily="34" charset="0"/>
              </a:rPr>
              <a:t> para proporcionar una experiencia dinámica al usuario. Angular es uno de los </a:t>
            </a:r>
            <a:r>
              <a:rPr lang="es-MX" sz="2000" dirty="0" err="1">
                <a:latin typeface="Arial" panose="020B0604020202020204" pitchFamily="34" charset="0"/>
                <a:cs typeface="Arial" panose="020B0604020202020204" pitchFamily="34" charset="0"/>
              </a:rPr>
              <a:t>frameworks</a:t>
            </a:r>
            <a:r>
              <a:rPr lang="es-MX" sz="2000" dirty="0">
                <a:latin typeface="Arial" panose="020B0604020202020204" pitchFamily="34" charset="0"/>
                <a:cs typeface="Arial" panose="020B0604020202020204" pitchFamily="34" charset="0"/>
              </a:rPr>
              <a:t> más utilizados para el desarrollo de interfaces web, mientras que Spring </a:t>
            </a:r>
            <a:r>
              <a:rPr lang="es-MX" sz="2000" dirty="0" err="1">
                <a:latin typeface="Arial" panose="020B0604020202020204" pitchFamily="34" charset="0"/>
                <a:cs typeface="Arial" panose="020B0604020202020204" pitchFamily="34" charset="0"/>
              </a:rPr>
              <a:t>Boot</a:t>
            </a:r>
            <a:r>
              <a:rPr lang="es-MX" sz="2000" dirty="0">
                <a:latin typeface="Arial" panose="020B0604020202020204" pitchFamily="34" charset="0"/>
                <a:cs typeface="Arial" panose="020B0604020202020204" pitchFamily="34" charset="0"/>
              </a:rPr>
              <a:t> permite construir microservicios robustos y escalables.</a:t>
            </a:r>
          </a:p>
          <a:p>
            <a:pPr marL="0" indent="0" algn="just">
              <a:buNone/>
            </a:pPr>
            <a:r>
              <a:rPr lang="es-MX" sz="2000" dirty="0">
                <a:latin typeface="Arial" panose="020B0604020202020204" pitchFamily="34" charset="0"/>
                <a:cs typeface="Arial" panose="020B0604020202020204" pitchFamily="34" charset="0"/>
              </a:rPr>
              <a:t>En esta práctica se desarrolló una aplicación </a:t>
            </a:r>
            <a:r>
              <a:rPr lang="es-MX" sz="2000" dirty="0" err="1">
                <a:latin typeface="Arial" panose="020B0604020202020204" pitchFamily="34" charset="0"/>
                <a:cs typeface="Arial" panose="020B0604020202020204" pitchFamily="34" charset="0"/>
              </a:rPr>
              <a:t>frontend</a:t>
            </a:r>
            <a:r>
              <a:rPr lang="es-MX" sz="2000" dirty="0">
                <a:latin typeface="Arial" panose="020B0604020202020204" pitchFamily="34" charset="0"/>
                <a:cs typeface="Arial" panose="020B0604020202020204" pitchFamily="34" charset="0"/>
              </a:rPr>
              <a:t> utilizando Angular para consumir diversos microservicios implementados previamente con Spring </a:t>
            </a:r>
            <a:r>
              <a:rPr lang="es-MX" sz="2000" dirty="0" err="1">
                <a:latin typeface="Arial" panose="020B0604020202020204" pitchFamily="34" charset="0"/>
                <a:cs typeface="Arial" panose="020B0604020202020204" pitchFamily="34" charset="0"/>
              </a:rPr>
              <a:t>Boot</a:t>
            </a:r>
            <a:r>
              <a:rPr lang="es-MX" sz="2000" dirty="0">
                <a:latin typeface="Arial" panose="020B0604020202020204" pitchFamily="34" charset="0"/>
                <a:cs typeface="Arial" panose="020B0604020202020204" pitchFamily="34" charset="0"/>
              </a:rPr>
              <a:t>. A través de peticiones HTTP se obtuvo información relacionada con estudiantes, cursos y docentes, permitiendo visualizar y administrar los datos mediante una interfaz gráfica amigable. Asimismo, se utilizó una arquitectura compuesta por Eureka Server, </a:t>
            </a:r>
            <a:r>
              <a:rPr lang="es-MX" sz="2000" dirty="0" err="1">
                <a:latin typeface="Arial" panose="020B0604020202020204" pitchFamily="34" charset="0"/>
                <a:cs typeface="Arial" panose="020B0604020202020204" pitchFamily="34" charset="0"/>
              </a:rPr>
              <a:t>Config</a:t>
            </a:r>
            <a:r>
              <a:rPr lang="es-MX" sz="2000" dirty="0">
                <a:latin typeface="Arial" panose="020B0604020202020204" pitchFamily="34" charset="0"/>
                <a:cs typeface="Arial" panose="020B0604020202020204" pitchFamily="34" charset="0"/>
              </a:rPr>
              <a:t> Server y API Gateway para facilitar la comunicación entre los servicios.</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4024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C6FB8F-AE52-0489-C513-4A7711000882}"/>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82B9C4C2-6501-58E1-8855-8A9CE8BD37AB}"/>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La presente práctica tiene como finalidad comprender el proceso de integración entre una aplicación </a:t>
            </a:r>
            <a:r>
              <a:rPr lang="es-MX" sz="2000" dirty="0" err="1">
                <a:latin typeface="Arial" panose="020B0604020202020204" pitchFamily="34" charset="0"/>
                <a:cs typeface="Arial" panose="020B0604020202020204" pitchFamily="34" charset="0"/>
              </a:rPr>
              <a:t>frontend</a:t>
            </a:r>
            <a:r>
              <a:rPr lang="es-MX" sz="2000" dirty="0">
                <a:latin typeface="Arial" panose="020B0604020202020204" pitchFamily="34" charset="0"/>
                <a:cs typeface="Arial" panose="020B0604020202020204" pitchFamily="34" charset="0"/>
              </a:rPr>
              <a:t> desarrollada en Angular y una arquitectura basada en microservicios. Esta integración es fundamental en el desarrollo de sistemas modernos, ya que permite separar la lógica de negocio de la interfaz de usuario, facilitando el mantenimiento, la escalabilidad y la reutilización de componentes.</a:t>
            </a:r>
          </a:p>
          <a:p>
            <a:pPr marL="0" indent="0" algn="just">
              <a:buNone/>
            </a:pPr>
            <a:r>
              <a:rPr lang="es-MX" sz="2000" dirty="0">
                <a:latin typeface="Arial" panose="020B0604020202020204" pitchFamily="34" charset="0"/>
                <a:cs typeface="Arial" panose="020B0604020202020204" pitchFamily="34" charset="0"/>
              </a:rPr>
              <a:t>Además, el consumo de </a:t>
            </a:r>
            <a:r>
              <a:rPr lang="es-MX" sz="2000" dirty="0" err="1">
                <a:latin typeface="Arial" panose="020B0604020202020204" pitchFamily="34" charset="0"/>
                <a:cs typeface="Arial" panose="020B0604020202020204" pitchFamily="34" charset="0"/>
              </a:rPr>
              <a:t>APIs</a:t>
            </a:r>
            <a:r>
              <a:rPr lang="es-MX" sz="2000" dirty="0">
                <a:latin typeface="Arial" panose="020B0604020202020204" pitchFamily="34" charset="0"/>
                <a:cs typeface="Arial" panose="020B0604020202020204" pitchFamily="34" charset="0"/>
              </a:rPr>
              <a:t> REST fortalece los conocimientos sobre comunicación cliente-servidor, manejo de datos en formato JSON y construcción de aplicaciones distribuidas, competencias ampliamente demandadas en el ámbito profesional del desarrollo de software</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974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0012B6-47A0-F67E-9AF9-8473C3ACAF7B}"/>
              </a:ext>
            </a:extLst>
          </p:cNvPr>
          <p:cNvSpPr>
            <a:spLocks noGrp="1"/>
          </p:cNvSpPr>
          <p:nvPr>
            <p:ph type="title"/>
          </p:nvPr>
        </p:nvSpPr>
        <p:spPr/>
        <p:txBody>
          <a:bodyPr/>
          <a:lstStyle/>
          <a:p>
            <a:r>
              <a:rPr lang="es-MX" dirty="0"/>
              <a:t>Objetivo General</a:t>
            </a:r>
          </a:p>
        </p:txBody>
      </p:sp>
      <p:sp>
        <p:nvSpPr>
          <p:cNvPr id="3" name="Marcador de contenido 2">
            <a:extLst>
              <a:ext uri="{FF2B5EF4-FFF2-40B4-BE49-F238E27FC236}">
                <a16:creationId xmlns:a16="http://schemas.microsoft.com/office/drawing/2014/main" id="{A1D88F19-A99D-CDB6-2A6F-9988C54510E9}"/>
              </a:ext>
            </a:extLst>
          </p:cNvPr>
          <p:cNvSpPr>
            <a:spLocks noGrp="1"/>
          </p:cNvSpPr>
          <p:nvPr>
            <p:ph idx="1"/>
          </p:nvPr>
        </p:nvSpPr>
        <p:spPr/>
        <p:txBody>
          <a:bodyPr/>
          <a:lstStyle/>
          <a:p>
            <a:pPr marL="0" indent="0" algn="just">
              <a:buNone/>
            </a:pPr>
            <a:r>
              <a:rPr lang="es-MX" dirty="0"/>
              <a:t>Desarrollar una aplicación web utilizando Angular capaz de consumir y visualizar información proveniente de microservicios implementados con Spring </a:t>
            </a:r>
            <a:r>
              <a:rPr lang="es-MX" dirty="0" err="1"/>
              <a:t>Boot</a:t>
            </a:r>
            <a:r>
              <a:rPr lang="es-MX" dirty="0"/>
              <a:t> mediante servicios REST.</a:t>
            </a:r>
          </a:p>
        </p:txBody>
      </p:sp>
    </p:spTree>
    <p:extLst>
      <p:ext uri="{BB962C8B-B14F-4D97-AF65-F5344CB8AC3E}">
        <p14:creationId xmlns:p14="http://schemas.microsoft.com/office/powerpoint/2010/main" val="2065624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444F1-802B-7A67-6AB5-EF251F2910CF}"/>
              </a:ext>
            </a:extLst>
          </p:cNvPr>
          <p:cNvSpPr>
            <a:spLocks noGrp="1"/>
          </p:cNvSpPr>
          <p:nvPr>
            <p:ph type="title"/>
          </p:nvPr>
        </p:nvSpPr>
        <p:spPr>
          <a:xfrm>
            <a:off x="2144486" y="164419"/>
            <a:ext cx="7347857" cy="516618"/>
          </a:xfrm>
        </p:spPr>
        <p:txBody>
          <a:bodyPr>
            <a:normAutofit fontScale="90000"/>
          </a:bodyPr>
          <a:lstStyle/>
          <a:p>
            <a:r>
              <a:rPr lang="es-MX" sz="2800" dirty="0"/>
              <a:t>1. Verificación de la arquitectura de microservicios</a:t>
            </a:r>
          </a:p>
        </p:txBody>
      </p:sp>
      <p:pic>
        <p:nvPicPr>
          <p:cNvPr id="7" name="Marcador de contenido 6">
            <a:extLst>
              <a:ext uri="{FF2B5EF4-FFF2-40B4-BE49-F238E27FC236}">
                <a16:creationId xmlns:a16="http://schemas.microsoft.com/office/drawing/2014/main" id="{60CBE64C-C39E-816A-92F7-6009323135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536" y="1394845"/>
            <a:ext cx="5945464" cy="3024755"/>
          </a:xfrm>
        </p:spPr>
      </p:pic>
      <p:sp>
        <p:nvSpPr>
          <p:cNvPr id="5" name="CuadroTexto 4">
            <a:extLst>
              <a:ext uri="{FF2B5EF4-FFF2-40B4-BE49-F238E27FC236}">
                <a16:creationId xmlns:a16="http://schemas.microsoft.com/office/drawing/2014/main" id="{F7AE2E47-9D3D-443C-10C3-97BFAD1E90FE}"/>
              </a:ext>
            </a:extLst>
          </p:cNvPr>
          <p:cNvSpPr txBox="1"/>
          <p:nvPr/>
        </p:nvSpPr>
        <p:spPr>
          <a:xfrm>
            <a:off x="903514" y="808949"/>
            <a:ext cx="10678886" cy="369332"/>
          </a:xfrm>
          <a:prstGeom prst="rect">
            <a:avLst/>
          </a:prstGeom>
          <a:noFill/>
        </p:spPr>
        <p:txBody>
          <a:bodyPr wrap="square">
            <a:spAutoFit/>
          </a:bodyPr>
          <a:lstStyle/>
          <a:p>
            <a:r>
              <a:rPr lang="es-MX" dirty="0"/>
              <a:t>Se ejecutaron los servicios correspondientes al sistema, verificando su correcto registro en Eureka Server.</a:t>
            </a:r>
          </a:p>
        </p:txBody>
      </p:sp>
      <p:pic>
        <p:nvPicPr>
          <p:cNvPr id="9" name="Imagen 8">
            <a:extLst>
              <a:ext uri="{FF2B5EF4-FFF2-40B4-BE49-F238E27FC236}">
                <a16:creationId xmlns:a16="http://schemas.microsoft.com/office/drawing/2014/main" id="{C4169BAB-C998-B692-8318-C190EA679F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394845"/>
            <a:ext cx="5945464" cy="3024755"/>
          </a:xfrm>
          <a:prstGeom prst="rect">
            <a:avLst/>
          </a:prstGeom>
        </p:spPr>
      </p:pic>
      <p:sp>
        <p:nvSpPr>
          <p:cNvPr id="11" name="CuadroTexto 10">
            <a:extLst>
              <a:ext uri="{FF2B5EF4-FFF2-40B4-BE49-F238E27FC236}">
                <a16:creationId xmlns:a16="http://schemas.microsoft.com/office/drawing/2014/main" id="{C3DC0413-B975-12F6-774B-50C6507BC386}"/>
              </a:ext>
            </a:extLst>
          </p:cNvPr>
          <p:cNvSpPr txBox="1"/>
          <p:nvPr/>
        </p:nvSpPr>
        <p:spPr>
          <a:xfrm>
            <a:off x="903514" y="4636164"/>
            <a:ext cx="10678886" cy="646331"/>
          </a:xfrm>
          <a:prstGeom prst="rect">
            <a:avLst/>
          </a:prstGeom>
          <a:noFill/>
        </p:spPr>
        <p:txBody>
          <a:bodyPr wrap="square">
            <a:spAutoFit/>
          </a:bodyPr>
          <a:lstStyle/>
          <a:p>
            <a:r>
              <a:rPr lang="es-MX" dirty="0"/>
              <a:t>En la captura se observa que los servicios fueron registrados correctamente y se encuentran en estado UP, permitiendo la comunicación entre los diferentes componentes de la arquitectura.</a:t>
            </a:r>
          </a:p>
        </p:txBody>
      </p:sp>
    </p:spTree>
    <p:extLst>
      <p:ext uri="{BB962C8B-B14F-4D97-AF65-F5344CB8AC3E}">
        <p14:creationId xmlns:p14="http://schemas.microsoft.com/office/powerpoint/2010/main" val="2235438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D3251B-744C-E979-5F0E-0FA8D283B654}"/>
              </a:ext>
            </a:extLst>
          </p:cNvPr>
          <p:cNvSpPr>
            <a:spLocks noGrp="1"/>
          </p:cNvSpPr>
          <p:nvPr>
            <p:ph type="title"/>
          </p:nvPr>
        </p:nvSpPr>
        <p:spPr>
          <a:xfrm>
            <a:off x="605517" y="67927"/>
            <a:ext cx="5285014" cy="353332"/>
          </a:xfrm>
        </p:spPr>
        <p:txBody>
          <a:bodyPr>
            <a:noAutofit/>
          </a:bodyPr>
          <a:lstStyle/>
          <a:p>
            <a:r>
              <a:rPr lang="es-MX" sz="2500" dirty="0"/>
              <a:t>2. Ejecución de la aplicación Angular</a:t>
            </a:r>
          </a:p>
        </p:txBody>
      </p:sp>
      <p:pic>
        <p:nvPicPr>
          <p:cNvPr id="7" name="Marcador de contenido 6">
            <a:extLst>
              <a:ext uri="{FF2B5EF4-FFF2-40B4-BE49-F238E27FC236}">
                <a16:creationId xmlns:a16="http://schemas.microsoft.com/office/drawing/2014/main" id="{B9AF9977-6F16-C1D6-AC13-58AA79090F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0521" y="1492032"/>
            <a:ext cx="4929642" cy="2507956"/>
          </a:xfrm>
        </p:spPr>
      </p:pic>
      <p:sp>
        <p:nvSpPr>
          <p:cNvPr id="5" name="CuadroTexto 4">
            <a:extLst>
              <a:ext uri="{FF2B5EF4-FFF2-40B4-BE49-F238E27FC236}">
                <a16:creationId xmlns:a16="http://schemas.microsoft.com/office/drawing/2014/main" id="{3480B9A5-C468-40C2-5D82-80939F4D21B1}"/>
              </a:ext>
            </a:extLst>
          </p:cNvPr>
          <p:cNvSpPr txBox="1"/>
          <p:nvPr/>
        </p:nvSpPr>
        <p:spPr>
          <a:xfrm>
            <a:off x="605517" y="568702"/>
            <a:ext cx="4819650" cy="923330"/>
          </a:xfrm>
          <a:prstGeom prst="rect">
            <a:avLst/>
          </a:prstGeom>
          <a:noFill/>
        </p:spPr>
        <p:txBody>
          <a:bodyPr wrap="square">
            <a:spAutoFit/>
          </a:bodyPr>
          <a:lstStyle/>
          <a:p>
            <a:r>
              <a:rPr lang="es-MX" dirty="0"/>
              <a:t>Se inició la aplicación Angular mediante el comando ng serve, habilitando la interfaz gráfica para el consumo de los microservicios.</a:t>
            </a:r>
          </a:p>
        </p:txBody>
      </p:sp>
      <p:sp>
        <p:nvSpPr>
          <p:cNvPr id="9" name="CuadroTexto 8">
            <a:extLst>
              <a:ext uri="{FF2B5EF4-FFF2-40B4-BE49-F238E27FC236}">
                <a16:creationId xmlns:a16="http://schemas.microsoft.com/office/drawing/2014/main" id="{55DF04B6-4434-6BEE-F501-43AE557FA1B5}"/>
              </a:ext>
            </a:extLst>
          </p:cNvPr>
          <p:cNvSpPr txBox="1"/>
          <p:nvPr/>
        </p:nvSpPr>
        <p:spPr>
          <a:xfrm>
            <a:off x="550521" y="4022384"/>
            <a:ext cx="4713514" cy="646331"/>
          </a:xfrm>
          <a:prstGeom prst="rect">
            <a:avLst/>
          </a:prstGeom>
          <a:noFill/>
        </p:spPr>
        <p:txBody>
          <a:bodyPr wrap="square">
            <a:spAutoFit/>
          </a:bodyPr>
          <a:lstStyle/>
          <a:p>
            <a:r>
              <a:rPr lang="es-MX" dirty="0"/>
              <a:t>La aplicación quedó disponible para su acceso desde el navegador web.</a:t>
            </a:r>
          </a:p>
        </p:txBody>
      </p:sp>
      <p:sp>
        <p:nvSpPr>
          <p:cNvPr id="11" name="CuadroTexto 10">
            <a:extLst>
              <a:ext uri="{FF2B5EF4-FFF2-40B4-BE49-F238E27FC236}">
                <a16:creationId xmlns:a16="http://schemas.microsoft.com/office/drawing/2014/main" id="{54BCB261-C5FD-303E-2509-06D8939E031F}"/>
              </a:ext>
            </a:extLst>
          </p:cNvPr>
          <p:cNvSpPr txBox="1"/>
          <p:nvPr/>
        </p:nvSpPr>
        <p:spPr>
          <a:xfrm>
            <a:off x="6327323" y="244593"/>
            <a:ext cx="5285014" cy="646331"/>
          </a:xfrm>
          <a:prstGeom prst="rect">
            <a:avLst/>
          </a:prstGeom>
          <a:noFill/>
        </p:spPr>
        <p:txBody>
          <a:bodyPr wrap="square">
            <a:spAutoFit/>
          </a:bodyPr>
          <a:lstStyle/>
          <a:p>
            <a:r>
              <a:rPr lang="es-MX" dirty="0"/>
              <a:t>Una vez iniciado el sistema, se accedió al panel principal de la aplicación.</a:t>
            </a:r>
          </a:p>
        </p:txBody>
      </p:sp>
      <p:pic>
        <p:nvPicPr>
          <p:cNvPr id="13" name="Imagen 12">
            <a:extLst>
              <a:ext uri="{FF2B5EF4-FFF2-40B4-BE49-F238E27FC236}">
                <a16:creationId xmlns:a16="http://schemas.microsoft.com/office/drawing/2014/main" id="{3B5DEF7D-091B-79D0-05A8-04102F4A84BF}"/>
              </a:ext>
            </a:extLst>
          </p:cNvPr>
          <p:cNvPicPr>
            <a:picLocks noChangeAspect="1"/>
          </p:cNvPicPr>
          <p:nvPr/>
        </p:nvPicPr>
        <p:blipFill>
          <a:blip r:embed="rId3"/>
          <a:stretch>
            <a:fillRect/>
          </a:stretch>
        </p:blipFill>
        <p:spPr>
          <a:xfrm>
            <a:off x="6327323" y="1025240"/>
            <a:ext cx="4819650" cy="2451997"/>
          </a:xfrm>
          <a:prstGeom prst="rect">
            <a:avLst/>
          </a:prstGeom>
        </p:spPr>
      </p:pic>
      <p:sp>
        <p:nvSpPr>
          <p:cNvPr id="15" name="CuadroTexto 14">
            <a:extLst>
              <a:ext uri="{FF2B5EF4-FFF2-40B4-BE49-F238E27FC236}">
                <a16:creationId xmlns:a16="http://schemas.microsoft.com/office/drawing/2014/main" id="{B9526CA7-C5E2-0D4F-43E1-A8E16D2C0288}"/>
              </a:ext>
            </a:extLst>
          </p:cNvPr>
          <p:cNvSpPr txBox="1"/>
          <p:nvPr/>
        </p:nvSpPr>
        <p:spPr>
          <a:xfrm>
            <a:off x="6490607" y="6092572"/>
            <a:ext cx="5551715" cy="646331"/>
          </a:xfrm>
          <a:prstGeom prst="rect">
            <a:avLst/>
          </a:prstGeom>
          <a:noFill/>
        </p:spPr>
        <p:txBody>
          <a:bodyPr wrap="square">
            <a:spAutoFit/>
          </a:bodyPr>
          <a:lstStyle/>
          <a:p>
            <a:r>
              <a:rPr lang="es-MX" dirty="0"/>
              <a:t>Esta interfaz permite navegar hacia los diferentes módulos implementados dentro del sistema.</a:t>
            </a:r>
          </a:p>
        </p:txBody>
      </p:sp>
      <p:pic>
        <p:nvPicPr>
          <p:cNvPr id="16" name="Imagen 15">
            <a:extLst>
              <a:ext uri="{FF2B5EF4-FFF2-40B4-BE49-F238E27FC236}">
                <a16:creationId xmlns:a16="http://schemas.microsoft.com/office/drawing/2014/main" id="{336C1A1B-06C2-0434-F9A1-C2382BB98AA2}"/>
              </a:ext>
            </a:extLst>
          </p:cNvPr>
          <p:cNvPicPr>
            <a:picLocks noChangeAspect="1"/>
          </p:cNvPicPr>
          <p:nvPr/>
        </p:nvPicPr>
        <p:blipFill>
          <a:blip r:embed="rId4"/>
          <a:stretch>
            <a:fillRect/>
          </a:stretch>
        </p:blipFill>
        <p:spPr>
          <a:xfrm>
            <a:off x="6327323" y="3574218"/>
            <a:ext cx="4929642" cy="2507955"/>
          </a:xfrm>
          <a:prstGeom prst="rect">
            <a:avLst/>
          </a:prstGeom>
        </p:spPr>
      </p:pic>
      <p:pic>
        <p:nvPicPr>
          <p:cNvPr id="18" name="Imagen 17">
            <a:extLst>
              <a:ext uri="{FF2B5EF4-FFF2-40B4-BE49-F238E27FC236}">
                <a16:creationId xmlns:a16="http://schemas.microsoft.com/office/drawing/2014/main" id="{1BA05055-996F-A489-2EFD-687A90FB9B00}"/>
              </a:ext>
            </a:extLst>
          </p:cNvPr>
          <p:cNvPicPr>
            <a:picLocks noChangeAspect="1"/>
          </p:cNvPicPr>
          <p:nvPr/>
        </p:nvPicPr>
        <p:blipFill>
          <a:blip r:embed="rId5"/>
          <a:stretch>
            <a:fillRect/>
          </a:stretch>
        </p:blipFill>
        <p:spPr>
          <a:xfrm>
            <a:off x="1072367" y="4725489"/>
            <a:ext cx="4191668" cy="2132511"/>
          </a:xfrm>
          <a:prstGeom prst="rect">
            <a:avLst/>
          </a:prstGeom>
        </p:spPr>
      </p:pic>
    </p:spTree>
    <p:extLst>
      <p:ext uri="{BB962C8B-B14F-4D97-AF65-F5344CB8AC3E}">
        <p14:creationId xmlns:p14="http://schemas.microsoft.com/office/powerpoint/2010/main" val="3814247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F1788D-7503-FD46-BE12-4F2A2A6EFD60}"/>
              </a:ext>
            </a:extLst>
          </p:cNvPr>
          <p:cNvSpPr>
            <a:spLocks noGrp="1"/>
          </p:cNvSpPr>
          <p:nvPr>
            <p:ph type="title"/>
          </p:nvPr>
        </p:nvSpPr>
        <p:spPr>
          <a:xfrm>
            <a:off x="4460511" y="143109"/>
            <a:ext cx="3871851" cy="280728"/>
          </a:xfrm>
        </p:spPr>
        <p:txBody>
          <a:bodyPr>
            <a:normAutofit fontScale="90000"/>
          </a:bodyPr>
          <a:lstStyle/>
          <a:p>
            <a:r>
              <a:rPr lang="es-MX" sz="2500" dirty="0"/>
              <a:t>4. Consumo del microservicio</a:t>
            </a:r>
          </a:p>
        </p:txBody>
      </p:sp>
      <p:sp>
        <p:nvSpPr>
          <p:cNvPr id="5" name="CuadroTexto 4">
            <a:extLst>
              <a:ext uri="{FF2B5EF4-FFF2-40B4-BE49-F238E27FC236}">
                <a16:creationId xmlns:a16="http://schemas.microsoft.com/office/drawing/2014/main" id="{9ACF4820-92D7-29AD-1BD1-D1229961C73A}"/>
              </a:ext>
            </a:extLst>
          </p:cNvPr>
          <p:cNvSpPr txBox="1"/>
          <p:nvPr/>
        </p:nvSpPr>
        <p:spPr>
          <a:xfrm>
            <a:off x="160791" y="591239"/>
            <a:ext cx="3901822" cy="923330"/>
          </a:xfrm>
          <a:prstGeom prst="rect">
            <a:avLst/>
          </a:prstGeom>
          <a:noFill/>
        </p:spPr>
        <p:txBody>
          <a:bodyPr wrap="square">
            <a:spAutoFit/>
          </a:bodyPr>
          <a:lstStyle/>
          <a:p>
            <a:r>
              <a:rPr lang="es-MX" dirty="0"/>
              <a:t>Se accedió al módulo encargado de mostrar la información de los estudiantes registrados.</a:t>
            </a:r>
          </a:p>
        </p:txBody>
      </p:sp>
      <p:grpSp>
        <p:nvGrpSpPr>
          <p:cNvPr id="20" name="Grupo 19">
            <a:extLst>
              <a:ext uri="{FF2B5EF4-FFF2-40B4-BE49-F238E27FC236}">
                <a16:creationId xmlns:a16="http://schemas.microsoft.com/office/drawing/2014/main" id="{B840323F-00FD-B86B-7D25-6CCD148B55B7}"/>
              </a:ext>
            </a:extLst>
          </p:cNvPr>
          <p:cNvGrpSpPr/>
          <p:nvPr/>
        </p:nvGrpSpPr>
        <p:grpSpPr>
          <a:xfrm>
            <a:off x="228348" y="1586657"/>
            <a:ext cx="3766709" cy="2561697"/>
            <a:chOff x="348342" y="655320"/>
            <a:chExt cx="12192000" cy="6202680"/>
          </a:xfrm>
        </p:grpSpPr>
        <p:pic>
          <p:nvPicPr>
            <p:cNvPr id="10" name="Imagen 9">
              <a:extLst>
                <a:ext uri="{FF2B5EF4-FFF2-40B4-BE49-F238E27FC236}">
                  <a16:creationId xmlns:a16="http://schemas.microsoft.com/office/drawing/2014/main" id="{ADDB1200-F64D-3B05-8553-59FCAC6B8F5C}"/>
                </a:ext>
              </a:extLst>
            </p:cNvPr>
            <p:cNvPicPr>
              <a:picLocks noChangeAspect="1"/>
            </p:cNvPicPr>
            <p:nvPr/>
          </p:nvPicPr>
          <p:blipFill>
            <a:blip r:embed="rId2"/>
            <a:stretch>
              <a:fillRect/>
            </a:stretch>
          </p:blipFill>
          <p:spPr>
            <a:xfrm>
              <a:off x="348342" y="655320"/>
              <a:ext cx="12192000" cy="6202680"/>
            </a:xfrm>
            <a:prstGeom prst="rect">
              <a:avLst/>
            </a:prstGeom>
            <a:solidFill>
              <a:srgbClr val="E9E8ED"/>
            </a:solidFill>
            <a:ln>
              <a:solidFill>
                <a:srgbClr val="FEFEFE"/>
              </a:solidFill>
            </a:ln>
          </p:spPr>
        </p:pic>
        <p:sp>
          <p:nvSpPr>
            <p:cNvPr id="12" name="Forma libre: forma 11">
              <a:extLst>
                <a:ext uri="{FF2B5EF4-FFF2-40B4-BE49-F238E27FC236}">
                  <a16:creationId xmlns:a16="http://schemas.microsoft.com/office/drawing/2014/main" id="{DD1229F8-998B-7471-B24C-01CC4290104D}"/>
                </a:ext>
              </a:extLst>
            </p:cNvPr>
            <p:cNvSpPr/>
            <p:nvPr/>
          </p:nvSpPr>
          <p:spPr>
            <a:xfrm rot="15933753">
              <a:off x="5039267" y="3347394"/>
              <a:ext cx="104233" cy="55033"/>
            </a:xfrm>
            <a:custGeom>
              <a:avLst/>
              <a:gdLst>
                <a:gd name="connsiteX0" fmla="*/ 101600 w 589466"/>
                <a:gd name="connsiteY0" fmla="*/ 81751 h 90186"/>
                <a:gd name="connsiteX1" fmla="*/ 402167 w 589466"/>
                <a:gd name="connsiteY1" fmla="*/ 69051 h 90186"/>
                <a:gd name="connsiteX2" fmla="*/ 550333 w 589466"/>
                <a:gd name="connsiteY2" fmla="*/ 77517 h 90186"/>
                <a:gd name="connsiteX3" fmla="*/ 313267 w 589466"/>
                <a:gd name="connsiteY3" fmla="*/ 47884 h 90186"/>
                <a:gd name="connsiteX4" fmla="*/ 241300 w 589466"/>
                <a:gd name="connsiteY4" fmla="*/ 9784 h 90186"/>
                <a:gd name="connsiteX5" fmla="*/ 368300 w 589466"/>
                <a:gd name="connsiteY5" fmla="*/ 26717 h 90186"/>
                <a:gd name="connsiteX6" fmla="*/ 410633 w 589466"/>
                <a:gd name="connsiteY6" fmla="*/ 43651 h 90186"/>
                <a:gd name="connsiteX7" fmla="*/ 118533 w 589466"/>
                <a:gd name="connsiteY7" fmla="*/ 52117 h 90186"/>
                <a:gd name="connsiteX8" fmla="*/ 364067 w 589466"/>
                <a:gd name="connsiteY8" fmla="*/ 14017 h 90186"/>
                <a:gd name="connsiteX9" fmla="*/ 550333 w 589466"/>
                <a:gd name="connsiteY9" fmla="*/ 9784 h 90186"/>
                <a:gd name="connsiteX10" fmla="*/ 448733 w 589466"/>
                <a:gd name="connsiteY10" fmla="*/ 26717 h 90186"/>
                <a:gd name="connsiteX11" fmla="*/ 321733 w 589466"/>
                <a:gd name="connsiteY11" fmla="*/ 47884 h 90186"/>
                <a:gd name="connsiteX12" fmla="*/ 410633 w 589466"/>
                <a:gd name="connsiteY12" fmla="*/ 52117 h 90186"/>
                <a:gd name="connsiteX13" fmla="*/ 304800 w 589466"/>
                <a:gd name="connsiteY13" fmla="*/ 73284 h 90186"/>
                <a:gd name="connsiteX14" fmla="*/ 419100 w 589466"/>
                <a:gd name="connsiteY14" fmla="*/ 77517 h 90186"/>
                <a:gd name="connsiteX15" fmla="*/ 448733 w 589466"/>
                <a:gd name="connsiteY15" fmla="*/ 64817 h 90186"/>
                <a:gd name="connsiteX16" fmla="*/ 220133 w 589466"/>
                <a:gd name="connsiteY16" fmla="*/ 69051 h 90186"/>
                <a:gd name="connsiteX17" fmla="*/ 381000 w 589466"/>
                <a:gd name="connsiteY17" fmla="*/ 39417 h 90186"/>
                <a:gd name="connsiteX18" fmla="*/ 469900 w 589466"/>
                <a:gd name="connsiteY18" fmla="*/ 43651 h 90186"/>
                <a:gd name="connsiteX19" fmla="*/ 232833 w 589466"/>
                <a:gd name="connsiteY19" fmla="*/ 52117 h 90186"/>
                <a:gd name="connsiteX20" fmla="*/ 16933 w 589466"/>
                <a:gd name="connsiteY20" fmla="*/ 81751 h 90186"/>
                <a:gd name="connsiteX21" fmla="*/ 165100 w 589466"/>
                <a:gd name="connsiteY21" fmla="*/ 56351 h 90186"/>
                <a:gd name="connsiteX22" fmla="*/ 232833 w 589466"/>
                <a:gd name="connsiteY22" fmla="*/ 60584 h 90186"/>
                <a:gd name="connsiteX23" fmla="*/ 97367 w 589466"/>
                <a:gd name="connsiteY23" fmla="*/ 64817 h 90186"/>
                <a:gd name="connsiteX24" fmla="*/ 12700 w 589466"/>
                <a:gd name="connsiteY24" fmla="*/ 60584 h 90186"/>
                <a:gd name="connsiteX25" fmla="*/ 63500 w 589466"/>
                <a:gd name="connsiteY25" fmla="*/ 47884 h 90186"/>
                <a:gd name="connsiteX26" fmla="*/ 93133 w 589466"/>
                <a:gd name="connsiteY26" fmla="*/ 52117 h 90186"/>
                <a:gd name="connsiteX27" fmla="*/ 46567 w 589466"/>
                <a:gd name="connsiteY27" fmla="*/ 30951 h 90186"/>
                <a:gd name="connsiteX28" fmla="*/ 0 w 589466"/>
                <a:gd name="connsiteY28" fmla="*/ 26717 h 90186"/>
                <a:gd name="connsiteX29" fmla="*/ 67733 w 589466"/>
                <a:gd name="connsiteY29" fmla="*/ 9784 h 90186"/>
                <a:gd name="connsiteX30" fmla="*/ 152400 w 589466"/>
                <a:gd name="connsiteY30" fmla="*/ 14017 h 90186"/>
                <a:gd name="connsiteX31" fmla="*/ 71967 w 589466"/>
                <a:gd name="connsiteY31" fmla="*/ 26717 h 90186"/>
                <a:gd name="connsiteX32" fmla="*/ 80433 w 589466"/>
                <a:gd name="connsiteY32" fmla="*/ 39417 h 90186"/>
                <a:gd name="connsiteX33" fmla="*/ 55033 w 589466"/>
                <a:gd name="connsiteY33" fmla="*/ 52117 h 90186"/>
                <a:gd name="connsiteX34" fmla="*/ 16933 w 589466"/>
                <a:gd name="connsiteY34" fmla="*/ 43651 h 90186"/>
                <a:gd name="connsiteX35" fmla="*/ 4233 w 589466"/>
                <a:gd name="connsiteY35" fmla="*/ 60584 h 90186"/>
                <a:gd name="connsiteX36" fmla="*/ 38100 w 589466"/>
                <a:gd name="connsiteY36" fmla="*/ 85984 h 90186"/>
                <a:gd name="connsiteX37" fmla="*/ 67733 w 589466"/>
                <a:gd name="connsiteY37" fmla="*/ 77517 h 90186"/>
                <a:gd name="connsiteX38" fmla="*/ 105833 w 589466"/>
                <a:gd name="connsiteY38" fmla="*/ 22484 h 90186"/>
                <a:gd name="connsiteX39" fmla="*/ 131233 w 589466"/>
                <a:gd name="connsiteY39" fmla="*/ 39417 h 90186"/>
                <a:gd name="connsiteX40" fmla="*/ 139700 w 589466"/>
                <a:gd name="connsiteY40" fmla="*/ 52117 h 90186"/>
                <a:gd name="connsiteX41" fmla="*/ 182033 w 589466"/>
                <a:gd name="connsiteY41" fmla="*/ 30951 h 90186"/>
                <a:gd name="connsiteX42" fmla="*/ 198967 w 589466"/>
                <a:gd name="connsiteY42" fmla="*/ 26717 h 90186"/>
                <a:gd name="connsiteX43" fmla="*/ 211667 w 589466"/>
                <a:gd name="connsiteY43" fmla="*/ 39417 h 90186"/>
                <a:gd name="connsiteX44" fmla="*/ 160867 w 589466"/>
                <a:gd name="connsiteY44" fmla="*/ 43651 h 90186"/>
                <a:gd name="connsiteX45" fmla="*/ 321733 w 589466"/>
                <a:gd name="connsiteY45" fmla="*/ 14017 h 90186"/>
                <a:gd name="connsiteX46" fmla="*/ 465667 w 589466"/>
                <a:gd name="connsiteY46" fmla="*/ 18251 h 90186"/>
                <a:gd name="connsiteX47" fmla="*/ 508000 w 589466"/>
                <a:gd name="connsiteY47" fmla="*/ 26717 h 90186"/>
                <a:gd name="connsiteX48" fmla="*/ 537633 w 589466"/>
                <a:gd name="connsiteY48" fmla="*/ 39417 h 90186"/>
                <a:gd name="connsiteX49" fmla="*/ 491067 w 589466"/>
                <a:gd name="connsiteY49" fmla="*/ 56351 h 90186"/>
                <a:gd name="connsiteX50" fmla="*/ 469900 w 589466"/>
                <a:gd name="connsiteY50" fmla="*/ 69051 h 90186"/>
                <a:gd name="connsiteX51" fmla="*/ 452967 w 589466"/>
                <a:gd name="connsiteY51" fmla="*/ 73284 h 90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89466" h="90186">
                  <a:moveTo>
                    <a:pt x="101600" y="81751"/>
                  </a:moveTo>
                  <a:cubicBezTo>
                    <a:pt x="214694" y="67612"/>
                    <a:pt x="194701" y="69051"/>
                    <a:pt x="402167" y="69051"/>
                  </a:cubicBezTo>
                  <a:cubicBezTo>
                    <a:pt x="451636" y="69051"/>
                    <a:pt x="500944" y="74695"/>
                    <a:pt x="550333" y="77517"/>
                  </a:cubicBezTo>
                  <a:cubicBezTo>
                    <a:pt x="471311" y="67639"/>
                    <a:pt x="383649" y="85145"/>
                    <a:pt x="313267" y="47884"/>
                  </a:cubicBezTo>
                  <a:cubicBezTo>
                    <a:pt x="289278" y="35184"/>
                    <a:pt x="215966" y="19528"/>
                    <a:pt x="241300" y="9784"/>
                  </a:cubicBezTo>
                  <a:cubicBezTo>
                    <a:pt x="281161" y="-5548"/>
                    <a:pt x="325967" y="21073"/>
                    <a:pt x="368300" y="26717"/>
                  </a:cubicBezTo>
                  <a:cubicBezTo>
                    <a:pt x="382411" y="32362"/>
                    <a:pt x="425753" y="42113"/>
                    <a:pt x="410633" y="43651"/>
                  </a:cubicBezTo>
                  <a:cubicBezTo>
                    <a:pt x="313725" y="53506"/>
                    <a:pt x="200711" y="104414"/>
                    <a:pt x="118533" y="52117"/>
                  </a:cubicBezTo>
                  <a:cubicBezTo>
                    <a:pt x="48658" y="7650"/>
                    <a:pt x="281638" y="22098"/>
                    <a:pt x="364067" y="14017"/>
                  </a:cubicBezTo>
                  <a:cubicBezTo>
                    <a:pt x="425875" y="7957"/>
                    <a:pt x="488244" y="11195"/>
                    <a:pt x="550333" y="9784"/>
                  </a:cubicBezTo>
                  <a:cubicBezTo>
                    <a:pt x="634318" y="20281"/>
                    <a:pt x="575138" y="10407"/>
                    <a:pt x="448733" y="26717"/>
                  </a:cubicBezTo>
                  <a:cubicBezTo>
                    <a:pt x="406169" y="32209"/>
                    <a:pt x="364066" y="40828"/>
                    <a:pt x="321733" y="47884"/>
                  </a:cubicBezTo>
                  <a:cubicBezTo>
                    <a:pt x="351366" y="49295"/>
                    <a:pt x="427089" y="27432"/>
                    <a:pt x="410633" y="52117"/>
                  </a:cubicBezTo>
                  <a:cubicBezTo>
                    <a:pt x="390677" y="82051"/>
                    <a:pt x="293423" y="39154"/>
                    <a:pt x="304800" y="73284"/>
                  </a:cubicBezTo>
                  <a:cubicBezTo>
                    <a:pt x="316857" y="109453"/>
                    <a:pt x="381000" y="76106"/>
                    <a:pt x="419100" y="77517"/>
                  </a:cubicBezTo>
                  <a:cubicBezTo>
                    <a:pt x="297670" y="92698"/>
                    <a:pt x="500988" y="68837"/>
                    <a:pt x="448733" y="64817"/>
                  </a:cubicBezTo>
                  <a:cubicBezTo>
                    <a:pt x="372744" y="58972"/>
                    <a:pt x="296333" y="67640"/>
                    <a:pt x="220133" y="69051"/>
                  </a:cubicBezTo>
                  <a:cubicBezTo>
                    <a:pt x="273755" y="59173"/>
                    <a:pt x="326755" y="44933"/>
                    <a:pt x="381000" y="39417"/>
                  </a:cubicBezTo>
                  <a:cubicBezTo>
                    <a:pt x="410515" y="36416"/>
                    <a:pt x="499459" y="41117"/>
                    <a:pt x="469900" y="43651"/>
                  </a:cubicBezTo>
                  <a:cubicBezTo>
                    <a:pt x="391116" y="50404"/>
                    <a:pt x="311855" y="49295"/>
                    <a:pt x="232833" y="52117"/>
                  </a:cubicBezTo>
                  <a:cubicBezTo>
                    <a:pt x="160866" y="61995"/>
                    <a:pt x="89433" y="77219"/>
                    <a:pt x="16933" y="81751"/>
                  </a:cubicBezTo>
                  <a:cubicBezTo>
                    <a:pt x="-33079" y="84877"/>
                    <a:pt x="115230" y="61240"/>
                    <a:pt x="165100" y="56351"/>
                  </a:cubicBezTo>
                  <a:cubicBezTo>
                    <a:pt x="187614" y="54144"/>
                    <a:pt x="210255" y="59173"/>
                    <a:pt x="232833" y="60584"/>
                  </a:cubicBezTo>
                  <a:cubicBezTo>
                    <a:pt x="187678" y="61995"/>
                    <a:pt x="142544" y="64817"/>
                    <a:pt x="97367" y="64817"/>
                  </a:cubicBezTo>
                  <a:cubicBezTo>
                    <a:pt x="69109" y="64817"/>
                    <a:pt x="37975" y="73221"/>
                    <a:pt x="12700" y="60584"/>
                  </a:cubicBezTo>
                  <a:cubicBezTo>
                    <a:pt x="-2912" y="52778"/>
                    <a:pt x="46567" y="52117"/>
                    <a:pt x="63500" y="47884"/>
                  </a:cubicBezTo>
                  <a:cubicBezTo>
                    <a:pt x="73378" y="49295"/>
                    <a:pt x="100188" y="59172"/>
                    <a:pt x="93133" y="52117"/>
                  </a:cubicBezTo>
                  <a:cubicBezTo>
                    <a:pt x="81077" y="40061"/>
                    <a:pt x="63016" y="35437"/>
                    <a:pt x="46567" y="30951"/>
                  </a:cubicBezTo>
                  <a:cubicBezTo>
                    <a:pt x="31530" y="26850"/>
                    <a:pt x="15522" y="28128"/>
                    <a:pt x="0" y="26717"/>
                  </a:cubicBezTo>
                  <a:cubicBezTo>
                    <a:pt x="22578" y="21073"/>
                    <a:pt x="44541" y="11717"/>
                    <a:pt x="67733" y="9784"/>
                  </a:cubicBezTo>
                  <a:cubicBezTo>
                    <a:pt x="95893" y="7437"/>
                    <a:pt x="145545" y="-13397"/>
                    <a:pt x="152400" y="14017"/>
                  </a:cubicBezTo>
                  <a:cubicBezTo>
                    <a:pt x="158984" y="40349"/>
                    <a:pt x="98778" y="22484"/>
                    <a:pt x="71967" y="26717"/>
                  </a:cubicBezTo>
                  <a:cubicBezTo>
                    <a:pt x="74789" y="30950"/>
                    <a:pt x="83255" y="35184"/>
                    <a:pt x="80433" y="39417"/>
                  </a:cubicBezTo>
                  <a:cubicBezTo>
                    <a:pt x="75182" y="47293"/>
                    <a:pt x="64370" y="50561"/>
                    <a:pt x="55033" y="52117"/>
                  </a:cubicBezTo>
                  <a:cubicBezTo>
                    <a:pt x="45100" y="53773"/>
                    <a:pt x="27447" y="47155"/>
                    <a:pt x="16933" y="43651"/>
                  </a:cubicBezTo>
                  <a:cubicBezTo>
                    <a:pt x="12700" y="49295"/>
                    <a:pt x="4233" y="53529"/>
                    <a:pt x="4233" y="60584"/>
                  </a:cubicBezTo>
                  <a:cubicBezTo>
                    <a:pt x="4233" y="84641"/>
                    <a:pt x="23208" y="83006"/>
                    <a:pt x="38100" y="85984"/>
                  </a:cubicBezTo>
                  <a:cubicBezTo>
                    <a:pt x="47978" y="83162"/>
                    <a:pt x="59449" y="83592"/>
                    <a:pt x="67733" y="77517"/>
                  </a:cubicBezTo>
                  <a:cubicBezTo>
                    <a:pt x="100942" y="53164"/>
                    <a:pt x="99028" y="49706"/>
                    <a:pt x="105833" y="22484"/>
                  </a:cubicBezTo>
                  <a:cubicBezTo>
                    <a:pt x="114300" y="28128"/>
                    <a:pt x="123575" y="32716"/>
                    <a:pt x="131233" y="39417"/>
                  </a:cubicBezTo>
                  <a:cubicBezTo>
                    <a:pt x="135062" y="42767"/>
                    <a:pt x="134681" y="52953"/>
                    <a:pt x="139700" y="52117"/>
                  </a:cubicBezTo>
                  <a:cubicBezTo>
                    <a:pt x="155262" y="49524"/>
                    <a:pt x="167532" y="37166"/>
                    <a:pt x="182033" y="30951"/>
                  </a:cubicBezTo>
                  <a:cubicBezTo>
                    <a:pt x="187381" y="28659"/>
                    <a:pt x="193322" y="28128"/>
                    <a:pt x="198967" y="26717"/>
                  </a:cubicBezTo>
                  <a:cubicBezTo>
                    <a:pt x="268659" y="57693"/>
                    <a:pt x="236108" y="39417"/>
                    <a:pt x="211667" y="39417"/>
                  </a:cubicBezTo>
                  <a:cubicBezTo>
                    <a:pt x="194675" y="39417"/>
                    <a:pt x="177800" y="42240"/>
                    <a:pt x="160867" y="43651"/>
                  </a:cubicBezTo>
                  <a:cubicBezTo>
                    <a:pt x="9962" y="38447"/>
                    <a:pt x="-157372" y="37734"/>
                    <a:pt x="321733" y="14017"/>
                  </a:cubicBezTo>
                  <a:cubicBezTo>
                    <a:pt x="369673" y="11644"/>
                    <a:pt x="417689" y="16840"/>
                    <a:pt x="465667" y="18251"/>
                  </a:cubicBezTo>
                  <a:cubicBezTo>
                    <a:pt x="273985" y="-918"/>
                    <a:pt x="450035" y="15751"/>
                    <a:pt x="508000" y="26717"/>
                  </a:cubicBezTo>
                  <a:cubicBezTo>
                    <a:pt x="518559" y="28715"/>
                    <a:pt x="527755" y="35184"/>
                    <a:pt x="537633" y="39417"/>
                  </a:cubicBezTo>
                  <a:cubicBezTo>
                    <a:pt x="522111" y="45062"/>
                    <a:pt x="506199" y="49731"/>
                    <a:pt x="491067" y="56351"/>
                  </a:cubicBezTo>
                  <a:cubicBezTo>
                    <a:pt x="483529" y="59649"/>
                    <a:pt x="477419" y="65709"/>
                    <a:pt x="469900" y="69051"/>
                  </a:cubicBezTo>
                  <a:cubicBezTo>
                    <a:pt x="464583" y="71414"/>
                    <a:pt x="452967" y="73284"/>
                    <a:pt x="452967" y="73284"/>
                  </a:cubicBezTo>
                </a:path>
              </a:pathLst>
            </a:custGeom>
            <a:solidFill>
              <a:srgbClr val="FFFFFF"/>
            </a:solidFill>
            <a:ln>
              <a:solidFill>
                <a:srgbClr val="E9E8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Forma libre: forma 15">
              <a:extLst>
                <a:ext uri="{FF2B5EF4-FFF2-40B4-BE49-F238E27FC236}">
                  <a16:creationId xmlns:a16="http://schemas.microsoft.com/office/drawing/2014/main" id="{73233053-F375-72E7-9B1F-BDD9B91D1087}"/>
                </a:ext>
              </a:extLst>
            </p:cNvPr>
            <p:cNvSpPr/>
            <p:nvPr/>
          </p:nvSpPr>
          <p:spPr>
            <a:xfrm>
              <a:off x="8009467" y="2908300"/>
              <a:ext cx="1279735" cy="169333"/>
            </a:xfrm>
            <a:custGeom>
              <a:avLst/>
              <a:gdLst>
                <a:gd name="connsiteX0" fmla="*/ 736600 w 1279735"/>
                <a:gd name="connsiteY0" fmla="*/ 71967 h 169333"/>
                <a:gd name="connsiteX1" fmla="*/ 804333 w 1279735"/>
                <a:gd name="connsiteY1" fmla="*/ 101600 h 169333"/>
                <a:gd name="connsiteX2" fmla="*/ 829733 w 1279735"/>
                <a:gd name="connsiteY2" fmla="*/ 114300 h 169333"/>
                <a:gd name="connsiteX3" fmla="*/ 859366 w 1279735"/>
                <a:gd name="connsiteY3" fmla="*/ 118533 h 169333"/>
                <a:gd name="connsiteX4" fmla="*/ 969433 w 1279735"/>
                <a:gd name="connsiteY4" fmla="*/ 131233 h 169333"/>
                <a:gd name="connsiteX5" fmla="*/ 1058333 w 1279735"/>
                <a:gd name="connsiteY5" fmla="*/ 139700 h 169333"/>
                <a:gd name="connsiteX6" fmla="*/ 1126066 w 1279735"/>
                <a:gd name="connsiteY6" fmla="*/ 152400 h 169333"/>
                <a:gd name="connsiteX7" fmla="*/ 1231900 w 1279735"/>
                <a:gd name="connsiteY7" fmla="*/ 143933 h 169333"/>
                <a:gd name="connsiteX8" fmla="*/ 1248833 w 1279735"/>
                <a:gd name="connsiteY8" fmla="*/ 139700 h 169333"/>
                <a:gd name="connsiteX9" fmla="*/ 1274233 w 1279735"/>
                <a:gd name="connsiteY9" fmla="*/ 122767 h 169333"/>
                <a:gd name="connsiteX10" fmla="*/ 1265766 w 1279735"/>
                <a:gd name="connsiteY10" fmla="*/ 67733 h 169333"/>
                <a:gd name="connsiteX11" fmla="*/ 1253066 w 1279735"/>
                <a:gd name="connsiteY11" fmla="*/ 59267 h 169333"/>
                <a:gd name="connsiteX12" fmla="*/ 1227666 w 1279735"/>
                <a:gd name="connsiteY12" fmla="*/ 50800 h 169333"/>
                <a:gd name="connsiteX13" fmla="*/ 1155700 w 1279735"/>
                <a:gd name="connsiteY13" fmla="*/ 33867 h 169333"/>
                <a:gd name="connsiteX14" fmla="*/ 1138766 w 1279735"/>
                <a:gd name="connsiteY14" fmla="*/ 29633 h 169333"/>
                <a:gd name="connsiteX15" fmla="*/ 719666 w 1279735"/>
                <a:gd name="connsiteY15" fmla="*/ 25400 h 169333"/>
                <a:gd name="connsiteX16" fmla="*/ 613833 w 1279735"/>
                <a:gd name="connsiteY16" fmla="*/ 21167 h 169333"/>
                <a:gd name="connsiteX17" fmla="*/ 541866 w 1279735"/>
                <a:gd name="connsiteY17" fmla="*/ 12700 h 169333"/>
                <a:gd name="connsiteX18" fmla="*/ 325966 w 1279735"/>
                <a:gd name="connsiteY18" fmla="*/ 0 h 169333"/>
                <a:gd name="connsiteX19" fmla="*/ 46566 w 1279735"/>
                <a:gd name="connsiteY19" fmla="*/ 12700 h 169333"/>
                <a:gd name="connsiteX20" fmla="*/ 21166 w 1279735"/>
                <a:gd name="connsiteY20" fmla="*/ 33867 h 169333"/>
                <a:gd name="connsiteX21" fmla="*/ 0 w 1279735"/>
                <a:gd name="connsiteY21" fmla="*/ 71967 h 169333"/>
                <a:gd name="connsiteX22" fmla="*/ 8466 w 1279735"/>
                <a:gd name="connsiteY22" fmla="*/ 122767 h 169333"/>
                <a:gd name="connsiteX23" fmla="*/ 21166 w 1279735"/>
                <a:gd name="connsiteY23" fmla="*/ 127000 h 169333"/>
                <a:gd name="connsiteX24" fmla="*/ 67733 w 1279735"/>
                <a:gd name="connsiteY24" fmla="*/ 143933 h 169333"/>
                <a:gd name="connsiteX25" fmla="*/ 160866 w 1279735"/>
                <a:gd name="connsiteY25" fmla="*/ 156633 h 169333"/>
                <a:gd name="connsiteX26" fmla="*/ 419100 w 1279735"/>
                <a:gd name="connsiteY26" fmla="*/ 148167 h 169333"/>
                <a:gd name="connsiteX27" fmla="*/ 499533 w 1279735"/>
                <a:gd name="connsiteY27" fmla="*/ 131233 h 169333"/>
                <a:gd name="connsiteX28" fmla="*/ 601133 w 1279735"/>
                <a:gd name="connsiteY28" fmla="*/ 118533 h 169333"/>
                <a:gd name="connsiteX29" fmla="*/ 635000 w 1279735"/>
                <a:gd name="connsiteY29" fmla="*/ 101600 h 169333"/>
                <a:gd name="connsiteX30" fmla="*/ 660400 w 1279735"/>
                <a:gd name="connsiteY30" fmla="*/ 93133 h 169333"/>
                <a:gd name="connsiteX31" fmla="*/ 736600 w 1279735"/>
                <a:gd name="connsiteY31" fmla="*/ 80433 h 169333"/>
                <a:gd name="connsiteX32" fmla="*/ 821266 w 1279735"/>
                <a:gd name="connsiteY32" fmla="*/ 84667 h 169333"/>
                <a:gd name="connsiteX33" fmla="*/ 749300 w 1279735"/>
                <a:gd name="connsiteY33" fmla="*/ 131233 h 169333"/>
                <a:gd name="connsiteX34" fmla="*/ 715433 w 1279735"/>
                <a:gd name="connsiteY34" fmla="*/ 135467 h 169333"/>
                <a:gd name="connsiteX35" fmla="*/ 541866 w 1279735"/>
                <a:gd name="connsiteY35" fmla="*/ 139700 h 169333"/>
                <a:gd name="connsiteX36" fmla="*/ 774700 w 1279735"/>
                <a:gd name="connsiteY36" fmla="*/ 135467 h 169333"/>
                <a:gd name="connsiteX37" fmla="*/ 800100 w 1279735"/>
                <a:gd name="connsiteY37" fmla="*/ 131233 h 169333"/>
                <a:gd name="connsiteX38" fmla="*/ 821266 w 1279735"/>
                <a:gd name="connsiteY38" fmla="*/ 127000 h 169333"/>
                <a:gd name="connsiteX39" fmla="*/ 635000 w 1279735"/>
                <a:gd name="connsiteY39" fmla="*/ 131233 h 169333"/>
                <a:gd name="connsiteX40" fmla="*/ 588433 w 1279735"/>
                <a:gd name="connsiteY40" fmla="*/ 143933 h 169333"/>
                <a:gd name="connsiteX41" fmla="*/ 563033 w 1279735"/>
                <a:gd name="connsiteY41" fmla="*/ 156633 h 169333"/>
                <a:gd name="connsiteX42" fmla="*/ 541866 w 1279735"/>
                <a:gd name="connsiteY42" fmla="*/ 160867 h 169333"/>
                <a:gd name="connsiteX43" fmla="*/ 474133 w 1279735"/>
                <a:gd name="connsiteY43" fmla="*/ 169333 h 169333"/>
                <a:gd name="connsiteX44" fmla="*/ 228600 w 1279735"/>
                <a:gd name="connsiteY44" fmla="*/ 165100 h 169333"/>
                <a:gd name="connsiteX45" fmla="*/ 224366 w 1279735"/>
                <a:gd name="connsiteY45" fmla="*/ 152400 h 169333"/>
                <a:gd name="connsiteX46" fmla="*/ 211666 w 1279735"/>
                <a:gd name="connsiteY46" fmla="*/ 143933 h 169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279735" h="169333">
                  <a:moveTo>
                    <a:pt x="736600" y="71967"/>
                  </a:moveTo>
                  <a:cubicBezTo>
                    <a:pt x="794698" y="101016"/>
                    <a:pt x="722538" y="65815"/>
                    <a:pt x="804333" y="101600"/>
                  </a:cubicBezTo>
                  <a:cubicBezTo>
                    <a:pt x="813005" y="105394"/>
                    <a:pt x="820686" y="111516"/>
                    <a:pt x="829733" y="114300"/>
                  </a:cubicBezTo>
                  <a:cubicBezTo>
                    <a:pt x="839270" y="117234"/>
                    <a:pt x="849488" y="117122"/>
                    <a:pt x="859366" y="118533"/>
                  </a:cubicBezTo>
                  <a:cubicBezTo>
                    <a:pt x="918500" y="135429"/>
                    <a:pt x="869112" y="123709"/>
                    <a:pt x="969433" y="131233"/>
                  </a:cubicBezTo>
                  <a:cubicBezTo>
                    <a:pt x="999117" y="133459"/>
                    <a:pt x="1058333" y="139700"/>
                    <a:pt x="1058333" y="139700"/>
                  </a:cubicBezTo>
                  <a:cubicBezTo>
                    <a:pt x="1077502" y="144492"/>
                    <a:pt x="1105813" y="153014"/>
                    <a:pt x="1126066" y="152400"/>
                  </a:cubicBezTo>
                  <a:cubicBezTo>
                    <a:pt x="1161440" y="151328"/>
                    <a:pt x="1196622" y="146755"/>
                    <a:pt x="1231900" y="143933"/>
                  </a:cubicBezTo>
                  <a:cubicBezTo>
                    <a:pt x="1237544" y="142522"/>
                    <a:pt x="1243782" y="142587"/>
                    <a:pt x="1248833" y="139700"/>
                  </a:cubicBezTo>
                  <a:cubicBezTo>
                    <a:pt x="1293226" y="114333"/>
                    <a:pt x="1234583" y="135983"/>
                    <a:pt x="1274233" y="122767"/>
                  </a:cubicBezTo>
                  <a:cubicBezTo>
                    <a:pt x="1281995" y="99479"/>
                    <a:pt x="1283477" y="103155"/>
                    <a:pt x="1265766" y="67733"/>
                  </a:cubicBezTo>
                  <a:cubicBezTo>
                    <a:pt x="1263491" y="63182"/>
                    <a:pt x="1257715" y="61333"/>
                    <a:pt x="1253066" y="59267"/>
                  </a:cubicBezTo>
                  <a:cubicBezTo>
                    <a:pt x="1244910" y="55642"/>
                    <a:pt x="1227666" y="50800"/>
                    <a:pt x="1227666" y="50800"/>
                  </a:cubicBezTo>
                  <a:cubicBezTo>
                    <a:pt x="1194481" y="25911"/>
                    <a:pt x="1221766" y="41640"/>
                    <a:pt x="1155700" y="33867"/>
                  </a:cubicBezTo>
                  <a:cubicBezTo>
                    <a:pt x="1149921" y="33187"/>
                    <a:pt x="1144583" y="29746"/>
                    <a:pt x="1138766" y="29633"/>
                  </a:cubicBezTo>
                  <a:lnTo>
                    <a:pt x="719666" y="25400"/>
                  </a:lnTo>
                  <a:lnTo>
                    <a:pt x="613833" y="21167"/>
                  </a:lnTo>
                  <a:cubicBezTo>
                    <a:pt x="519165" y="15598"/>
                    <a:pt x="628710" y="18588"/>
                    <a:pt x="541866" y="12700"/>
                  </a:cubicBezTo>
                  <a:lnTo>
                    <a:pt x="325966" y="0"/>
                  </a:lnTo>
                  <a:cubicBezTo>
                    <a:pt x="232833" y="4233"/>
                    <a:pt x="139559" y="6058"/>
                    <a:pt x="46566" y="12700"/>
                  </a:cubicBezTo>
                  <a:cubicBezTo>
                    <a:pt x="32986" y="13670"/>
                    <a:pt x="26761" y="23795"/>
                    <a:pt x="21166" y="33867"/>
                  </a:cubicBezTo>
                  <a:cubicBezTo>
                    <a:pt x="-3799" y="78803"/>
                    <a:pt x="19086" y="43336"/>
                    <a:pt x="0" y="71967"/>
                  </a:cubicBezTo>
                  <a:cubicBezTo>
                    <a:pt x="2822" y="88900"/>
                    <a:pt x="2304" y="106744"/>
                    <a:pt x="8466" y="122767"/>
                  </a:cubicBezTo>
                  <a:cubicBezTo>
                    <a:pt x="10068" y="126932"/>
                    <a:pt x="17292" y="124786"/>
                    <a:pt x="21166" y="127000"/>
                  </a:cubicBezTo>
                  <a:cubicBezTo>
                    <a:pt x="56464" y="147170"/>
                    <a:pt x="16434" y="136605"/>
                    <a:pt x="67733" y="143933"/>
                  </a:cubicBezTo>
                  <a:cubicBezTo>
                    <a:pt x="104696" y="162416"/>
                    <a:pt x="89341" y="157538"/>
                    <a:pt x="160866" y="156633"/>
                  </a:cubicBezTo>
                  <a:cubicBezTo>
                    <a:pt x="246983" y="155543"/>
                    <a:pt x="333022" y="150989"/>
                    <a:pt x="419100" y="148167"/>
                  </a:cubicBezTo>
                  <a:cubicBezTo>
                    <a:pt x="555753" y="135742"/>
                    <a:pt x="390673" y="154897"/>
                    <a:pt x="499533" y="131233"/>
                  </a:cubicBezTo>
                  <a:cubicBezTo>
                    <a:pt x="515442" y="127775"/>
                    <a:pt x="577867" y="121118"/>
                    <a:pt x="601133" y="118533"/>
                  </a:cubicBezTo>
                  <a:cubicBezTo>
                    <a:pt x="612422" y="112889"/>
                    <a:pt x="623399" y="106572"/>
                    <a:pt x="635000" y="101600"/>
                  </a:cubicBezTo>
                  <a:cubicBezTo>
                    <a:pt x="643203" y="98084"/>
                    <a:pt x="651742" y="95298"/>
                    <a:pt x="660400" y="93133"/>
                  </a:cubicBezTo>
                  <a:cubicBezTo>
                    <a:pt x="692485" y="85112"/>
                    <a:pt x="705375" y="84337"/>
                    <a:pt x="736600" y="80433"/>
                  </a:cubicBezTo>
                  <a:cubicBezTo>
                    <a:pt x="764822" y="81844"/>
                    <a:pt x="814413" y="57253"/>
                    <a:pt x="821266" y="84667"/>
                  </a:cubicBezTo>
                  <a:cubicBezTo>
                    <a:pt x="828196" y="112386"/>
                    <a:pt x="777652" y="127689"/>
                    <a:pt x="749300" y="131233"/>
                  </a:cubicBezTo>
                  <a:cubicBezTo>
                    <a:pt x="738011" y="132644"/>
                    <a:pt x="726800" y="135003"/>
                    <a:pt x="715433" y="135467"/>
                  </a:cubicBezTo>
                  <a:cubicBezTo>
                    <a:pt x="657608" y="137827"/>
                    <a:pt x="483993" y="139700"/>
                    <a:pt x="541866" y="139700"/>
                  </a:cubicBezTo>
                  <a:cubicBezTo>
                    <a:pt x="619490" y="139700"/>
                    <a:pt x="697089" y="136878"/>
                    <a:pt x="774700" y="135467"/>
                  </a:cubicBezTo>
                  <a:lnTo>
                    <a:pt x="800100" y="131233"/>
                  </a:lnTo>
                  <a:cubicBezTo>
                    <a:pt x="807179" y="129946"/>
                    <a:pt x="828461" y="127000"/>
                    <a:pt x="821266" y="127000"/>
                  </a:cubicBezTo>
                  <a:cubicBezTo>
                    <a:pt x="759161" y="127000"/>
                    <a:pt x="697089" y="129822"/>
                    <a:pt x="635000" y="131233"/>
                  </a:cubicBezTo>
                  <a:cubicBezTo>
                    <a:pt x="615078" y="135218"/>
                    <a:pt x="608260" y="135672"/>
                    <a:pt x="588433" y="143933"/>
                  </a:cubicBezTo>
                  <a:cubicBezTo>
                    <a:pt x="579695" y="147574"/>
                    <a:pt x="571929" y="153398"/>
                    <a:pt x="563033" y="156633"/>
                  </a:cubicBezTo>
                  <a:cubicBezTo>
                    <a:pt x="556271" y="159092"/>
                    <a:pt x="548890" y="159306"/>
                    <a:pt x="541866" y="160867"/>
                  </a:cubicBezTo>
                  <a:cubicBezTo>
                    <a:pt x="501771" y="169777"/>
                    <a:pt x="550232" y="162992"/>
                    <a:pt x="474133" y="169333"/>
                  </a:cubicBezTo>
                  <a:lnTo>
                    <a:pt x="228600" y="165100"/>
                  </a:lnTo>
                  <a:cubicBezTo>
                    <a:pt x="224148" y="164798"/>
                    <a:pt x="227521" y="155555"/>
                    <a:pt x="224366" y="152400"/>
                  </a:cubicBezTo>
                  <a:cubicBezTo>
                    <a:pt x="210327" y="138362"/>
                    <a:pt x="211666" y="155589"/>
                    <a:pt x="211666" y="143933"/>
                  </a:cubicBezTo>
                </a:path>
              </a:pathLst>
            </a:custGeom>
            <a:solidFill>
              <a:srgbClr val="E9E8ED"/>
            </a:solidFill>
            <a:ln>
              <a:solidFill>
                <a:srgbClr val="E9E8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Forma libre: forma 16">
              <a:extLst>
                <a:ext uri="{FF2B5EF4-FFF2-40B4-BE49-F238E27FC236}">
                  <a16:creationId xmlns:a16="http://schemas.microsoft.com/office/drawing/2014/main" id="{19A00EBC-5A95-C5E1-342A-EC8ABE825058}"/>
                </a:ext>
              </a:extLst>
            </p:cNvPr>
            <p:cNvSpPr/>
            <p:nvPr/>
          </p:nvSpPr>
          <p:spPr>
            <a:xfrm>
              <a:off x="3549002" y="2887133"/>
              <a:ext cx="955347" cy="194734"/>
            </a:xfrm>
            <a:custGeom>
              <a:avLst/>
              <a:gdLst>
                <a:gd name="connsiteX0" fmla="*/ 586965 w 955347"/>
                <a:gd name="connsiteY0" fmla="*/ 12700 h 194734"/>
                <a:gd name="connsiteX1" fmla="*/ 362598 w 955347"/>
                <a:gd name="connsiteY1" fmla="*/ 8467 h 194734"/>
                <a:gd name="connsiteX2" fmla="*/ 307565 w 955347"/>
                <a:gd name="connsiteY2" fmla="*/ 0 h 194734"/>
                <a:gd name="connsiteX3" fmla="*/ 40865 w 955347"/>
                <a:gd name="connsiteY3" fmla="*/ 4234 h 194734"/>
                <a:gd name="connsiteX4" fmla="*/ 28165 w 955347"/>
                <a:gd name="connsiteY4" fmla="*/ 16934 h 194734"/>
                <a:gd name="connsiteX5" fmla="*/ 15465 w 955347"/>
                <a:gd name="connsiteY5" fmla="*/ 25400 h 194734"/>
                <a:gd name="connsiteX6" fmla="*/ 6998 w 955347"/>
                <a:gd name="connsiteY6" fmla="*/ 46567 h 194734"/>
                <a:gd name="connsiteX7" fmla="*/ 6998 w 955347"/>
                <a:gd name="connsiteY7" fmla="*/ 173567 h 194734"/>
                <a:gd name="connsiteX8" fmla="*/ 19698 w 955347"/>
                <a:gd name="connsiteY8" fmla="*/ 182034 h 194734"/>
                <a:gd name="connsiteX9" fmla="*/ 36631 w 955347"/>
                <a:gd name="connsiteY9" fmla="*/ 186267 h 194734"/>
                <a:gd name="connsiteX10" fmla="*/ 62031 w 955347"/>
                <a:gd name="connsiteY10" fmla="*/ 194734 h 194734"/>
                <a:gd name="connsiteX11" fmla="*/ 857898 w 955347"/>
                <a:gd name="connsiteY11" fmla="*/ 190500 h 194734"/>
                <a:gd name="connsiteX12" fmla="*/ 912931 w 955347"/>
                <a:gd name="connsiteY12" fmla="*/ 169334 h 194734"/>
                <a:gd name="connsiteX13" fmla="*/ 946798 w 955347"/>
                <a:gd name="connsiteY13" fmla="*/ 152400 h 194734"/>
                <a:gd name="connsiteX14" fmla="*/ 955265 w 955347"/>
                <a:gd name="connsiteY14" fmla="*/ 127000 h 194734"/>
                <a:gd name="connsiteX15" fmla="*/ 938331 w 955347"/>
                <a:gd name="connsiteY15" fmla="*/ 67734 h 194734"/>
                <a:gd name="connsiteX16" fmla="*/ 904465 w 955347"/>
                <a:gd name="connsiteY16" fmla="*/ 50800 h 194734"/>
                <a:gd name="connsiteX17" fmla="*/ 887531 w 955347"/>
                <a:gd name="connsiteY17" fmla="*/ 38100 h 194734"/>
                <a:gd name="connsiteX18" fmla="*/ 857898 w 955347"/>
                <a:gd name="connsiteY18" fmla="*/ 33867 h 194734"/>
                <a:gd name="connsiteX19" fmla="*/ 807098 w 955347"/>
                <a:gd name="connsiteY19" fmla="*/ 25400 h 194734"/>
                <a:gd name="connsiteX20" fmla="*/ 709731 w 955347"/>
                <a:gd name="connsiteY20" fmla="*/ 16934 h 194734"/>
                <a:gd name="connsiteX21" fmla="*/ 680098 w 955347"/>
                <a:gd name="connsiteY21" fmla="*/ 12700 h 194734"/>
                <a:gd name="connsiteX22" fmla="*/ 586965 w 955347"/>
                <a:gd name="connsiteY22" fmla="*/ 12700 h 19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55347" h="194734">
                  <a:moveTo>
                    <a:pt x="586965" y="12700"/>
                  </a:moveTo>
                  <a:lnTo>
                    <a:pt x="362598" y="8467"/>
                  </a:lnTo>
                  <a:cubicBezTo>
                    <a:pt x="355780" y="8240"/>
                    <a:pt x="315871" y="1384"/>
                    <a:pt x="307565" y="0"/>
                  </a:cubicBezTo>
                  <a:lnTo>
                    <a:pt x="40865" y="4234"/>
                  </a:lnTo>
                  <a:cubicBezTo>
                    <a:pt x="34889" y="4596"/>
                    <a:pt x="32764" y="13101"/>
                    <a:pt x="28165" y="16934"/>
                  </a:cubicBezTo>
                  <a:cubicBezTo>
                    <a:pt x="24256" y="20191"/>
                    <a:pt x="19698" y="22578"/>
                    <a:pt x="15465" y="25400"/>
                  </a:cubicBezTo>
                  <a:cubicBezTo>
                    <a:pt x="12643" y="32456"/>
                    <a:pt x="9401" y="39358"/>
                    <a:pt x="6998" y="46567"/>
                  </a:cubicBezTo>
                  <a:cubicBezTo>
                    <a:pt x="-6112" y="85896"/>
                    <a:pt x="2366" y="141140"/>
                    <a:pt x="6998" y="173567"/>
                  </a:cubicBezTo>
                  <a:cubicBezTo>
                    <a:pt x="7718" y="178604"/>
                    <a:pt x="15021" y="180030"/>
                    <a:pt x="19698" y="182034"/>
                  </a:cubicBezTo>
                  <a:cubicBezTo>
                    <a:pt x="25046" y="184326"/>
                    <a:pt x="31058" y="184595"/>
                    <a:pt x="36631" y="186267"/>
                  </a:cubicBezTo>
                  <a:cubicBezTo>
                    <a:pt x="45179" y="188832"/>
                    <a:pt x="53564" y="191912"/>
                    <a:pt x="62031" y="194734"/>
                  </a:cubicBezTo>
                  <a:lnTo>
                    <a:pt x="857898" y="190500"/>
                  </a:lnTo>
                  <a:cubicBezTo>
                    <a:pt x="881014" y="190260"/>
                    <a:pt x="890919" y="178139"/>
                    <a:pt x="912931" y="169334"/>
                  </a:cubicBezTo>
                  <a:cubicBezTo>
                    <a:pt x="938822" y="158977"/>
                    <a:pt x="927775" y="165082"/>
                    <a:pt x="946798" y="152400"/>
                  </a:cubicBezTo>
                  <a:cubicBezTo>
                    <a:pt x="949620" y="143933"/>
                    <a:pt x="956153" y="135880"/>
                    <a:pt x="955265" y="127000"/>
                  </a:cubicBezTo>
                  <a:cubicBezTo>
                    <a:pt x="953221" y="106556"/>
                    <a:pt x="946566" y="86557"/>
                    <a:pt x="938331" y="67734"/>
                  </a:cubicBezTo>
                  <a:cubicBezTo>
                    <a:pt x="935551" y="61379"/>
                    <a:pt x="906097" y="51706"/>
                    <a:pt x="904465" y="50800"/>
                  </a:cubicBezTo>
                  <a:cubicBezTo>
                    <a:pt x="898297" y="47373"/>
                    <a:pt x="894162" y="40511"/>
                    <a:pt x="887531" y="38100"/>
                  </a:cubicBezTo>
                  <a:cubicBezTo>
                    <a:pt x="878154" y="34690"/>
                    <a:pt x="867715" y="35652"/>
                    <a:pt x="857898" y="33867"/>
                  </a:cubicBezTo>
                  <a:cubicBezTo>
                    <a:pt x="814235" y="25929"/>
                    <a:pt x="877425" y="32206"/>
                    <a:pt x="807098" y="25400"/>
                  </a:cubicBezTo>
                  <a:cubicBezTo>
                    <a:pt x="774671" y="22262"/>
                    <a:pt x="741982" y="21542"/>
                    <a:pt x="709731" y="16934"/>
                  </a:cubicBezTo>
                  <a:cubicBezTo>
                    <a:pt x="699853" y="15523"/>
                    <a:pt x="690071" y="13022"/>
                    <a:pt x="680098" y="12700"/>
                  </a:cubicBezTo>
                  <a:cubicBezTo>
                    <a:pt x="646249" y="11608"/>
                    <a:pt x="639882" y="13406"/>
                    <a:pt x="586965" y="12700"/>
                  </a:cubicBezTo>
                  <a:close/>
                </a:path>
              </a:pathLst>
            </a:custGeom>
            <a:solidFill>
              <a:srgbClr val="FFFFFF"/>
            </a:solidFill>
            <a:ln>
              <a:solidFill>
                <a:srgbClr val="FEF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Forma libre: forma 17">
              <a:extLst>
                <a:ext uri="{FF2B5EF4-FFF2-40B4-BE49-F238E27FC236}">
                  <a16:creationId xmlns:a16="http://schemas.microsoft.com/office/drawing/2014/main" id="{847EA3B2-5D8F-A449-E1D5-D70F95D680A0}"/>
                </a:ext>
              </a:extLst>
            </p:cNvPr>
            <p:cNvSpPr/>
            <p:nvPr/>
          </p:nvSpPr>
          <p:spPr>
            <a:xfrm>
              <a:off x="5049713" y="2916766"/>
              <a:ext cx="955347" cy="194734"/>
            </a:xfrm>
            <a:custGeom>
              <a:avLst/>
              <a:gdLst>
                <a:gd name="connsiteX0" fmla="*/ 586965 w 955347"/>
                <a:gd name="connsiteY0" fmla="*/ 12700 h 194734"/>
                <a:gd name="connsiteX1" fmla="*/ 362598 w 955347"/>
                <a:gd name="connsiteY1" fmla="*/ 8467 h 194734"/>
                <a:gd name="connsiteX2" fmla="*/ 307565 w 955347"/>
                <a:gd name="connsiteY2" fmla="*/ 0 h 194734"/>
                <a:gd name="connsiteX3" fmla="*/ 40865 w 955347"/>
                <a:gd name="connsiteY3" fmla="*/ 4234 h 194734"/>
                <a:gd name="connsiteX4" fmla="*/ 28165 w 955347"/>
                <a:gd name="connsiteY4" fmla="*/ 16934 h 194734"/>
                <a:gd name="connsiteX5" fmla="*/ 15465 w 955347"/>
                <a:gd name="connsiteY5" fmla="*/ 25400 h 194734"/>
                <a:gd name="connsiteX6" fmla="*/ 6998 w 955347"/>
                <a:gd name="connsiteY6" fmla="*/ 46567 h 194734"/>
                <a:gd name="connsiteX7" fmla="*/ 6998 w 955347"/>
                <a:gd name="connsiteY7" fmla="*/ 173567 h 194734"/>
                <a:gd name="connsiteX8" fmla="*/ 19698 w 955347"/>
                <a:gd name="connsiteY8" fmla="*/ 182034 h 194734"/>
                <a:gd name="connsiteX9" fmla="*/ 36631 w 955347"/>
                <a:gd name="connsiteY9" fmla="*/ 186267 h 194734"/>
                <a:gd name="connsiteX10" fmla="*/ 62031 w 955347"/>
                <a:gd name="connsiteY10" fmla="*/ 194734 h 194734"/>
                <a:gd name="connsiteX11" fmla="*/ 857898 w 955347"/>
                <a:gd name="connsiteY11" fmla="*/ 190500 h 194734"/>
                <a:gd name="connsiteX12" fmla="*/ 912931 w 955347"/>
                <a:gd name="connsiteY12" fmla="*/ 169334 h 194734"/>
                <a:gd name="connsiteX13" fmla="*/ 946798 w 955347"/>
                <a:gd name="connsiteY13" fmla="*/ 152400 h 194734"/>
                <a:gd name="connsiteX14" fmla="*/ 955265 w 955347"/>
                <a:gd name="connsiteY14" fmla="*/ 127000 h 194734"/>
                <a:gd name="connsiteX15" fmla="*/ 938331 w 955347"/>
                <a:gd name="connsiteY15" fmla="*/ 67734 h 194734"/>
                <a:gd name="connsiteX16" fmla="*/ 904465 w 955347"/>
                <a:gd name="connsiteY16" fmla="*/ 50800 h 194734"/>
                <a:gd name="connsiteX17" fmla="*/ 887531 w 955347"/>
                <a:gd name="connsiteY17" fmla="*/ 38100 h 194734"/>
                <a:gd name="connsiteX18" fmla="*/ 857898 w 955347"/>
                <a:gd name="connsiteY18" fmla="*/ 33867 h 194734"/>
                <a:gd name="connsiteX19" fmla="*/ 807098 w 955347"/>
                <a:gd name="connsiteY19" fmla="*/ 25400 h 194734"/>
                <a:gd name="connsiteX20" fmla="*/ 709731 w 955347"/>
                <a:gd name="connsiteY20" fmla="*/ 16934 h 194734"/>
                <a:gd name="connsiteX21" fmla="*/ 680098 w 955347"/>
                <a:gd name="connsiteY21" fmla="*/ 12700 h 194734"/>
                <a:gd name="connsiteX22" fmla="*/ 586965 w 955347"/>
                <a:gd name="connsiteY22" fmla="*/ 12700 h 19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55347" h="194734">
                  <a:moveTo>
                    <a:pt x="586965" y="12700"/>
                  </a:moveTo>
                  <a:lnTo>
                    <a:pt x="362598" y="8467"/>
                  </a:lnTo>
                  <a:cubicBezTo>
                    <a:pt x="355780" y="8240"/>
                    <a:pt x="315871" y="1384"/>
                    <a:pt x="307565" y="0"/>
                  </a:cubicBezTo>
                  <a:lnTo>
                    <a:pt x="40865" y="4234"/>
                  </a:lnTo>
                  <a:cubicBezTo>
                    <a:pt x="34889" y="4596"/>
                    <a:pt x="32764" y="13101"/>
                    <a:pt x="28165" y="16934"/>
                  </a:cubicBezTo>
                  <a:cubicBezTo>
                    <a:pt x="24256" y="20191"/>
                    <a:pt x="19698" y="22578"/>
                    <a:pt x="15465" y="25400"/>
                  </a:cubicBezTo>
                  <a:cubicBezTo>
                    <a:pt x="12643" y="32456"/>
                    <a:pt x="9401" y="39358"/>
                    <a:pt x="6998" y="46567"/>
                  </a:cubicBezTo>
                  <a:cubicBezTo>
                    <a:pt x="-6112" y="85896"/>
                    <a:pt x="2366" y="141140"/>
                    <a:pt x="6998" y="173567"/>
                  </a:cubicBezTo>
                  <a:cubicBezTo>
                    <a:pt x="7718" y="178604"/>
                    <a:pt x="15021" y="180030"/>
                    <a:pt x="19698" y="182034"/>
                  </a:cubicBezTo>
                  <a:cubicBezTo>
                    <a:pt x="25046" y="184326"/>
                    <a:pt x="31058" y="184595"/>
                    <a:pt x="36631" y="186267"/>
                  </a:cubicBezTo>
                  <a:cubicBezTo>
                    <a:pt x="45179" y="188832"/>
                    <a:pt x="53564" y="191912"/>
                    <a:pt x="62031" y="194734"/>
                  </a:cubicBezTo>
                  <a:lnTo>
                    <a:pt x="857898" y="190500"/>
                  </a:lnTo>
                  <a:cubicBezTo>
                    <a:pt x="881014" y="190260"/>
                    <a:pt x="890919" y="178139"/>
                    <a:pt x="912931" y="169334"/>
                  </a:cubicBezTo>
                  <a:cubicBezTo>
                    <a:pt x="938822" y="158977"/>
                    <a:pt x="927775" y="165082"/>
                    <a:pt x="946798" y="152400"/>
                  </a:cubicBezTo>
                  <a:cubicBezTo>
                    <a:pt x="949620" y="143933"/>
                    <a:pt x="956153" y="135880"/>
                    <a:pt x="955265" y="127000"/>
                  </a:cubicBezTo>
                  <a:cubicBezTo>
                    <a:pt x="953221" y="106556"/>
                    <a:pt x="946566" y="86557"/>
                    <a:pt x="938331" y="67734"/>
                  </a:cubicBezTo>
                  <a:cubicBezTo>
                    <a:pt x="935551" y="61379"/>
                    <a:pt x="906097" y="51706"/>
                    <a:pt x="904465" y="50800"/>
                  </a:cubicBezTo>
                  <a:cubicBezTo>
                    <a:pt x="898297" y="47373"/>
                    <a:pt x="894162" y="40511"/>
                    <a:pt x="887531" y="38100"/>
                  </a:cubicBezTo>
                  <a:cubicBezTo>
                    <a:pt x="878154" y="34690"/>
                    <a:pt x="867715" y="35652"/>
                    <a:pt x="857898" y="33867"/>
                  </a:cubicBezTo>
                  <a:cubicBezTo>
                    <a:pt x="814235" y="25929"/>
                    <a:pt x="877425" y="32206"/>
                    <a:pt x="807098" y="25400"/>
                  </a:cubicBezTo>
                  <a:cubicBezTo>
                    <a:pt x="774671" y="22262"/>
                    <a:pt x="741982" y="21542"/>
                    <a:pt x="709731" y="16934"/>
                  </a:cubicBezTo>
                  <a:cubicBezTo>
                    <a:pt x="699853" y="15523"/>
                    <a:pt x="690071" y="13022"/>
                    <a:pt x="680098" y="12700"/>
                  </a:cubicBezTo>
                  <a:cubicBezTo>
                    <a:pt x="646249" y="11608"/>
                    <a:pt x="639882" y="13406"/>
                    <a:pt x="586965" y="12700"/>
                  </a:cubicBezTo>
                  <a:close/>
                </a:path>
              </a:pathLst>
            </a:custGeom>
            <a:solidFill>
              <a:srgbClr val="FFFFFF"/>
            </a:solidFill>
            <a:ln>
              <a:solidFill>
                <a:srgbClr val="FEF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Forma libre: forma 18">
              <a:extLst>
                <a:ext uri="{FF2B5EF4-FFF2-40B4-BE49-F238E27FC236}">
                  <a16:creationId xmlns:a16="http://schemas.microsoft.com/office/drawing/2014/main" id="{3BAF621E-CF31-C71F-857B-4CB59BAC3999}"/>
                </a:ext>
              </a:extLst>
            </p:cNvPr>
            <p:cNvSpPr/>
            <p:nvPr/>
          </p:nvSpPr>
          <p:spPr>
            <a:xfrm>
              <a:off x="6550425" y="2895599"/>
              <a:ext cx="955347" cy="194734"/>
            </a:xfrm>
            <a:custGeom>
              <a:avLst/>
              <a:gdLst>
                <a:gd name="connsiteX0" fmla="*/ 586965 w 955347"/>
                <a:gd name="connsiteY0" fmla="*/ 12700 h 194734"/>
                <a:gd name="connsiteX1" fmla="*/ 362598 w 955347"/>
                <a:gd name="connsiteY1" fmla="*/ 8467 h 194734"/>
                <a:gd name="connsiteX2" fmla="*/ 307565 w 955347"/>
                <a:gd name="connsiteY2" fmla="*/ 0 h 194734"/>
                <a:gd name="connsiteX3" fmla="*/ 40865 w 955347"/>
                <a:gd name="connsiteY3" fmla="*/ 4234 h 194734"/>
                <a:gd name="connsiteX4" fmla="*/ 28165 w 955347"/>
                <a:gd name="connsiteY4" fmla="*/ 16934 h 194734"/>
                <a:gd name="connsiteX5" fmla="*/ 15465 w 955347"/>
                <a:gd name="connsiteY5" fmla="*/ 25400 h 194734"/>
                <a:gd name="connsiteX6" fmla="*/ 6998 w 955347"/>
                <a:gd name="connsiteY6" fmla="*/ 46567 h 194734"/>
                <a:gd name="connsiteX7" fmla="*/ 6998 w 955347"/>
                <a:gd name="connsiteY7" fmla="*/ 173567 h 194734"/>
                <a:gd name="connsiteX8" fmla="*/ 19698 w 955347"/>
                <a:gd name="connsiteY8" fmla="*/ 182034 h 194734"/>
                <a:gd name="connsiteX9" fmla="*/ 36631 w 955347"/>
                <a:gd name="connsiteY9" fmla="*/ 186267 h 194734"/>
                <a:gd name="connsiteX10" fmla="*/ 62031 w 955347"/>
                <a:gd name="connsiteY10" fmla="*/ 194734 h 194734"/>
                <a:gd name="connsiteX11" fmla="*/ 857898 w 955347"/>
                <a:gd name="connsiteY11" fmla="*/ 190500 h 194734"/>
                <a:gd name="connsiteX12" fmla="*/ 912931 w 955347"/>
                <a:gd name="connsiteY12" fmla="*/ 169334 h 194734"/>
                <a:gd name="connsiteX13" fmla="*/ 946798 w 955347"/>
                <a:gd name="connsiteY13" fmla="*/ 152400 h 194734"/>
                <a:gd name="connsiteX14" fmla="*/ 955265 w 955347"/>
                <a:gd name="connsiteY14" fmla="*/ 127000 h 194734"/>
                <a:gd name="connsiteX15" fmla="*/ 938331 w 955347"/>
                <a:gd name="connsiteY15" fmla="*/ 67734 h 194734"/>
                <a:gd name="connsiteX16" fmla="*/ 904465 w 955347"/>
                <a:gd name="connsiteY16" fmla="*/ 50800 h 194734"/>
                <a:gd name="connsiteX17" fmla="*/ 887531 w 955347"/>
                <a:gd name="connsiteY17" fmla="*/ 38100 h 194734"/>
                <a:gd name="connsiteX18" fmla="*/ 857898 w 955347"/>
                <a:gd name="connsiteY18" fmla="*/ 33867 h 194734"/>
                <a:gd name="connsiteX19" fmla="*/ 807098 w 955347"/>
                <a:gd name="connsiteY19" fmla="*/ 25400 h 194734"/>
                <a:gd name="connsiteX20" fmla="*/ 709731 w 955347"/>
                <a:gd name="connsiteY20" fmla="*/ 16934 h 194734"/>
                <a:gd name="connsiteX21" fmla="*/ 680098 w 955347"/>
                <a:gd name="connsiteY21" fmla="*/ 12700 h 194734"/>
                <a:gd name="connsiteX22" fmla="*/ 586965 w 955347"/>
                <a:gd name="connsiteY22" fmla="*/ 12700 h 19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55347" h="194734">
                  <a:moveTo>
                    <a:pt x="586965" y="12700"/>
                  </a:moveTo>
                  <a:lnTo>
                    <a:pt x="362598" y="8467"/>
                  </a:lnTo>
                  <a:cubicBezTo>
                    <a:pt x="355780" y="8240"/>
                    <a:pt x="315871" y="1384"/>
                    <a:pt x="307565" y="0"/>
                  </a:cubicBezTo>
                  <a:lnTo>
                    <a:pt x="40865" y="4234"/>
                  </a:lnTo>
                  <a:cubicBezTo>
                    <a:pt x="34889" y="4596"/>
                    <a:pt x="32764" y="13101"/>
                    <a:pt x="28165" y="16934"/>
                  </a:cubicBezTo>
                  <a:cubicBezTo>
                    <a:pt x="24256" y="20191"/>
                    <a:pt x="19698" y="22578"/>
                    <a:pt x="15465" y="25400"/>
                  </a:cubicBezTo>
                  <a:cubicBezTo>
                    <a:pt x="12643" y="32456"/>
                    <a:pt x="9401" y="39358"/>
                    <a:pt x="6998" y="46567"/>
                  </a:cubicBezTo>
                  <a:cubicBezTo>
                    <a:pt x="-6112" y="85896"/>
                    <a:pt x="2366" y="141140"/>
                    <a:pt x="6998" y="173567"/>
                  </a:cubicBezTo>
                  <a:cubicBezTo>
                    <a:pt x="7718" y="178604"/>
                    <a:pt x="15021" y="180030"/>
                    <a:pt x="19698" y="182034"/>
                  </a:cubicBezTo>
                  <a:cubicBezTo>
                    <a:pt x="25046" y="184326"/>
                    <a:pt x="31058" y="184595"/>
                    <a:pt x="36631" y="186267"/>
                  </a:cubicBezTo>
                  <a:cubicBezTo>
                    <a:pt x="45179" y="188832"/>
                    <a:pt x="53564" y="191912"/>
                    <a:pt x="62031" y="194734"/>
                  </a:cubicBezTo>
                  <a:lnTo>
                    <a:pt x="857898" y="190500"/>
                  </a:lnTo>
                  <a:cubicBezTo>
                    <a:pt x="881014" y="190260"/>
                    <a:pt x="890919" y="178139"/>
                    <a:pt x="912931" y="169334"/>
                  </a:cubicBezTo>
                  <a:cubicBezTo>
                    <a:pt x="938822" y="158977"/>
                    <a:pt x="927775" y="165082"/>
                    <a:pt x="946798" y="152400"/>
                  </a:cubicBezTo>
                  <a:cubicBezTo>
                    <a:pt x="949620" y="143933"/>
                    <a:pt x="956153" y="135880"/>
                    <a:pt x="955265" y="127000"/>
                  </a:cubicBezTo>
                  <a:cubicBezTo>
                    <a:pt x="953221" y="106556"/>
                    <a:pt x="946566" y="86557"/>
                    <a:pt x="938331" y="67734"/>
                  </a:cubicBezTo>
                  <a:cubicBezTo>
                    <a:pt x="935551" y="61379"/>
                    <a:pt x="906097" y="51706"/>
                    <a:pt x="904465" y="50800"/>
                  </a:cubicBezTo>
                  <a:cubicBezTo>
                    <a:pt x="898297" y="47373"/>
                    <a:pt x="894162" y="40511"/>
                    <a:pt x="887531" y="38100"/>
                  </a:cubicBezTo>
                  <a:cubicBezTo>
                    <a:pt x="878154" y="34690"/>
                    <a:pt x="867715" y="35652"/>
                    <a:pt x="857898" y="33867"/>
                  </a:cubicBezTo>
                  <a:cubicBezTo>
                    <a:pt x="814235" y="25929"/>
                    <a:pt x="877425" y="32206"/>
                    <a:pt x="807098" y="25400"/>
                  </a:cubicBezTo>
                  <a:cubicBezTo>
                    <a:pt x="774671" y="22262"/>
                    <a:pt x="741982" y="21542"/>
                    <a:pt x="709731" y="16934"/>
                  </a:cubicBezTo>
                  <a:cubicBezTo>
                    <a:pt x="699853" y="15523"/>
                    <a:pt x="690071" y="13022"/>
                    <a:pt x="680098" y="12700"/>
                  </a:cubicBezTo>
                  <a:cubicBezTo>
                    <a:pt x="646249" y="11608"/>
                    <a:pt x="639882" y="13406"/>
                    <a:pt x="586965" y="12700"/>
                  </a:cubicBezTo>
                  <a:close/>
                </a:path>
              </a:pathLst>
            </a:custGeom>
            <a:solidFill>
              <a:srgbClr val="FFFFFF"/>
            </a:solidFill>
            <a:ln>
              <a:solidFill>
                <a:srgbClr val="FEF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22" name="CuadroTexto 21">
            <a:extLst>
              <a:ext uri="{FF2B5EF4-FFF2-40B4-BE49-F238E27FC236}">
                <a16:creationId xmlns:a16="http://schemas.microsoft.com/office/drawing/2014/main" id="{4EBBB122-C980-398B-CA1F-23A8C9CF405B}"/>
              </a:ext>
            </a:extLst>
          </p:cNvPr>
          <p:cNvSpPr txBox="1"/>
          <p:nvPr/>
        </p:nvSpPr>
        <p:spPr>
          <a:xfrm>
            <a:off x="234750" y="4348013"/>
            <a:ext cx="3766709" cy="1200329"/>
          </a:xfrm>
          <a:prstGeom prst="rect">
            <a:avLst/>
          </a:prstGeom>
          <a:noFill/>
        </p:spPr>
        <p:txBody>
          <a:bodyPr wrap="square">
            <a:spAutoFit/>
          </a:bodyPr>
          <a:lstStyle/>
          <a:p>
            <a:r>
              <a:rPr lang="es-MX" dirty="0"/>
              <a:t>La información mostrada fue obtenida mediante peticiones HTTP realizadas desde Angular hacia los microservicios.</a:t>
            </a:r>
          </a:p>
        </p:txBody>
      </p:sp>
      <p:sp>
        <p:nvSpPr>
          <p:cNvPr id="24" name="CuadroTexto 23">
            <a:extLst>
              <a:ext uri="{FF2B5EF4-FFF2-40B4-BE49-F238E27FC236}">
                <a16:creationId xmlns:a16="http://schemas.microsoft.com/office/drawing/2014/main" id="{A583F10F-FBE0-DCC0-639D-3ADB2960B314}"/>
              </a:ext>
            </a:extLst>
          </p:cNvPr>
          <p:cNvSpPr txBox="1"/>
          <p:nvPr/>
        </p:nvSpPr>
        <p:spPr>
          <a:xfrm>
            <a:off x="4272328" y="688273"/>
            <a:ext cx="4047821" cy="646331"/>
          </a:xfrm>
          <a:prstGeom prst="rect">
            <a:avLst/>
          </a:prstGeom>
          <a:noFill/>
        </p:spPr>
        <p:txBody>
          <a:bodyPr wrap="square">
            <a:spAutoFit/>
          </a:bodyPr>
          <a:lstStyle/>
          <a:p>
            <a:r>
              <a:rPr lang="es-MX" dirty="0"/>
              <a:t>Posteriormente se consultó el módulo correspondiente a los profesores.</a:t>
            </a:r>
          </a:p>
        </p:txBody>
      </p:sp>
      <p:grpSp>
        <p:nvGrpSpPr>
          <p:cNvPr id="29" name="Grupo 28">
            <a:extLst>
              <a:ext uri="{FF2B5EF4-FFF2-40B4-BE49-F238E27FC236}">
                <a16:creationId xmlns:a16="http://schemas.microsoft.com/office/drawing/2014/main" id="{737F27CF-8EFD-24F6-0FE5-EB88D7C0F551}"/>
              </a:ext>
            </a:extLst>
          </p:cNvPr>
          <p:cNvGrpSpPr/>
          <p:nvPr/>
        </p:nvGrpSpPr>
        <p:grpSpPr>
          <a:xfrm>
            <a:off x="4195488" y="1613106"/>
            <a:ext cx="4001457" cy="2099854"/>
            <a:chOff x="0" y="327660"/>
            <a:chExt cx="12192000" cy="6202680"/>
          </a:xfrm>
        </p:grpSpPr>
        <p:pic>
          <p:nvPicPr>
            <p:cNvPr id="25" name="Imagen 24">
              <a:extLst>
                <a:ext uri="{FF2B5EF4-FFF2-40B4-BE49-F238E27FC236}">
                  <a16:creationId xmlns:a16="http://schemas.microsoft.com/office/drawing/2014/main" id="{F109E52F-31AF-5063-51CE-CFB32CD4E744}"/>
                </a:ext>
              </a:extLst>
            </p:cNvPr>
            <p:cNvPicPr>
              <a:picLocks noChangeAspect="1"/>
            </p:cNvPicPr>
            <p:nvPr/>
          </p:nvPicPr>
          <p:blipFill>
            <a:blip r:embed="rId3"/>
            <a:stretch>
              <a:fillRect/>
            </a:stretch>
          </p:blipFill>
          <p:spPr>
            <a:xfrm>
              <a:off x="0" y="327660"/>
              <a:ext cx="12192000" cy="6202680"/>
            </a:xfrm>
            <a:prstGeom prst="rect">
              <a:avLst/>
            </a:prstGeom>
          </p:spPr>
        </p:pic>
        <p:sp>
          <p:nvSpPr>
            <p:cNvPr id="26" name="Forma libre: forma 25">
              <a:extLst>
                <a:ext uri="{FF2B5EF4-FFF2-40B4-BE49-F238E27FC236}">
                  <a16:creationId xmlns:a16="http://schemas.microsoft.com/office/drawing/2014/main" id="{EB465987-1C58-8D6B-0B67-9197BE17AF3B}"/>
                </a:ext>
              </a:extLst>
            </p:cNvPr>
            <p:cNvSpPr/>
            <p:nvPr/>
          </p:nvSpPr>
          <p:spPr>
            <a:xfrm>
              <a:off x="3525520" y="3032760"/>
              <a:ext cx="973294" cy="259466"/>
            </a:xfrm>
            <a:custGeom>
              <a:avLst/>
              <a:gdLst>
                <a:gd name="connsiteX0" fmla="*/ 751840 w 973294"/>
                <a:gd name="connsiteY0" fmla="*/ 198120 h 259466"/>
                <a:gd name="connsiteX1" fmla="*/ 858520 w 973294"/>
                <a:gd name="connsiteY1" fmla="*/ 182880 h 259466"/>
                <a:gd name="connsiteX2" fmla="*/ 955040 w 973294"/>
                <a:gd name="connsiteY2" fmla="*/ 172720 h 259466"/>
                <a:gd name="connsiteX3" fmla="*/ 970280 w 973294"/>
                <a:gd name="connsiteY3" fmla="*/ 147320 h 259466"/>
                <a:gd name="connsiteX4" fmla="*/ 944880 w 973294"/>
                <a:gd name="connsiteY4" fmla="*/ 60960 h 259466"/>
                <a:gd name="connsiteX5" fmla="*/ 883920 w 973294"/>
                <a:gd name="connsiteY5" fmla="*/ 10160 h 259466"/>
                <a:gd name="connsiteX6" fmla="*/ 822960 w 973294"/>
                <a:gd name="connsiteY6" fmla="*/ 0 h 259466"/>
                <a:gd name="connsiteX7" fmla="*/ 619760 w 973294"/>
                <a:gd name="connsiteY7" fmla="*/ 5080 h 259466"/>
                <a:gd name="connsiteX8" fmla="*/ 579120 w 973294"/>
                <a:gd name="connsiteY8" fmla="*/ 25400 h 259466"/>
                <a:gd name="connsiteX9" fmla="*/ 314960 w 973294"/>
                <a:gd name="connsiteY9" fmla="*/ 40640 h 259466"/>
                <a:gd name="connsiteX10" fmla="*/ 294640 w 973294"/>
                <a:gd name="connsiteY10" fmla="*/ 45720 h 259466"/>
                <a:gd name="connsiteX11" fmla="*/ 238760 w 973294"/>
                <a:gd name="connsiteY11" fmla="*/ 55880 h 259466"/>
                <a:gd name="connsiteX12" fmla="*/ 132080 w 973294"/>
                <a:gd name="connsiteY12" fmla="*/ 71120 h 259466"/>
                <a:gd name="connsiteX13" fmla="*/ 106680 w 973294"/>
                <a:gd name="connsiteY13" fmla="*/ 76200 h 259466"/>
                <a:gd name="connsiteX14" fmla="*/ 50800 w 973294"/>
                <a:gd name="connsiteY14" fmla="*/ 91440 h 259466"/>
                <a:gd name="connsiteX15" fmla="*/ 35560 w 973294"/>
                <a:gd name="connsiteY15" fmla="*/ 101600 h 259466"/>
                <a:gd name="connsiteX16" fmla="*/ 25400 w 973294"/>
                <a:gd name="connsiteY16" fmla="*/ 116840 h 259466"/>
                <a:gd name="connsiteX17" fmla="*/ 10160 w 973294"/>
                <a:gd name="connsiteY17" fmla="*/ 137160 h 259466"/>
                <a:gd name="connsiteX18" fmla="*/ 0 w 973294"/>
                <a:gd name="connsiteY18" fmla="*/ 167640 h 259466"/>
                <a:gd name="connsiteX19" fmla="*/ 25400 w 973294"/>
                <a:gd name="connsiteY19" fmla="*/ 218440 h 259466"/>
                <a:gd name="connsiteX20" fmla="*/ 50800 w 973294"/>
                <a:gd name="connsiteY20" fmla="*/ 223520 h 259466"/>
                <a:gd name="connsiteX21" fmla="*/ 314960 w 973294"/>
                <a:gd name="connsiteY21" fmla="*/ 223520 h 259466"/>
                <a:gd name="connsiteX22" fmla="*/ 690880 w 973294"/>
                <a:gd name="connsiteY22" fmla="*/ 213360 h 259466"/>
                <a:gd name="connsiteX23" fmla="*/ 741680 w 973294"/>
                <a:gd name="connsiteY23" fmla="*/ 203200 h 259466"/>
                <a:gd name="connsiteX24" fmla="*/ 751840 w 973294"/>
                <a:gd name="connsiteY24" fmla="*/ 198120 h 259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73294" h="259466">
                  <a:moveTo>
                    <a:pt x="751840" y="198120"/>
                  </a:moveTo>
                  <a:cubicBezTo>
                    <a:pt x="771313" y="194733"/>
                    <a:pt x="806674" y="188641"/>
                    <a:pt x="858520" y="182880"/>
                  </a:cubicBezTo>
                  <a:cubicBezTo>
                    <a:pt x="995193" y="167694"/>
                    <a:pt x="861841" y="186034"/>
                    <a:pt x="955040" y="172720"/>
                  </a:cubicBezTo>
                  <a:cubicBezTo>
                    <a:pt x="960120" y="164253"/>
                    <a:pt x="969190" y="157133"/>
                    <a:pt x="970280" y="147320"/>
                  </a:cubicBezTo>
                  <a:cubicBezTo>
                    <a:pt x="976371" y="92499"/>
                    <a:pt x="975646" y="87880"/>
                    <a:pt x="944880" y="60960"/>
                  </a:cubicBezTo>
                  <a:cubicBezTo>
                    <a:pt x="924974" y="43542"/>
                    <a:pt x="910011" y="14508"/>
                    <a:pt x="883920" y="10160"/>
                  </a:cubicBezTo>
                  <a:lnTo>
                    <a:pt x="822960" y="0"/>
                  </a:lnTo>
                  <a:lnTo>
                    <a:pt x="619760" y="5080"/>
                  </a:lnTo>
                  <a:cubicBezTo>
                    <a:pt x="442945" y="12768"/>
                    <a:pt x="678164" y="639"/>
                    <a:pt x="579120" y="25400"/>
                  </a:cubicBezTo>
                  <a:cubicBezTo>
                    <a:pt x="524051" y="39167"/>
                    <a:pt x="342508" y="39830"/>
                    <a:pt x="314960" y="40640"/>
                  </a:cubicBezTo>
                  <a:cubicBezTo>
                    <a:pt x="308187" y="42333"/>
                    <a:pt x="301456" y="44205"/>
                    <a:pt x="294640" y="45720"/>
                  </a:cubicBezTo>
                  <a:cubicBezTo>
                    <a:pt x="273340" y="50453"/>
                    <a:pt x="260817" y="52204"/>
                    <a:pt x="238760" y="55880"/>
                  </a:cubicBezTo>
                  <a:cubicBezTo>
                    <a:pt x="184894" y="77426"/>
                    <a:pt x="232170" y="61588"/>
                    <a:pt x="132080" y="71120"/>
                  </a:cubicBezTo>
                  <a:cubicBezTo>
                    <a:pt x="123485" y="71939"/>
                    <a:pt x="115109" y="74327"/>
                    <a:pt x="106680" y="76200"/>
                  </a:cubicBezTo>
                  <a:cubicBezTo>
                    <a:pt x="88523" y="80235"/>
                    <a:pt x="68138" y="86486"/>
                    <a:pt x="50800" y="91440"/>
                  </a:cubicBezTo>
                  <a:cubicBezTo>
                    <a:pt x="45720" y="94827"/>
                    <a:pt x="39877" y="97283"/>
                    <a:pt x="35560" y="101600"/>
                  </a:cubicBezTo>
                  <a:cubicBezTo>
                    <a:pt x="31243" y="105917"/>
                    <a:pt x="28949" y="111872"/>
                    <a:pt x="25400" y="116840"/>
                  </a:cubicBezTo>
                  <a:cubicBezTo>
                    <a:pt x="20479" y="123730"/>
                    <a:pt x="15240" y="130387"/>
                    <a:pt x="10160" y="137160"/>
                  </a:cubicBezTo>
                  <a:cubicBezTo>
                    <a:pt x="6773" y="147320"/>
                    <a:pt x="0" y="156930"/>
                    <a:pt x="0" y="167640"/>
                  </a:cubicBezTo>
                  <a:cubicBezTo>
                    <a:pt x="0" y="191921"/>
                    <a:pt x="3631" y="210277"/>
                    <a:pt x="25400" y="218440"/>
                  </a:cubicBezTo>
                  <a:cubicBezTo>
                    <a:pt x="33485" y="221472"/>
                    <a:pt x="42333" y="221827"/>
                    <a:pt x="50800" y="223520"/>
                  </a:cubicBezTo>
                  <a:cubicBezTo>
                    <a:pt x="125108" y="297828"/>
                    <a:pt x="55543" y="235873"/>
                    <a:pt x="314960" y="223520"/>
                  </a:cubicBezTo>
                  <a:cubicBezTo>
                    <a:pt x="347471" y="221972"/>
                    <a:pt x="668945" y="213922"/>
                    <a:pt x="690880" y="213360"/>
                  </a:cubicBezTo>
                  <a:cubicBezTo>
                    <a:pt x="707684" y="209159"/>
                    <a:pt x="724242" y="204446"/>
                    <a:pt x="741680" y="203200"/>
                  </a:cubicBezTo>
                  <a:cubicBezTo>
                    <a:pt x="755192" y="202235"/>
                    <a:pt x="732367" y="201507"/>
                    <a:pt x="751840" y="198120"/>
                  </a:cubicBezTo>
                  <a:close/>
                </a:path>
              </a:pathLst>
            </a:custGeom>
            <a:solidFill>
              <a:srgbClr val="FFFFFF"/>
            </a:solidFill>
            <a:ln>
              <a:solidFill>
                <a:srgbClr val="FEF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Forma libre: forma 26">
              <a:extLst>
                <a:ext uri="{FF2B5EF4-FFF2-40B4-BE49-F238E27FC236}">
                  <a16:creationId xmlns:a16="http://schemas.microsoft.com/office/drawing/2014/main" id="{A33E3B88-39E6-19E5-F7BC-F0B7C766826C}"/>
                </a:ext>
              </a:extLst>
            </p:cNvPr>
            <p:cNvSpPr/>
            <p:nvPr/>
          </p:nvSpPr>
          <p:spPr>
            <a:xfrm>
              <a:off x="5044440" y="3108960"/>
              <a:ext cx="954206" cy="157480"/>
            </a:xfrm>
            <a:custGeom>
              <a:avLst/>
              <a:gdLst>
                <a:gd name="connsiteX0" fmla="*/ 949960 w 954206"/>
                <a:gd name="connsiteY0" fmla="*/ 35560 h 157480"/>
                <a:gd name="connsiteX1" fmla="*/ 817880 w 954206"/>
                <a:gd name="connsiteY1" fmla="*/ 40640 h 157480"/>
                <a:gd name="connsiteX2" fmla="*/ 746760 w 954206"/>
                <a:gd name="connsiteY2" fmla="*/ 45720 h 157480"/>
                <a:gd name="connsiteX3" fmla="*/ 604520 w 954206"/>
                <a:gd name="connsiteY3" fmla="*/ 35560 h 157480"/>
                <a:gd name="connsiteX4" fmla="*/ 528320 w 954206"/>
                <a:gd name="connsiteY4" fmla="*/ 15240 h 157480"/>
                <a:gd name="connsiteX5" fmla="*/ 436880 w 954206"/>
                <a:gd name="connsiteY5" fmla="*/ 0 h 157480"/>
                <a:gd name="connsiteX6" fmla="*/ 35560 w 954206"/>
                <a:gd name="connsiteY6" fmla="*/ 10160 h 157480"/>
                <a:gd name="connsiteX7" fmla="*/ 0 w 954206"/>
                <a:gd name="connsiteY7" fmla="*/ 35560 h 157480"/>
                <a:gd name="connsiteX8" fmla="*/ 5080 w 954206"/>
                <a:gd name="connsiteY8" fmla="*/ 96520 h 157480"/>
                <a:gd name="connsiteX9" fmla="*/ 30480 w 954206"/>
                <a:gd name="connsiteY9" fmla="*/ 121920 h 157480"/>
                <a:gd name="connsiteX10" fmla="*/ 55880 w 954206"/>
                <a:gd name="connsiteY10" fmla="*/ 137160 h 157480"/>
                <a:gd name="connsiteX11" fmla="*/ 106680 w 954206"/>
                <a:gd name="connsiteY11" fmla="*/ 147320 h 157480"/>
                <a:gd name="connsiteX12" fmla="*/ 137160 w 954206"/>
                <a:gd name="connsiteY12" fmla="*/ 157480 h 157480"/>
                <a:gd name="connsiteX13" fmla="*/ 406400 w 954206"/>
                <a:gd name="connsiteY13" fmla="*/ 152400 h 157480"/>
                <a:gd name="connsiteX14" fmla="*/ 467360 w 954206"/>
                <a:gd name="connsiteY14" fmla="*/ 147320 h 157480"/>
                <a:gd name="connsiteX15" fmla="*/ 701040 w 954206"/>
                <a:gd name="connsiteY15" fmla="*/ 142240 h 157480"/>
                <a:gd name="connsiteX16" fmla="*/ 899160 w 954206"/>
                <a:gd name="connsiteY16" fmla="*/ 116840 h 157480"/>
                <a:gd name="connsiteX17" fmla="*/ 919480 w 954206"/>
                <a:gd name="connsiteY17" fmla="*/ 101600 h 157480"/>
                <a:gd name="connsiteX18" fmla="*/ 949960 w 954206"/>
                <a:gd name="connsiteY18" fmla="*/ 35560 h 1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4206" h="157480">
                  <a:moveTo>
                    <a:pt x="949960" y="35560"/>
                  </a:moveTo>
                  <a:cubicBezTo>
                    <a:pt x="933027" y="25400"/>
                    <a:pt x="861884" y="38440"/>
                    <a:pt x="817880" y="40640"/>
                  </a:cubicBezTo>
                  <a:cubicBezTo>
                    <a:pt x="794143" y="41827"/>
                    <a:pt x="770527" y="45720"/>
                    <a:pt x="746760" y="45720"/>
                  </a:cubicBezTo>
                  <a:cubicBezTo>
                    <a:pt x="721352" y="45720"/>
                    <a:pt x="635279" y="38123"/>
                    <a:pt x="604520" y="35560"/>
                  </a:cubicBezTo>
                  <a:cubicBezTo>
                    <a:pt x="579120" y="28787"/>
                    <a:pt x="553934" y="21151"/>
                    <a:pt x="528320" y="15240"/>
                  </a:cubicBezTo>
                  <a:cubicBezTo>
                    <a:pt x="498334" y="8320"/>
                    <a:pt x="467354" y="4353"/>
                    <a:pt x="436880" y="0"/>
                  </a:cubicBezTo>
                  <a:lnTo>
                    <a:pt x="35560" y="10160"/>
                  </a:lnTo>
                  <a:cubicBezTo>
                    <a:pt x="5480" y="11234"/>
                    <a:pt x="11613" y="12333"/>
                    <a:pt x="0" y="35560"/>
                  </a:cubicBezTo>
                  <a:cubicBezTo>
                    <a:pt x="1693" y="55880"/>
                    <a:pt x="1322" y="76479"/>
                    <a:pt x="5080" y="96520"/>
                  </a:cubicBezTo>
                  <a:cubicBezTo>
                    <a:pt x="10070" y="123132"/>
                    <a:pt x="13405" y="113382"/>
                    <a:pt x="30480" y="121920"/>
                  </a:cubicBezTo>
                  <a:cubicBezTo>
                    <a:pt x="39311" y="126336"/>
                    <a:pt x="46513" y="134038"/>
                    <a:pt x="55880" y="137160"/>
                  </a:cubicBezTo>
                  <a:cubicBezTo>
                    <a:pt x="72263" y="142621"/>
                    <a:pt x="90297" y="141859"/>
                    <a:pt x="106680" y="147320"/>
                  </a:cubicBezTo>
                  <a:lnTo>
                    <a:pt x="137160" y="157480"/>
                  </a:lnTo>
                  <a:lnTo>
                    <a:pt x="406400" y="152400"/>
                  </a:lnTo>
                  <a:cubicBezTo>
                    <a:pt x="426781" y="151773"/>
                    <a:pt x="446982" y="148023"/>
                    <a:pt x="467360" y="147320"/>
                  </a:cubicBezTo>
                  <a:cubicBezTo>
                    <a:pt x="545225" y="144635"/>
                    <a:pt x="623147" y="143933"/>
                    <a:pt x="701040" y="142240"/>
                  </a:cubicBezTo>
                  <a:cubicBezTo>
                    <a:pt x="716039" y="140917"/>
                    <a:pt x="846414" y="146143"/>
                    <a:pt x="899160" y="116840"/>
                  </a:cubicBezTo>
                  <a:cubicBezTo>
                    <a:pt x="906561" y="112728"/>
                    <a:pt x="912707" y="106680"/>
                    <a:pt x="919480" y="101600"/>
                  </a:cubicBezTo>
                  <a:cubicBezTo>
                    <a:pt x="928308" y="75115"/>
                    <a:pt x="966893" y="45720"/>
                    <a:pt x="949960" y="35560"/>
                  </a:cubicBezTo>
                  <a:close/>
                </a:path>
              </a:pathLst>
            </a:custGeom>
            <a:solidFill>
              <a:srgbClr val="FFFFFF"/>
            </a:solidFill>
            <a:ln>
              <a:solidFill>
                <a:srgbClr val="FEF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Forma libre: forma 27">
              <a:extLst>
                <a:ext uri="{FF2B5EF4-FFF2-40B4-BE49-F238E27FC236}">
                  <a16:creationId xmlns:a16="http://schemas.microsoft.com/office/drawing/2014/main" id="{EDC92734-B81B-CE5C-DB93-11AA34DA6B93}"/>
                </a:ext>
              </a:extLst>
            </p:cNvPr>
            <p:cNvSpPr/>
            <p:nvPr/>
          </p:nvSpPr>
          <p:spPr>
            <a:xfrm>
              <a:off x="6532880" y="3063240"/>
              <a:ext cx="991073" cy="208280"/>
            </a:xfrm>
            <a:custGeom>
              <a:avLst/>
              <a:gdLst>
                <a:gd name="connsiteX0" fmla="*/ 965200 w 991073"/>
                <a:gd name="connsiteY0" fmla="*/ 76200 h 208280"/>
                <a:gd name="connsiteX1" fmla="*/ 904240 w 991073"/>
                <a:gd name="connsiteY1" fmla="*/ 60960 h 208280"/>
                <a:gd name="connsiteX2" fmla="*/ 782320 w 991073"/>
                <a:gd name="connsiteY2" fmla="*/ 40640 h 208280"/>
                <a:gd name="connsiteX3" fmla="*/ 711200 w 991073"/>
                <a:gd name="connsiteY3" fmla="*/ 15240 h 208280"/>
                <a:gd name="connsiteX4" fmla="*/ 502920 w 991073"/>
                <a:gd name="connsiteY4" fmla="*/ 5080 h 208280"/>
                <a:gd name="connsiteX5" fmla="*/ 441960 w 991073"/>
                <a:gd name="connsiteY5" fmla="*/ 0 h 208280"/>
                <a:gd name="connsiteX6" fmla="*/ 294640 w 991073"/>
                <a:gd name="connsiteY6" fmla="*/ 10160 h 208280"/>
                <a:gd name="connsiteX7" fmla="*/ 233680 w 991073"/>
                <a:gd name="connsiteY7" fmla="*/ 15240 h 208280"/>
                <a:gd name="connsiteX8" fmla="*/ 193040 w 991073"/>
                <a:gd name="connsiteY8" fmla="*/ 25400 h 208280"/>
                <a:gd name="connsiteX9" fmla="*/ 66040 w 991073"/>
                <a:gd name="connsiteY9" fmla="*/ 30480 h 208280"/>
                <a:gd name="connsiteX10" fmla="*/ 30480 w 991073"/>
                <a:gd name="connsiteY10" fmla="*/ 35560 h 208280"/>
                <a:gd name="connsiteX11" fmla="*/ 0 w 991073"/>
                <a:gd name="connsiteY11" fmla="*/ 81280 h 208280"/>
                <a:gd name="connsiteX12" fmla="*/ 20320 w 991073"/>
                <a:gd name="connsiteY12" fmla="*/ 157480 h 208280"/>
                <a:gd name="connsiteX13" fmla="*/ 55880 w 991073"/>
                <a:gd name="connsiteY13" fmla="*/ 177800 h 208280"/>
                <a:gd name="connsiteX14" fmla="*/ 76200 w 991073"/>
                <a:gd name="connsiteY14" fmla="*/ 193040 h 208280"/>
                <a:gd name="connsiteX15" fmla="*/ 96520 w 991073"/>
                <a:gd name="connsiteY15" fmla="*/ 198120 h 208280"/>
                <a:gd name="connsiteX16" fmla="*/ 121920 w 991073"/>
                <a:gd name="connsiteY16" fmla="*/ 208280 h 208280"/>
                <a:gd name="connsiteX17" fmla="*/ 203200 w 991073"/>
                <a:gd name="connsiteY17" fmla="*/ 198120 h 208280"/>
                <a:gd name="connsiteX18" fmla="*/ 304800 w 991073"/>
                <a:gd name="connsiteY18" fmla="*/ 172720 h 208280"/>
                <a:gd name="connsiteX19" fmla="*/ 441960 w 991073"/>
                <a:gd name="connsiteY19" fmla="*/ 177800 h 208280"/>
                <a:gd name="connsiteX20" fmla="*/ 487680 w 991073"/>
                <a:gd name="connsiteY20" fmla="*/ 193040 h 208280"/>
                <a:gd name="connsiteX21" fmla="*/ 751840 w 991073"/>
                <a:gd name="connsiteY21" fmla="*/ 187960 h 208280"/>
                <a:gd name="connsiteX22" fmla="*/ 894080 w 991073"/>
                <a:gd name="connsiteY22" fmla="*/ 177800 h 208280"/>
                <a:gd name="connsiteX23" fmla="*/ 939800 w 991073"/>
                <a:gd name="connsiteY23" fmla="*/ 167640 h 208280"/>
                <a:gd name="connsiteX24" fmla="*/ 980440 w 991073"/>
                <a:gd name="connsiteY24" fmla="*/ 152400 h 208280"/>
                <a:gd name="connsiteX25" fmla="*/ 980440 w 991073"/>
                <a:gd name="connsiteY25" fmla="*/ 81280 h 208280"/>
                <a:gd name="connsiteX26" fmla="*/ 965200 w 991073"/>
                <a:gd name="connsiteY26" fmla="*/ 76200 h 208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91073" h="208280">
                  <a:moveTo>
                    <a:pt x="965200" y="76200"/>
                  </a:moveTo>
                  <a:cubicBezTo>
                    <a:pt x="952500" y="72813"/>
                    <a:pt x="924800" y="64958"/>
                    <a:pt x="904240" y="60960"/>
                  </a:cubicBezTo>
                  <a:cubicBezTo>
                    <a:pt x="863797" y="53096"/>
                    <a:pt x="822411" y="50135"/>
                    <a:pt x="782320" y="40640"/>
                  </a:cubicBezTo>
                  <a:cubicBezTo>
                    <a:pt x="757824" y="34838"/>
                    <a:pt x="736172" y="18418"/>
                    <a:pt x="711200" y="15240"/>
                  </a:cubicBezTo>
                  <a:cubicBezTo>
                    <a:pt x="642247" y="6464"/>
                    <a:pt x="572189" y="10852"/>
                    <a:pt x="502920" y="5080"/>
                  </a:cubicBezTo>
                  <a:lnTo>
                    <a:pt x="441960" y="0"/>
                  </a:lnTo>
                  <a:lnTo>
                    <a:pt x="294640" y="10160"/>
                  </a:lnTo>
                  <a:cubicBezTo>
                    <a:pt x="274304" y="11648"/>
                    <a:pt x="253845" y="12215"/>
                    <a:pt x="233680" y="15240"/>
                  </a:cubicBezTo>
                  <a:cubicBezTo>
                    <a:pt x="219871" y="17311"/>
                    <a:pt x="206946" y="24136"/>
                    <a:pt x="193040" y="25400"/>
                  </a:cubicBezTo>
                  <a:cubicBezTo>
                    <a:pt x="150847" y="29236"/>
                    <a:pt x="108373" y="28787"/>
                    <a:pt x="66040" y="30480"/>
                  </a:cubicBezTo>
                  <a:cubicBezTo>
                    <a:pt x="54187" y="32173"/>
                    <a:pt x="41597" y="31113"/>
                    <a:pt x="30480" y="35560"/>
                  </a:cubicBezTo>
                  <a:cubicBezTo>
                    <a:pt x="15935" y="41378"/>
                    <a:pt x="4654" y="71972"/>
                    <a:pt x="0" y="81280"/>
                  </a:cubicBezTo>
                  <a:cubicBezTo>
                    <a:pt x="6773" y="106680"/>
                    <a:pt x="10311" y="133172"/>
                    <a:pt x="20320" y="157480"/>
                  </a:cubicBezTo>
                  <a:cubicBezTo>
                    <a:pt x="22258" y="162187"/>
                    <a:pt x="54413" y="176883"/>
                    <a:pt x="55880" y="177800"/>
                  </a:cubicBezTo>
                  <a:cubicBezTo>
                    <a:pt x="63060" y="182287"/>
                    <a:pt x="68627" y="189254"/>
                    <a:pt x="76200" y="193040"/>
                  </a:cubicBezTo>
                  <a:cubicBezTo>
                    <a:pt x="82445" y="196162"/>
                    <a:pt x="89896" y="195912"/>
                    <a:pt x="96520" y="198120"/>
                  </a:cubicBezTo>
                  <a:cubicBezTo>
                    <a:pt x="105171" y="201004"/>
                    <a:pt x="113453" y="204893"/>
                    <a:pt x="121920" y="208280"/>
                  </a:cubicBezTo>
                  <a:cubicBezTo>
                    <a:pt x="149013" y="204893"/>
                    <a:pt x="176595" y="204260"/>
                    <a:pt x="203200" y="198120"/>
                  </a:cubicBezTo>
                  <a:cubicBezTo>
                    <a:pt x="355990" y="162861"/>
                    <a:pt x="155429" y="187657"/>
                    <a:pt x="304800" y="172720"/>
                  </a:cubicBezTo>
                  <a:cubicBezTo>
                    <a:pt x="350520" y="174413"/>
                    <a:pt x="396488" y="172748"/>
                    <a:pt x="441960" y="177800"/>
                  </a:cubicBezTo>
                  <a:cubicBezTo>
                    <a:pt x="457926" y="179574"/>
                    <a:pt x="471624" y="192514"/>
                    <a:pt x="487680" y="193040"/>
                  </a:cubicBezTo>
                  <a:cubicBezTo>
                    <a:pt x="575702" y="195926"/>
                    <a:pt x="663787" y="189653"/>
                    <a:pt x="751840" y="187960"/>
                  </a:cubicBezTo>
                  <a:cubicBezTo>
                    <a:pt x="814638" y="172261"/>
                    <a:pt x="747608" y="187565"/>
                    <a:pt x="894080" y="177800"/>
                  </a:cubicBezTo>
                  <a:cubicBezTo>
                    <a:pt x="923975" y="175807"/>
                    <a:pt x="917839" y="173915"/>
                    <a:pt x="939800" y="167640"/>
                  </a:cubicBezTo>
                  <a:cubicBezTo>
                    <a:pt x="972078" y="158418"/>
                    <a:pt x="948874" y="168183"/>
                    <a:pt x="980440" y="152400"/>
                  </a:cubicBezTo>
                  <a:cubicBezTo>
                    <a:pt x="982163" y="145509"/>
                    <a:pt x="1003479" y="91154"/>
                    <a:pt x="980440" y="81280"/>
                  </a:cubicBezTo>
                  <a:cubicBezTo>
                    <a:pt x="961763" y="73276"/>
                    <a:pt x="977900" y="79587"/>
                    <a:pt x="965200" y="76200"/>
                  </a:cubicBezTo>
                  <a:close/>
                </a:path>
              </a:pathLst>
            </a:custGeom>
            <a:solidFill>
              <a:srgbClr val="E9E8ED"/>
            </a:solidFill>
            <a:ln>
              <a:solidFill>
                <a:srgbClr val="E9E8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30" name="Rectangle 9">
            <a:extLst>
              <a:ext uri="{FF2B5EF4-FFF2-40B4-BE49-F238E27FC236}">
                <a16:creationId xmlns:a16="http://schemas.microsoft.com/office/drawing/2014/main" id="{CFBD691D-8B59-6F94-5650-9E9AE89A6DDD}"/>
              </a:ext>
            </a:extLst>
          </p:cNvPr>
          <p:cNvSpPr>
            <a:spLocks noChangeArrowheads="1"/>
          </p:cNvSpPr>
          <p:nvPr/>
        </p:nvSpPr>
        <p:spPr bwMode="auto">
          <a:xfrm>
            <a:off x="4312861" y="4124078"/>
            <a:ext cx="376670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dirty="0">
                <a:ln>
                  <a:noFill/>
                </a:ln>
                <a:solidFill>
                  <a:schemeClr val="tx1"/>
                </a:solidFill>
                <a:effectLst/>
                <a:latin typeface="Arial" panose="020B0604020202020204" pitchFamily="34" charset="0"/>
              </a:rPr>
              <a:t>Los datos visualizados provienen directamente de la base de datos a través de los servicios REST implementados.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34" name="CuadroTexto 33">
            <a:extLst>
              <a:ext uri="{FF2B5EF4-FFF2-40B4-BE49-F238E27FC236}">
                <a16:creationId xmlns:a16="http://schemas.microsoft.com/office/drawing/2014/main" id="{18F9788B-01CB-E1F6-1D74-3FDEB7BA9FB2}"/>
              </a:ext>
            </a:extLst>
          </p:cNvPr>
          <p:cNvSpPr txBox="1"/>
          <p:nvPr/>
        </p:nvSpPr>
        <p:spPr>
          <a:xfrm>
            <a:off x="8338457" y="591239"/>
            <a:ext cx="3853544" cy="923330"/>
          </a:xfrm>
          <a:prstGeom prst="rect">
            <a:avLst/>
          </a:prstGeom>
          <a:noFill/>
        </p:spPr>
        <p:txBody>
          <a:bodyPr wrap="square">
            <a:spAutoFit/>
          </a:bodyPr>
          <a:lstStyle/>
          <a:p>
            <a:r>
              <a:rPr lang="es-MX" dirty="0"/>
              <a:t>Se verificó el correcto funcionamiento del módulo de cursos.</a:t>
            </a:r>
          </a:p>
        </p:txBody>
      </p:sp>
      <p:grpSp>
        <p:nvGrpSpPr>
          <p:cNvPr id="39" name="Grupo 38">
            <a:extLst>
              <a:ext uri="{FF2B5EF4-FFF2-40B4-BE49-F238E27FC236}">
                <a16:creationId xmlns:a16="http://schemas.microsoft.com/office/drawing/2014/main" id="{5D4D2799-7038-2879-0280-0AA6545604A4}"/>
              </a:ext>
            </a:extLst>
          </p:cNvPr>
          <p:cNvGrpSpPr/>
          <p:nvPr/>
        </p:nvGrpSpPr>
        <p:grpSpPr>
          <a:xfrm>
            <a:off x="8338456" y="1588698"/>
            <a:ext cx="3871851" cy="2381986"/>
            <a:chOff x="0" y="327660"/>
            <a:chExt cx="12192000" cy="6202680"/>
          </a:xfrm>
        </p:grpSpPr>
        <p:pic>
          <p:nvPicPr>
            <p:cNvPr id="35" name="Imagen 34">
              <a:extLst>
                <a:ext uri="{FF2B5EF4-FFF2-40B4-BE49-F238E27FC236}">
                  <a16:creationId xmlns:a16="http://schemas.microsoft.com/office/drawing/2014/main" id="{68812788-E584-7E89-5417-84EAED1DC617}"/>
                </a:ext>
              </a:extLst>
            </p:cNvPr>
            <p:cNvPicPr>
              <a:picLocks noChangeAspect="1"/>
            </p:cNvPicPr>
            <p:nvPr/>
          </p:nvPicPr>
          <p:blipFill>
            <a:blip r:embed="rId4"/>
            <a:stretch>
              <a:fillRect/>
            </a:stretch>
          </p:blipFill>
          <p:spPr>
            <a:xfrm>
              <a:off x="0" y="327660"/>
              <a:ext cx="12192000" cy="6202680"/>
            </a:xfrm>
            <a:prstGeom prst="rect">
              <a:avLst/>
            </a:prstGeom>
          </p:spPr>
        </p:pic>
        <p:sp>
          <p:nvSpPr>
            <p:cNvPr id="37" name="Forma libre: forma 36">
              <a:extLst>
                <a:ext uri="{FF2B5EF4-FFF2-40B4-BE49-F238E27FC236}">
                  <a16:creationId xmlns:a16="http://schemas.microsoft.com/office/drawing/2014/main" id="{BE655785-7346-3097-0650-FA82B6E86BA7}"/>
                </a:ext>
              </a:extLst>
            </p:cNvPr>
            <p:cNvSpPr/>
            <p:nvPr/>
          </p:nvSpPr>
          <p:spPr>
            <a:xfrm>
              <a:off x="4301067" y="3064213"/>
              <a:ext cx="965200" cy="220854"/>
            </a:xfrm>
            <a:custGeom>
              <a:avLst/>
              <a:gdLst>
                <a:gd name="connsiteX0" fmla="*/ 656166 w 965200"/>
                <a:gd name="connsiteY0" fmla="*/ 59987 h 220854"/>
                <a:gd name="connsiteX1" fmla="*/ 609600 w 965200"/>
                <a:gd name="connsiteY1" fmla="*/ 43054 h 220854"/>
                <a:gd name="connsiteX2" fmla="*/ 541866 w 965200"/>
                <a:gd name="connsiteY2" fmla="*/ 34587 h 220854"/>
                <a:gd name="connsiteX3" fmla="*/ 520700 w 965200"/>
                <a:gd name="connsiteY3" fmla="*/ 30354 h 220854"/>
                <a:gd name="connsiteX4" fmla="*/ 495300 w 965200"/>
                <a:gd name="connsiteY4" fmla="*/ 21887 h 220854"/>
                <a:gd name="connsiteX5" fmla="*/ 427566 w 965200"/>
                <a:gd name="connsiteY5" fmla="*/ 13420 h 220854"/>
                <a:gd name="connsiteX6" fmla="*/ 300566 w 965200"/>
                <a:gd name="connsiteY6" fmla="*/ 720 h 220854"/>
                <a:gd name="connsiteX7" fmla="*/ 114300 w 965200"/>
                <a:gd name="connsiteY7" fmla="*/ 4954 h 220854"/>
                <a:gd name="connsiteX8" fmla="*/ 97366 w 965200"/>
                <a:gd name="connsiteY8" fmla="*/ 13420 h 220854"/>
                <a:gd name="connsiteX9" fmla="*/ 80433 w 965200"/>
                <a:gd name="connsiteY9" fmla="*/ 26120 h 220854"/>
                <a:gd name="connsiteX10" fmla="*/ 46566 w 965200"/>
                <a:gd name="connsiteY10" fmla="*/ 30354 h 220854"/>
                <a:gd name="connsiteX11" fmla="*/ 0 w 965200"/>
                <a:gd name="connsiteY11" fmla="*/ 76920 h 220854"/>
                <a:gd name="connsiteX12" fmla="*/ 4233 w 965200"/>
                <a:gd name="connsiteY12" fmla="*/ 178520 h 220854"/>
                <a:gd name="connsiteX13" fmla="*/ 8466 w 965200"/>
                <a:gd name="connsiteY13" fmla="*/ 191220 h 220854"/>
                <a:gd name="connsiteX14" fmla="*/ 21166 w 965200"/>
                <a:gd name="connsiteY14" fmla="*/ 203920 h 220854"/>
                <a:gd name="connsiteX15" fmla="*/ 29633 w 965200"/>
                <a:gd name="connsiteY15" fmla="*/ 216620 h 220854"/>
                <a:gd name="connsiteX16" fmla="*/ 59266 w 965200"/>
                <a:gd name="connsiteY16" fmla="*/ 220854 h 220854"/>
                <a:gd name="connsiteX17" fmla="*/ 330200 w 965200"/>
                <a:gd name="connsiteY17" fmla="*/ 212387 h 220854"/>
                <a:gd name="connsiteX18" fmla="*/ 385233 w 965200"/>
                <a:gd name="connsiteY18" fmla="*/ 208154 h 220854"/>
                <a:gd name="connsiteX19" fmla="*/ 728133 w 965200"/>
                <a:gd name="connsiteY19" fmla="*/ 203920 h 220854"/>
                <a:gd name="connsiteX20" fmla="*/ 922866 w 965200"/>
                <a:gd name="connsiteY20" fmla="*/ 203920 h 220854"/>
                <a:gd name="connsiteX21" fmla="*/ 935566 w 965200"/>
                <a:gd name="connsiteY21" fmla="*/ 195454 h 220854"/>
                <a:gd name="connsiteX22" fmla="*/ 948266 w 965200"/>
                <a:gd name="connsiteY22" fmla="*/ 178520 h 220854"/>
                <a:gd name="connsiteX23" fmla="*/ 965200 w 965200"/>
                <a:gd name="connsiteY23" fmla="*/ 136187 h 220854"/>
                <a:gd name="connsiteX24" fmla="*/ 952500 w 965200"/>
                <a:gd name="connsiteY24" fmla="*/ 81154 h 220854"/>
                <a:gd name="connsiteX25" fmla="*/ 927100 w 965200"/>
                <a:gd name="connsiteY25" fmla="*/ 72687 h 220854"/>
                <a:gd name="connsiteX26" fmla="*/ 905933 w 965200"/>
                <a:gd name="connsiteY26" fmla="*/ 64220 h 220854"/>
                <a:gd name="connsiteX27" fmla="*/ 893233 w 965200"/>
                <a:gd name="connsiteY27" fmla="*/ 55754 h 220854"/>
                <a:gd name="connsiteX28" fmla="*/ 867833 w 965200"/>
                <a:gd name="connsiteY28" fmla="*/ 51520 h 220854"/>
                <a:gd name="connsiteX29" fmla="*/ 850900 w 965200"/>
                <a:gd name="connsiteY29" fmla="*/ 43054 h 220854"/>
                <a:gd name="connsiteX30" fmla="*/ 791633 w 965200"/>
                <a:gd name="connsiteY30" fmla="*/ 30354 h 220854"/>
                <a:gd name="connsiteX31" fmla="*/ 651933 w 965200"/>
                <a:gd name="connsiteY31" fmla="*/ 34587 h 220854"/>
                <a:gd name="connsiteX32" fmla="*/ 647700 w 965200"/>
                <a:gd name="connsiteY32" fmla="*/ 51520 h 220854"/>
                <a:gd name="connsiteX33" fmla="*/ 656166 w 965200"/>
                <a:gd name="connsiteY33" fmla="*/ 59987 h 2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65200" h="220854">
                  <a:moveTo>
                    <a:pt x="656166" y="59987"/>
                  </a:moveTo>
                  <a:cubicBezTo>
                    <a:pt x="649816" y="58576"/>
                    <a:pt x="626691" y="47715"/>
                    <a:pt x="609600" y="43054"/>
                  </a:cubicBezTo>
                  <a:cubicBezTo>
                    <a:pt x="587723" y="37088"/>
                    <a:pt x="564030" y="36602"/>
                    <a:pt x="541866" y="34587"/>
                  </a:cubicBezTo>
                  <a:cubicBezTo>
                    <a:pt x="534811" y="33176"/>
                    <a:pt x="527642" y="32247"/>
                    <a:pt x="520700" y="30354"/>
                  </a:cubicBezTo>
                  <a:cubicBezTo>
                    <a:pt x="512090" y="28006"/>
                    <a:pt x="503996" y="23894"/>
                    <a:pt x="495300" y="21887"/>
                  </a:cubicBezTo>
                  <a:cubicBezTo>
                    <a:pt x="484091" y="19300"/>
                    <a:pt x="435789" y="14334"/>
                    <a:pt x="427566" y="13420"/>
                  </a:cubicBezTo>
                  <a:cubicBezTo>
                    <a:pt x="373647" y="-4551"/>
                    <a:pt x="397265" y="720"/>
                    <a:pt x="300566" y="720"/>
                  </a:cubicBezTo>
                  <a:cubicBezTo>
                    <a:pt x="238461" y="720"/>
                    <a:pt x="176389" y="3543"/>
                    <a:pt x="114300" y="4954"/>
                  </a:cubicBezTo>
                  <a:cubicBezTo>
                    <a:pt x="108655" y="7776"/>
                    <a:pt x="102718" y="10075"/>
                    <a:pt x="97366" y="13420"/>
                  </a:cubicBezTo>
                  <a:cubicBezTo>
                    <a:pt x="91383" y="17159"/>
                    <a:pt x="87126" y="23889"/>
                    <a:pt x="80433" y="26120"/>
                  </a:cubicBezTo>
                  <a:cubicBezTo>
                    <a:pt x="69640" y="29718"/>
                    <a:pt x="57855" y="28943"/>
                    <a:pt x="46566" y="30354"/>
                  </a:cubicBezTo>
                  <a:cubicBezTo>
                    <a:pt x="2143" y="59969"/>
                    <a:pt x="14134" y="41582"/>
                    <a:pt x="0" y="76920"/>
                  </a:cubicBezTo>
                  <a:cubicBezTo>
                    <a:pt x="1411" y="110787"/>
                    <a:pt x="1729" y="144717"/>
                    <a:pt x="4233" y="178520"/>
                  </a:cubicBezTo>
                  <a:cubicBezTo>
                    <a:pt x="4563" y="182970"/>
                    <a:pt x="5991" y="187507"/>
                    <a:pt x="8466" y="191220"/>
                  </a:cubicBezTo>
                  <a:cubicBezTo>
                    <a:pt x="11787" y="196201"/>
                    <a:pt x="17333" y="199321"/>
                    <a:pt x="21166" y="203920"/>
                  </a:cubicBezTo>
                  <a:cubicBezTo>
                    <a:pt x="24423" y="207829"/>
                    <a:pt x="24984" y="214554"/>
                    <a:pt x="29633" y="216620"/>
                  </a:cubicBezTo>
                  <a:cubicBezTo>
                    <a:pt x="38751" y="220673"/>
                    <a:pt x="49388" y="219443"/>
                    <a:pt x="59266" y="220854"/>
                  </a:cubicBezTo>
                  <a:lnTo>
                    <a:pt x="330200" y="212387"/>
                  </a:lnTo>
                  <a:cubicBezTo>
                    <a:pt x="348574" y="211445"/>
                    <a:pt x="366839" y="208545"/>
                    <a:pt x="385233" y="208154"/>
                  </a:cubicBezTo>
                  <a:lnTo>
                    <a:pt x="728133" y="203920"/>
                  </a:lnTo>
                  <a:cubicBezTo>
                    <a:pt x="763068" y="205012"/>
                    <a:pt x="871288" y="213022"/>
                    <a:pt x="922866" y="203920"/>
                  </a:cubicBezTo>
                  <a:cubicBezTo>
                    <a:pt x="927876" y="203036"/>
                    <a:pt x="931333" y="198276"/>
                    <a:pt x="935566" y="195454"/>
                  </a:cubicBezTo>
                  <a:cubicBezTo>
                    <a:pt x="939799" y="189809"/>
                    <a:pt x="944526" y="184503"/>
                    <a:pt x="948266" y="178520"/>
                  </a:cubicBezTo>
                  <a:cubicBezTo>
                    <a:pt x="957166" y="164281"/>
                    <a:pt x="959770" y="152475"/>
                    <a:pt x="965200" y="136187"/>
                  </a:cubicBezTo>
                  <a:cubicBezTo>
                    <a:pt x="960967" y="117843"/>
                    <a:pt x="962186" y="97298"/>
                    <a:pt x="952500" y="81154"/>
                  </a:cubicBezTo>
                  <a:cubicBezTo>
                    <a:pt x="947908" y="73501"/>
                    <a:pt x="935386" y="76002"/>
                    <a:pt x="927100" y="72687"/>
                  </a:cubicBezTo>
                  <a:cubicBezTo>
                    <a:pt x="920044" y="69865"/>
                    <a:pt x="912730" y="67618"/>
                    <a:pt x="905933" y="64220"/>
                  </a:cubicBezTo>
                  <a:cubicBezTo>
                    <a:pt x="901382" y="61945"/>
                    <a:pt x="898060" y="57363"/>
                    <a:pt x="893233" y="55754"/>
                  </a:cubicBezTo>
                  <a:cubicBezTo>
                    <a:pt x="885090" y="53040"/>
                    <a:pt x="876300" y="52931"/>
                    <a:pt x="867833" y="51520"/>
                  </a:cubicBezTo>
                  <a:cubicBezTo>
                    <a:pt x="862189" y="48698"/>
                    <a:pt x="856887" y="45050"/>
                    <a:pt x="850900" y="43054"/>
                  </a:cubicBezTo>
                  <a:cubicBezTo>
                    <a:pt x="829799" y="36020"/>
                    <a:pt x="812952" y="33907"/>
                    <a:pt x="791633" y="30354"/>
                  </a:cubicBezTo>
                  <a:lnTo>
                    <a:pt x="651933" y="34587"/>
                  </a:lnTo>
                  <a:cubicBezTo>
                    <a:pt x="646177" y="35433"/>
                    <a:pt x="648841" y="45815"/>
                    <a:pt x="647700" y="51520"/>
                  </a:cubicBezTo>
                  <a:cubicBezTo>
                    <a:pt x="646017" y="59937"/>
                    <a:pt x="662516" y="61398"/>
                    <a:pt x="656166" y="59987"/>
                  </a:cubicBezTo>
                  <a:close/>
                </a:path>
              </a:pathLst>
            </a:custGeom>
            <a:solidFill>
              <a:srgbClr val="FFFFFF"/>
            </a:solidFill>
            <a:ln>
              <a:solidFill>
                <a:srgbClr val="FEF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8" name="Forma libre: forma 37">
              <a:extLst>
                <a:ext uri="{FF2B5EF4-FFF2-40B4-BE49-F238E27FC236}">
                  <a16:creationId xmlns:a16="http://schemas.microsoft.com/office/drawing/2014/main" id="{33A6F391-C1A4-AE09-E942-09A61CE809A5}"/>
                </a:ext>
              </a:extLst>
            </p:cNvPr>
            <p:cNvSpPr/>
            <p:nvPr/>
          </p:nvSpPr>
          <p:spPr>
            <a:xfrm>
              <a:off x="5813525" y="3064213"/>
              <a:ext cx="965200" cy="220854"/>
            </a:xfrm>
            <a:custGeom>
              <a:avLst/>
              <a:gdLst>
                <a:gd name="connsiteX0" fmla="*/ 656166 w 965200"/>
                <a:gd name="connsiteY0" fmla="*/ 59987 h 220854"/>
                <a:gd name="connsiteX1" fmla="*/ 609600 w 965200"/>
                <a:gd name="connsiteY1" fmla="*/ 43054 h 220854"/>
                <a:gd name="connsiteX2" fmla="*/ 541866 w 965200"/>
                <a:gd name="connsiteY2" fmla="*/ 34587 h 220854"/>
                <a:gd name="connsiteX3" fmla="*/ 520700 w 965200"/>
                <a:gd name="connsiteY3" fmla="*/ 30354 h 220854"/>
                <a:gd name="connsiteX4" fmla="*/ 495300 w 965200"/>
                <a:gd name="connsiteY4" fmla="*/ 21887 h 220854"/>
                <a:gd name="connsiteX5" fmla="*/ 427566 w 965200"/>
                <a:gd name="connsiteY5" fmla="*/ 13420 h 220854"/>
                <a:gd name="connsiteX6" fmla="*/ 300566 w 965200"/>
                <a:gd name="connsiteY6" fmla="*/ 720 h 220854"/>
                <a:gd name="connsiteX7" fmla="*/ 114300 w 965200"/>
                <a:gd name="connsiteY7" fmla="*/ 4954 h 220854"/>
                <a:gd name="connsiteX8" fmla="*/ 97366 w 965200"/>
                <a:gd name="connsiteY8" fmla="*/ 13420 h 220854"/>
                <a:gd name="connsiteX9" fmla="*/ 80433 w 965200"/>
                <a:gd name="connsiteY9" fmla="*/ 26120 h 220854"/>
                <a:gd name="connsiteX10" fmla="*/ 46566 w 965200"/>
                <a:gd name="connsiteY10" fmla="*/ 30354 h 220854"/>
                <a:gd name="connsiteX11" fmla="*/ 0 w 965200"/>
                <a:gd name="connsiteY11" fmla="*/ 76920 h 220854"/>
                <a:gd name="connsiteX12" fmla="*/ 4233 w 965200"/>
                <a:gd name="connsiteY12" fmla="*/ 178520 h 220854"/>
                <a:gd name="connsiteX13" fmla="*/ 8466 w 965200"/>
                <a:gd name="connsiteY13" fmla="*/ 191220 h 220854"/>
                <a:gd name="connsiteX14" fmla="*/ 21166 w 965200"/>
                <a:gd name="connsiteY14" fmla="*/ 203920 h 220854"/>
                <a:gd name="connsiteX15" fmla="*/ 29633 w 965200"/>
                <a:gd name="connsiteY15" fmla="*/ 216620 h 220854"/>
                <a:gd name="connsiteX16" fmla="*/ 59266 w 965200"/>
                <a:gd name="connsiteY16" fmla="*/ 220854 h 220854"/>
                <a:gd name="connsiteX17" fmla="*/ 330200 w 965200"/>
                <a:gd name="connsiteY17" fmla="*/ 212387 h 220854"/>
                <a:gd name="connsiteX18" fmla="*/ 385233 w 965200"/>
                <a:gd name="connsiteY18" fmla="*/ 208154 h 220854"/>
                <a:gd name="connsiteX19" fmla="*/ 728133 w 965200"/>
                <a:gd name="connsiteY19" fmla="*/ 203920 h 220854"/>
                <a:gd name="connsiteX20" fmla="*/ 922866 w 965200"/>
                <a:gd name="connsiteY20" fmla="*/ 203920 h 220854"/>
                <a:gd name="connsiteX21" fmla="*/ 935566 w 965200"/>
                <a:gd name="connsiteY21" fmla="*/ 195454 h 220854"/>
                <a:gd name="connsiteX22" fmla="*/ 948266 w 965200"/>
                <a:gd name="connsiteY22" fmla="*/ 178520 h 220854"/>
                <a:gd name="connsiteX23" fmla="*/ 965200 w 965200"/>
                <a:gd name="connsiteY23" fmla="*/ 136187 h 220854"/>
                <a:gd name="connsiteX24" fmla="*/ 952500 w 965200"/>
                <a:gd name="connsiteY24" fmla="*/ 81154 h 220854"/>
                <a:gd name="connsiteX25" fmla="*/ 927100 w 965200"/>
                <a:gd name="connsiteY25" fmla="*/ 72687 h 220854"/>
                <a:gd name="connsiteX26" fmla="*/ 905933 w 965200"/>
                <a:gd name="connsiteY26" fmla="*/ 64220 h 220854"/>
                <a:gd name="connsiteX27" fmla="*/ 893233 w 965200"/>
                <a:gd name="connsiteY27" fmla="*/ 55754 h 220854"/>
                <a:gd name="connsiteX28" fmla="*/ 867833 w 965200"/>
                <a:gd name="connsiteY28" fmla="*/ 51520 h 220854"/>
                <a:gd name="connsiteX29" fmla="*/ 850900 w 965200"/>
                <a:gd name="connsiteY29" fmla="*/ 43054 h 220854"/>
                <a:gd name="connsiteX30" fmla="*/ 791633 w 965200"/>
                <a:gd name="connsiteY30" fmla="*/ 30354 h 220854"/>
                <a:gd name="connsiteX31" fmla="*/ 651933 w 965200"/>
                <a:gd name="connsiteY31" fmla="*/ 34587 h 220854"/>
                <a:gd name="connsiteX32" fmla="*/ 647700 w 965200"/>
                <a:gd name="connsiteY32" fmla="*/ 51520 h 220854"/>
                <a:gd name="connsiteX33" fmla="*/ 656166 w 965200"/>
                <a:gd name="connsiteY33" fmla="*/ 59987 h 2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65200" h="220854">
                  <a:moveTo>
                    <a:pt x="656166" y="59987"/>
                  </a:moveTo>
                  <a:cubicBezTo>
                    <a:pt x="649816" y="58576"/>
                    <a:pt x="626691" y="47715"/>
                    <a:pt x="609600" y="43054"/>
                  </a:cubicBezTo>
                  <a:cubicBezTo>
                    <a:pt x="587723" y="37088"/>
                    <a:pt x="564030" y="36602"/>
                    <a:pt x="541866" y="34587"/>
                  </a:cubicBezTo>
                  <a:cubicBezTo>
                    <a:pt x="534811" y="33176"/>
                    <a:pt x="527642" y="32247"/>
                    <a:pt x="520700" y="30354"/>
                  </a:cubicBezTo>
                  <a:cubicBezTo>
                    <a:pt x="512090" y="28006"/>
                    <a:pt x="503996" y="23894"/>
                    <a:pt x="495300" y="21887"/>
                  </a:cubicBezTo>
                  <a:cubicBezTo>
                    <a:pt x="484091" y="19300"/>
                    <a:pt x="435789" y="14334"/>
                    <a:pt x="427566" y="13420"/>
                  </a:cubicBezTo>
                  <a:cubicBezTo>
                    <a:pt x="373647" y="-4551"/>
                    <a:pt x="397265" y="720"/>
                    <a:pt x="300566" y="720"/>
                  </a:cubicBezTo>
                  <a:cubicBezTo>
                    <a:pt x="238461" y="720"/>
                    <a:pt x="176389" y="3543"/>
                    <a:pt x="114300" y="4954"/>
                  </a:cubicBezTo>
                  <a:cubicBezTo>
                    <a:pt x="108655" y="7776"/>
                    <a:pt x="102718" y="10075"/>
                    <a:pt x="97366" y="13420"/>
                  </a:cubicBezTo>
                  <a:cubicBezTo>
                    <a:pt x="91383" y="17159"/>
                    <a:pt x="87126" y="23889"/>
                    <a:pt x="80433" y="26120"/>
                  </a:cubicBezTo>
                  <a:cubicBezTo>
                    <a:pt x="69640" y="29718"/>
                    <a:pt x="57855" y="28943"/>
                    <a:pt x="46566" y="30354"/>
                  </a:cubicBezTo>
                  <a:cubicBezTo>
                    <a:pt x="2143" y="59969"/>
                    <a:pt x="14134" y="41582"/>
                    <a:pt x="0" y="76920"/>
                  </a:cubicBezTo>
                  <a:cubicBezTo>
                    <a:pt x="1411" y="110787"/>
                    <a:pt x="1729" y="144717"/>
                    <a:pt x="4233" y="178520"/>
                  </a:cubicBezTo>
                  <a:cubicBezTo>
                    <a:pt x="4563" y="182970"/>
                    <a:pt x="5991" y="187507"/>
                    <a:pt x="8466" y="191220"/>
                  </a:cubicBezTo>
                  <a:cubicBezTo>
                    <a:pt x="11787" y="196201"/>
                    <a:pt x="17333" y="199321"/>
                    <a:pt x="21166" y="203920"/>
                  </a:cubicBezTo>
                  <a:cubicBezTo>
                    <a:pt x="24423" y="207829"/>
                    <a:pt x="24984" y="214554"/>
                    <a:pt x="29633" y="216620"/>
                  </a:cubicBezTo>
                  <a:cubicBezTo>
                    <a:pt x="38751" y="220673"/>
                    <a:pt x="49388" y="219443"/>
                    <a:pt x="59266" y="220854"/>
                  </a:cubicBezTo>
                  <a:lnTo>
                    <a:pt x="330200" y="212387"/>
                  </a:lnTo>
                  <a:cubicBezTo>
                    <a:pt x="348574" y="211445"/>
                    <a:pt x="366839" y="208545"/>
                    <a:pt x="385233" y="208154"/>
                  </a:cubicBezTo>
                  <a:lnTo>
                    <a:pt x="728133" y="203920"/>
                  </a:lnTo>
                  <a:cubicBezTo>
                    <a:pt x="763068" y="205012"/>
                    <a:pt x="871288" y="213022"/>
                    <a:pt x="922866" y="203920"/>
                  </a:cubicBezTo>
                  <a:cubicBezTo>
                    <a:pt x="927876" y="203036"/>
                    <a:pt x="931333" y="198276"/>
                    <a:pt x="935566" y="195454"/>
                  </a:cubicBezTo>
                  <a:cubicBezTo>
                    <a:pt x="939799" y="189809"/>
                    <a:pt x="944526" y="184503"/>
                    <a:pt x="948266" y="178520"/>
                  </a:cubicBezTo>
                  <a:cubicBezTo>
                    <a:pt x="957166" y="164281"/>
                    <a:pt x="959770" y="152475"/>
                    <a:pt x="965200" y="136187"/>
                  </a:cubicBezTo>
                  <a:cubicBezTo>
                    <a:pt x="960967" y="117843"/>
                    <a:pt x="962186" y="97298"/>
                    <a:pt x="952500" y="81154"/>
                  </a:cubicBezTo>
                  <a:cubicBezTo>
                    <a:pt x="947908" y="73501"/>
                    <a:pt x="935386" y="76002"/>
                    <a:pt x="927100" y="72687"/>
                  </a:cubicBezTo>
                  <a:cubicBezTo>
                    <a:pt x="920044" y="69865"/>
                    <a:pt x="912730" y="67618"/>
                    <a:pt x="905933" y="64220"/>
                  </a:cubicBezTo>
                  <a:cubicBezTo>
                    <a:pt x="901382" y="61945"/>
                    <a:pt x="898060" y="57363"/>
                    <a:pt x="893233" y="55754"/>
                  </a:cubicBezTo>
                  <a:cubicBezTo>
                    <a:pt x="885090" y="53040"/>
                    <a:pt x="876300" y="52931"/>
                    <a:pt x="867833" y="51520"/>
                  </a:cubicBezTo>
                  <a:cubicBezTo>
                    <a:pt x="862189" y="48698"/>
                    <a:pt x="856887" y="45050"/>
                    <a:pt x="850900" y="43054"/>
                  </a:cubicBezTo>
                  <a:cubicBezTo>
                    <a:pt x="829799" y="36020"/>
                    <a:pt x="812952" y="33907"/>
                    <a:pt x="791633" y="30354"/>
                  </a:cubicBezTo>
                  <a:lnTo>
                    <a:pt x="651933" y="34587"/>
                  </a:lnTo>
                  <a:cubicBezTo>
                    <a:pt x="646177" y="35433"/>
                    <a:pt x="648841" y="45815"/>
                    <a:pt x="647700" y="51520"/>
                  </a:cubicBezTo>
                  <a:cubicBezTo>
                    <a:pt x="646017" y="59937"/>
                    <a:pt x="662516" y="61398"/>
                    <a:pt x="656166" y="59987"/>
                  </a:cubicBezTo>
                  <a:close/>
                </a:path>
              </a:pathLst>
            </a:custGeom>
            <a:solidFill>
              <a:srgbClr val="E9E8ED"/>
            </a:solidFill>
            <a:ln>
              <a:solidFill>
                <a:srgbClr val="E9E8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41" name="CuadroTexto 40">
            <a:extLst>
              <a:ext uri="{FF2B5EF4-FFF2-40B4-BE49-F238E27FC236}">
                <a16:creationId xmlns:a16="http://schemas.microsoft.com/office/drawing/2014/main" id="{29E6A60D-E542-EC99-AF1E-5595EBDD26A4}"/>
              </a:ext>
            </a:extLst>
          </p:cNvPr>
          <p:cNvSpPr txBox="1"/>
          <p:nvPr/>
        </p:nvSpPr>
        <p:spPr>
          <a:xfrm>
            <a:off x="8196945" y="4235120"/>
            <a:ext cx="3995055" cy="923330"/>
          </a:xfrm>
          <a:prstGeom prst="rect">
            <a:avLst/>
          </a:prstGeom>
          <a:noFill/>
        </p:spPr>
        <p:txBody>
          <a:bodyPr wrap="square">
            <a:spAutoFit/>
          </a:bodyPr>
          <a:lstStyle/>
          <a:p>
            <a:r>
              <a:rPr lang="es-MX" dirty="0"/>
              <a:t>La aplicación mostró la información almacenada en el sistema de manera dinámica.</a:t>
            </a:r>
          </a:p>
        </p:txBody>
      </p:sp>
    </p:spTree>
    <p:extLst>
      <p:ext uri="{BB962C8B-B14F-4D97-AF65-F5344CB8AC3E}">
        <p14:creationId xmlns:p14="http://schemas.microsoft.com/office/powerpoint/2010/main" val="3871713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D24EF3-270A-88E1-56F7-77D63D18E500}"/>
              </a:ext>
            </a:extLst>
          </p:cNvPr>
          <p:cNvSpPr>
            <a:spLocks noGrp="1"/>
          </p:cNvSpPr>
          <p:nvPr>
            <p:ph type="title"/>
          </p:nvPr>
        </p:nvSpPr>
        <p:spPr>
          <a:xfrm>
            <a:off x="3712028" y="0"/>
            <a:ext cx="4136571" cy="473075"/>
          </a:xfrm>
        </p:spPr>
        <p:txBody>
          <a:bodyPr>
            <a:normAutofit/>
          </a:bodyPr>
          <a:lstStyle/>
          <a:p>
            <a:r>
              <a:rPr lang="es-MX" sz="2500" dirty="0"/>
              <a:t>3. Actualización de registros</a:t>
            </a:r>
          </a:p>
        </p:txBody>
      </p:sp>
      <p:sp>
        <p:nvSpPr>
          <p:cNvPr id="5" name="CuadroTexto 4">
            <a:extLst>
              <a:ext uri="{FF2B5EF4-FFF2-40B4-BE49-F238E27FC236}">
                <a16:creationId xmlns:a16="http://schemas.microsoft.com/office/drawing/2014/main" id="{62828964-E659-CB98-9841-1DA03F634DB0}"/>
              </a:ext>
            </a:extLst>
          </p:cNvPr>
          <p:cNvSpPr txBox="1"/>
          <p:nvPr/>
        </p:nvSpPr>
        <p:spPr>
          <a:xfrm>
            <a:off x="664028" y="985166"/>
            <a:ext cx="6096000" cy="646331"/>
          </a:xfrm>
          <a:prstGeom prst="rect">
            <a:avLst/>
          </a:prstGeom>
          <a:noFill/>
        </p:spPr>
        <p:txBody>
          <a:bodyPr wrap="square">
            <a:spAutoFit/>
          </a:bodyPr>
          <a:lstStyle/>
          <a:p>
            <a:r>
              <a:rPr lang="es-MX" dirty="0"/>
              <a:t>Se realizaron operaciones de actualización sobre la información almacenada.</a:t>
            </a:r>
          </a:p>
        </p:txBody>
      </p:sp>
      <p:sp>
        <p:nvSpPr>
          <p:cNvPr id="7" name="CuadroTexto 6">
            <a:extLst>
              <a:ext uri="{FF2B5EF4-FFF2-40B4-BE49-F238E27FC236}">
                <a16:creationId xmlns:a16="http://schemas.microsoft.com/office/drawing/2014/main" id="{1F26130E-AF63-D363-8E77-96E82A37B610}"/>
              </a:ext>
            </a:extLst>
          </p:cNvPr>
          <p:cNvSpPr txBox="1"/>
          <p:nvPr/>
        </p:nvSpPr>
        <p:spPr>
          <a:xfrm>
            <a:off x="6096000" y="1000137"/>
            <a:ext cx="6096000" cy="646331"/>
          </a:xfrm>
          <a:prstGeom prst="rect">
            <a:avLst/>
          </a:prstGeom>
          <a:noFill/>
        </p:spPr>
        <p:txBody>
          <a:bodyPr wrap="square">
            <a:spAutoFit/>
          </a:bodyPr>
          <a:lstStyle/>
          <a:p>
            <a:r>
              <a:rPr lang="es-MX" dirty="0"/>
              <a:t>Esto permitió comprobar el correcto funcionamiento de las operaciones CRUD implementadas.</a:t>
            </a:r>
          </a:p>
        </p:txBody>
      </p:sp>
      <p:pic>
        <p:nvPicPr>
          <p:cNvPr id="9" name="Imagen 8">
            <a:extLst>
              <a:ext uri="{FF2B5EF4-FFF2-40B4-BE49-F238E27FC236}">
                <a16:creationId xmlns:a16="http://schemas.microsoft.com/office/drawing/2014/main" id="{0FA355B8-0A34-50D6-FD80-E2F6EB275AA2}"/>
              </a:ext>
            </a:extLst>
          </p:cNvPr>
          <p:cNvPicPr>
            <a:picLocks noChangeAspect="1"/>
          </p:cNvPicPr>
          <p:nvPr/>
        </p:nvPicPr>
        <p:blipFill>
          <a:blip r:embed="rId2"/>
          <a:stretch>
            <a:fillRect/>
          </a:stretch>
        </p:blipFill>
        <p:spPr>
          <a:xfrm>
            <a:off x="306327" y="2307771"/>
            <a:ext cx="5561074" cy="2829196"/>
          </a:xfrm>
          <a:prstGeom prst="rect">
            <a:avLst/>
          </a:prstGeom>
        </p:spPr>
      </p:pic>
      <p:pic>
        <p:nvPicPr>
          <p:cNvPr id="10" name="Imagen 9">
            <a:extLst>
              <a:ext uri="{FF2B5EF4-FFF2-40B4-BE49-F238E27FC236}">
                <a16:creationId xmlns:a16="http://schemas.microsoft.com/office/drawing/2014/main" id="{AE4F8491-14E7-EEF8-2D72-FC6DC4CA9D8D}"/>
              </a:ext>
            </a:extLst>
          </p:cNvPr>
          <p:cNvPicPr>
            <a:picLocks noChangeAspect="1"/>
          </p:cNvPicPr>
          <p:nvPr/>
        </p:nvPicPr>
        <p:blipFill>
          <a:blip r:embed="rId3"/>
          <a:stretch>
            <a:fillRect/>
          </a:stretch>
        </p:blipFill>
        <p:spPr>
          <a:xfrm>
            <a:off x="6324600" y="2307772"/>
            <a:ext cx="5561075" cy="2829197"/>
          </a:xfrm>
          <a:prstGeom prst="rect">
            <a:avLst/>
          </a:prstGeom>
        </p:spPr>
      </p:pic>
    </p:spTree>
    <p:extLst>
      <p:ext uri="{BB962C8B-B14F-4D97-AF65-F5344CB8AC3E}">
        <p14:creationId xmlns:p14="http://schemas.microsoft.com/office/powerpoint/2010/main" val="2253320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46AD3-8A04-8509-150D-51A409CC27E2}"/>
              </a:ext>
            </a:extLst>
          </p:cNvPr>
          <p:cNvSpPr>
            <a:spLocks noGrp="1"/>
          </p:cNvSpPr>
          <p:nvPr>
            <p:ph type="title"/>
          </p:nvPr>
        </p:nvSpPr>
        <p:spPr>
          <a:xfrm>
            <a:off x="2971800" y="0"/>
            <a:ext cx="5856514" cy="315912"/>
          </a:xfrm>
        </p:spPr>
        <p:txBody>
          <a:bodyPr>
            <a:normAutofit fontScale="90000"/>
          </a:bodyPr>
          <a:lstStyle/>
          <a:p>
            <a:r>
              <a:rPr lang="es-MX" sz="2500" b="1" dirty="0"/>
              <a:t>4. Verificación de persistencia en MySQL</a:t>
            </a:r>
            <a:endParaRPr lang="es-MX" sz="2500" dirty="0"/>
          </a:p>
        </p:txBody>
      </p:sp>
      <p:pic>
        <p:nvPicPr>
          <p:cNvPr id="6" name="Marcador de contenido 5">
            <a:extLst>
              <a:ext uri="{FF2B5EF4-FFF2-40B4-BE49-F238E27FC236}">
                <a16:creationId xmlns:a16="http://schemas.microsoft.com/office/drawing/2014/main" id="{D08DA9D8-7F13-3C42-5D1C-9553206D6B1A}"/>
              </a:ext>
            </a:extLst>
          </p:cNvPr>
          <p:cNvPicPr>
            <a:picLocks noGrp="1" noChangeAspect="1"/>
          </p:cNvPicPr>
          <p:nvPr>
            <p:ph idx="1"/>
          </p:nvPr>
        </p:nvPicPr>
        <p:blipFill>
          <a:blip r:embed="rId2"/>
          <a:stretch>
            <a:fillRect/>
          </a:stretch>
        </p:blipFill>
        <p:spPr>
          <a:xfrm>
            <a:off x="5089292" y="1333828"/>
            <a:ext cx="4587377" cy="2334306"/>
          </a:xfrm>
          <a:prstGeom prst="rect">
            <a:avLst/>
          </a:prstGeom>
        </p:spPr>
      </p:pic>
      <p:sp>
        <p:nvSpPr>
          <p:cNvPr id="5" name="CuadroTexto 4">
            <a:extLst>
              <a:ext uri="{FF2B5EF4-FFF2-40B4-BE49-F238E27FC236}">
                <a16:creationId xmlns:a16="http://schemas.microsoft.com/office/drawing/2014/main" id="{6D8AAADF-EAE1-7A6B-3DFA-B39ECB698FDD}"/>
              </a:ext>
            </a:extLst>
          </p:cNvPr>
          <p:cNvSpPr txBox="1"/>
          <p:nvPr/>
        </p:nvSpPr>
        <p:spPr>
          <a:xfrm>
            <a:off x="1926772" y="681037"/>
            <a:ext cx="9263742" cy="369332"/>
          </a:xfrm>
          <a:prstGeom prst="rect">
            <a:avLst/>
          </a:prstGeom>
          <a:noFill/>
        </p:spPr>
        <p:txBody>
          <a:bodyPr wrap="square">
            <a:spAutoFit/>
          </a:bodyPr>
          <a:lstStyle/>
          <a:p>
            <a:r>
              <a:rPr lang="es-MX" dirty="0"/>
              <a:t>Finalmente se verificó la información almacenada dentro de la base de datos.</a:t>
            </a:r>
          </a:p>
        </p:txBody>
      </p:sp>
      <p:pic>
        <p:nvPicPr>
          <p:cNvPr id="7" name="Imagen 6">
            <a:extLst>
              <a:ext uri="{FF2B5EF4-FFF2-40B4-BE49-F238E27FC236}">
                <a16:creationId xmlns:a16="http://schemas.microsoft.com/office/drawing/2014/main" id="{336FB349-1F52-6A68-CE31-4ECEF74E87F5}"/>
              </a:ext>
            </a:extLst>
          </p:cNvPr>
          <p:cNvPicPr>
            <a:picLocks noChangeAspect="1"/>
          </p:cNvPicPr>
          <p:nvPr/>
        </p:nvPicPr>
        <p:blipFill>
          <a:blip r:embed="rId3"/>
          <a:stretch>
            <a:fillRect/>
          </a:stretch>
        </p:blipFill>
        <p:spPr>
          <a:xfrm>
            <a:off x="221644" y="3951593"/>
            <a:ext cx="4587377" cy="2334306"/>
          </a:xfrm>
          <a:prstGeom prst="rect">
            <a:avLst/>
          </a:prstGeom>
        </p:spPr>
      </p:pic>
      <p:pic>
        <p:nvPicPr>
          <p:cNvPr id="8" name="Imagen 7">
            <a:extLst>
              <a:ext uri="{FF2B5EF4-FFF2-40B4-BE49-F238E27FC236}">
                <a16:creationId xmlns:a16="http://schemas.microsoft.com/office/drawing/2014/main" id="{F09AEB02-A596-F1CA-1E4E-D1F79C583334}"/>
              </a:ext>
            </a:extLst>
          </p:cNvPr>
          <p:cNvPicPr>
            <a:picLocks noChangeAspect="1"/>
          </p:cNvPicPr>
          <p:nvPr/>
        </p:nvPicPr>
        <p:blipFill>
          <a:blip r:embed="rId4"/>
          <a:stretch>
            <a:fillRect/>
          </a:stretch>
        </p:blipFill>
        <p:spPr>
          <a:xfrm>
            <a:off x="221644" y="1333828"/>
            <a:ext cx="4587377" cy="2334306"/>
          </a:xfrm>
          <a:prstGeom prst="rect">
            <a:avLst/>
          </a:prstGeom>
        </p:spPr>
      </p:pic>
      <p:sp>
        <p:nvSpPr>
          <p:cNvPr id="10" name="CuadroTexto 9">
            <a:extLst>
              <a:ext uri="{FF2B5EF4-FFF2-40B4-BE49-F238E27FC236}">
                <a16:creationId xmlns:a16="http://schemas.microsoft.com/office/drawing/2014/main" id="{EE34BF28-0D82-6858-9AF5-8FD0CBB483C9}"/>
              </a:ext>
            </a:extLst>
          </p:cNvPr>
          <p:cNvSpPr txBox="1"/>
          <p:nvPr/>
        </p:nvSpPr>
        <p:spPr>
          <a:xfrm>
            <a:off x="5094514" y="4249923"/>
            <a:ext cx="6096000" cy="923330"/>
          </a:xfrm>
          <a:prstGeom prst="rect">
            <a:avLst/>
          </a:prstGeom>
          <a:noFill/>
        </p:spPr>
        <p:txBody>
          <a:bodyPr wrap="square">
            <a:spAutoFit/>
          </a:bodyPr>
          <a:lstStyle/>
          <a:p>
            <a:r>
              <a:rPr lang="es-MX" dirty="0"/>
              <a:t>Las capturas demuestran que la información administrada desde Angular se encuentra almacenada correctamente en MySQL.</a:t>
            </a:r>
          </a:p>
        </p:txBody>
      </p:sp>
    </p:spTree>
    <p:extLst>
      <p:ext uri="{BB962C8B-B14F-4D97-AF65-F5344CB8AC3E}">
        <p14:creationId xmlns:p14="http://schemas.microsoft.com/office/powerpoint/2010/main" val="22646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61E04B-9D0B-7085-3663-590D2E2FEECD}"/>
              </a:ext>
            </a:extLst>
          </p:cNvPr>
          <p:cNvSpPr>
            <a:spLocks noGrp="1"/>
          </p:cNvSpPr>
          <p:nvPr>
            <p:ph type="title"/>
          </p:nvPr>
        </p:nvSpPr>
        <p:spPr/>
        <p:txBody>
          <a:bodyPr/>
          <a:lstStyle/>
          <a:p>
            <a:r>
              <a:rPr lang="es-MX" dirty="0"/>
              <a:t>Resultados obtenidos</a:t>
            </a:r>
          </a:p>
        </p:txBody>
      </p:sp>
      <p:sp>
        <p:nvSpPr>
          <p:cNvPr id="4" name="Rectangle 1">
            <a:extLst>
              <a:ext uri="{FF2B5EF4-FFF2-40B4-BE49-F238E27FC236}">
                <a16:creationId xmlns:a16="http://schemas.microsoft.com/office/drawing/2014/main" id="{866F3778-6C76-9567-0635-AD45457F2CB8}"/>
              </a:ext>
            </a:extLst>
          </p:cNvPr>
          <p:cNvSpPr>
            <a:spLocks noGrp="1" noChangeArrowheads="1"/>
          </p:cNvSpPr>
          <p:nvPr>
            <p:ph idx="1"/>
          </p:nvPr>
        </p:nvSpPr>
        <p:spPr bwMode="auto">
          <a:xfrm>
            <a:off x="838200" y="1690688"/>
            <a:ext cx="964719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s-MX" altLang="es-MX" sz="2000" b="0" i="0" u="none" strike="noStrike" cap="none" normalizeH="0" baseline="0" dirty="0">
                <a:ln>
                  <a:noFill/>
                </a:ln>
                <a:solidFill>
                  <a:schemeClr val="tx1"/>
                </a:solidFill>
                <a:effectLst/>
                <a:latin typeface="Arial" panose="020B0604020202020204" pitchFamily="34" charset="0"/>
              </a:rPr>
              <a:t>Se logró implementar una aplicación web utilizando Angular.</a:t>
            </a:r>
          </a:p>
          <a:p>
            <a:pPr eaLnBrk="0" fontAlgn="base" hangingPunct="0">
              <a:lnSpc>
                <a:spcPct val="100000"/>
              </a:lnSpc>
              <a:spcBef>
                <a:spcPct val="0"/>
              </a:spcBef>
              <a:spcAft>
                <a:spcPct val="0"/>
              </a:spcAft>
            </a:pPr>
            <a:r>
              <a:rPr kumimoji="0" lang="es-MX" altLang="es-MX" sz="2000" b="0" i="0" u="none" strike="noStrike" cap="none" normalizeH="0" baseline="0" dirty="0">
                <a:ln>
                  <a:noFill/>
                </a:ln>
                <a:solidFill>
                  <a:schemeClr val="tx1"/>
                </a:solidFill>
                <a:effectLst/>
                <a:latin typeface="Arial" panose="020B0604020202020204" pitchFamily="34" charset="0"/>
              </a:rPr>
              <a:t>Se consumieron correctamente los microservicios desarrollados con Spring </a:t>
            </a:r>
            <a:r>
              <a:rPr kumimoji="0" lang="es-MX" altLang="es-MX" sz="2000" b="0" i="0" u="none" strike="noStrike" cap="none" normalizeH="0" baseline="0" dirty="0" err="1">
                <a:ln>
                  <a:noFill/>
                </a:ln>
                <a:solidFill>
                  <a:schemeClr val="tx1"/>
                </a:solidFill>
                <a:effectLst/>
                <a:latin typeface="Arial" panose="020B0604020202020204" pitchFamily="34" charset="0"/>
              </a:rPr>
              <a:t>Boot</a:t>
            </a:r>
            <a:r>
              <a:rPr kumimoji="0" lang="es-MX" altLang="es-MX" sz="20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r>
              <a:rPr kumimoji="0" lang="es-MX" altLang="es-MX" sz="2000" b="0" i="0" u="none" strike="noStrike" cap="none" normalizeH="0" baseline="0" dirty="0">
                <a:ln>
                  <a:noFill/>
                </a:ln>
                <a:solidFill>
                  <a:schemeClr val="tx1"/>
                </a:solidFill>
                <a:effectLst/>
                <a:latin typeface="Arial" panose="020B0604020202020204" pitchFamily="34" charset="0"/>
              </a:rPr>
              <a:t>Se verificó la comunicación entre </a:t>
            </a:r>
            <a:r>
              <a:rPr kumimoji="0" lang="es-MX" altLang="es-MX" sz="2000" b="0" i="0" u="none" strike="noStrike" cap="none" normalizeH="0" baseline="0" dirty="0" err="1">
                <a:ln>
                  <a:noFill/>
                </a:ln>
                <a:solidFill>
                  <a:schemeClr val="tx1"/>
                </a:solidFill>
                <a:effectLst/>
                <a:latin typeface="Arial" panose="020B0604020202020204" pitchFamily="34" charset="0"/>
              </a:rPr>
              <a:t>frontend</a:t>
            </a:r>
            <a:r>
              <a:rPr kumimoji="0" lang="es-MX" altLang="es-MX" sz="2000" b="0" i="0" u="none" strike="noStrike" cap="none" normalizeH="0" baseline="0" dirty="0">
                <a:ln>
                  <a:noFill/>
                </a:ln>
                <a:solidFill>
                  <a:schemeClr val="tx1"/>
                </a:solidFill>
                <a:effectLst/>
                <a:latin typeface="Arial" panose="020B0604020202020204" pitchFamily="34" charset="0"/>
              </a:rPr>
              <a:t> y </a:t>
            </a:r>
            <a:r>
              <a:rPr kumimoji="0" lang="es-MX" altLang="es-MX" sz="2000" b="0" i="0" u="none" strike="noStrike" cap="none" normalizeH="0" baseline="0" dirty="0" err="1">
                <a:ln>
                  <a:noFill/>
                </a:ln>
                <a:solidFill>
                  <a:schemeClr val="tx1"/>
                </a:solidFill>
                <a:effectLst/>
                <a:latin typeface="Arial" panose="020B0604020202020204" pitchFamily="34" charset="0"/>
              </a:rPr>
              <a:t>backend</a:t>
            </a:r>
            <a:r>
              <a:rPr kumimoji="0" lang="es-MX" altLang="es-MX" sz="2000" b="0" i="0" u="none" strike="noStrike" cap="none" normalizeH="0" baseline="0" dirty="0">
                <a:ln>
                  <a:noFill/>
                </a:ln>
                <a:solidFill>
                  <a:schemeClr val="tx1"/>
                </a:solidFill>
                <a:effectLst/>
                <a:latin typeface="Arial" panose="020B0604020202020204" pitchFamily="34" charset="0"/>
              </a:rPr>
              <a:t> mediante servicios REST.</a:t>
            </a:r>
          </a:p>
          <a:p>
            <a:pPr eaLnBrk="0" fontAlgn="base" hangingPunct="0">
              <a:lnSpc>
                <a:spcPct val="100000"/>
              </a:lnSpc>
              <a:spcBef>
                <a:spcPct val="0"/>
              </a:spcBef>
              <a:spcAft>
                <a:spcPct val="0"/>
              </a:spcAft>
            </a:pPr>
            <a:r>
              <a:rPr kumimoji="0" lang="es-MX" altLang="es-MX" sz="2000" b="0" i="0" u="none" strike="noStrike" cap="none" normalizeH="0" baseline="0" dirty="0">
                <a:ln>
                  <a:noFill/>
                </a:ln>
                <a:solidFill>
                  <a:schemeClr val="tx1"/>
                </a:solidFill>
                <a:effectLst/>
                <a:latin typeface="Arial" panose="020B0604020202020204" pitchFamily="34" charset="0"/>
              </a:rPr>
              <a:t>Se visualizaron registros de estudiantes, profesores y cursos.</a:t>
            </a:r>
          </a:p>
          <a:p>
            <a:pPr eaLnBrk="0" fontAlgn="base" hangingPunct="0">
              <a:lnSpc>
                <a:spcPct val="100000"/>
              </a:lnSpc>
              <a:spcBef>
                <a:spcPct val="0"/>
              </a:spcBef>
              <a:spcAft>
                <a:spcPct val="0"/>
              </a:spcAft>
            </a:pPr>
            <a:r>
              <a:rPr kumimoji="0" lang="es-MX" altLang="es-MX" sz="2000" b="0" i="0" u="none" strike="noStrike" cap="none" normalizeH="0" baseline="0" dirty="0">
                <a:ln>
                  <a:noFill/>
                </a:ln>
                <a:solidFill>
                  <a:schemeClr val="tx1"/>
                </a:solidFill>
                <a:effectLst/>
                <a:latin typeface="Arial" panose="020B0604020202020204" pitchFamily="34" charset="0"/>
              </a:rPr>
              <a:t>Se realizaron operaciones CRUD sobre la información almacenada.</a:t>
            </a:r>
          </a:p>
          <a:p>
            <a:pPr eaLnBrk="0" fontAlgn="base" hangingPunct="0">
              <a:lnSpc>
                <a:spcPct val="100000"/>
              </a:lnSpc>
              <a:spcBef>
                <a:spcPct val="0"/>
              </a:spcBef>
              <a:spcAft>
                <a:spcPct val="0"/>
              </a:spcAft>
            </a:pPr>
            <a:r>
              <a:rPr kumimoji="0" lang="es-MX" altLang="es-MX" sz="2000" b="0" i="0" u="none" strike="noStrike" cap="none" normalizeH="0" baseline="0" dirty="0">
                <a:ln>
                  <a:noFill/>
                </a:ln>
                <a:solidFill>
                  <a:schemeClr val="tx1"/>
                </a:solidFill>
                <a:effectLst/>
                <a:latin typeface="Arial" panose="020B0604020202020204" pitchFamily="34" charset="0"/>
              </a:rPr>
              <a:t>Se comprobó la persistencia de los datos en MySQL.</a:t>
            </a:r>
          </a:p>
          <a:p>
            <a:pPr eaLnBrk="0" fontAlgn="base" hangingPunct="0">
              <a:lnSpc>
                <a:spcPct val="100000"/>
              </a:lnSpc>
              <a:spcBef>
                <a:spcPct val="0"/>
              </a:spcBef>
              <a:spcAft>
                <a:spcPct val="0"/>
              </a:spcAft>
            </a:pPr>
            <a:r>
              <a:rPr kumimoji="0" lang="es-MX" altLang="es-MX" sz="2000" b="0" i="0" u="none" strike="noStrike" cap="none" normalizeH="0" baseline="0" dirty="0">
                <a:ln>
                  <a:noFill/>
                </a:ln>
                <a:solidFill>
                  <a:schemeClr val="tx1"/>
                </a:solidFill>
                <a:effectLst/>
                <a:latin typeface="Arial" panose="020B0604020202020204" pitchFamily="34" charset="0"/>
              </a:rPr>
              <a:t>Se validó el funcionamiento de Eureka Server para el registro de servicios. </a:t>
            </a:r>
          </a:p>
        </p:txBody>
      </p:sp>
    </p:spTree>
    <p:extLst>
      <p:ext uri="{BB962C8B-B14F-4D97-AF65-F5344CB8AC3E}">
        <p14:creationId xmlns:p14="http://schemas.microsoft.com/office/powerpoint/2010/main" val="3071079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45D7AB-3B89-CD8F-667B-A04CBCED4CB4}"/>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90FDB59E-5D83-346D-0204-8F833A9CCA1F}"/>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Mediante el desarrollo de esta práctica fue posible comprender el funcionamiento de una arquitectura basada en microservicios y su integración con aplicaciones </a:t>
            </a:r>
            <a:r>
              <a:rPr lang="es-MX" sz="2000" dirty="0" err="1">
                <a:latin typeface="Arial" panose="020B0604020202020204" pitchFamily="34" charset="0"/>
                <a:cs typeface="Arial" panose="020B0604020202020204" pitchFamily="34" charset="0"/>
              </a:rPr>
              <a:t>frontend</a:t>
            </a:r>
            <a:r>
              <a:rPr lang="es-MX" sz="2000" dirty="0">
                <a:latin typeface="Arial" panose="020B0604020202020204" pitchFamily="34" charset="0"/>
                <a:cs typeface="Arial" panose="020B0604020202020204" pitchFamily="34" charset="0"/>
              </a:rPr>
              <a:t> desarrolladas en Angular. La comunicación entre Angular y Spring </a:t>
            </a:r>
            <a:r>
              <a:rPr lang="es-MX" sz="2000" dirty="0" err="1">
                <a:latin typeface="Arial" panose="020B0604020202020204" pitchFamily="34" charset="0"/>
                <a:cs typeface="Arial" panose="020B0604020202020204" pitchFamily="34" charset="0"/>
              </a:rPr>
              <a:t>Boot</a:t>
            </a:r>
            <a:r>
              <a:rPr lang="es-MX" sz="2000" dirty="0">
                <a:latin typeface="Arial" panose="020B0604020202020204" pitchFamily="34" charset="0"/>
                <a:cs typeface="Arial" panose="020B0604020202020204" pitchFamily="34" charset="0"/>
              </a:rPr>
              <a:t> permitió consumir información de manera eficiente utilizando servicios REST, mientras que MySQL garantizó el almacenamiento permanente de los datos.</a:t>
            </a:r>
          </a:p>
          <a:p>
            <a:pPr marL="0" indent="0" algn="just">
              <a:buNone/>
            </a:pPr>
            <a:r>
              <a:rPr lang="es-MX" sz="2000" dirty="0">
                <a:latin typeface="Arial" panose="020B0604020202020204" pitchFamily="34" charset="0"/>
                <a:cs typeface="Arial" panose="020B0604020202020204" pitchFamily="34" charset="0"/>
              </a:rPr>
              <a:t>Los resultados obtenidos demostraron el correcto funcionamiento de la arquitectura implementada, permitiendo la administración de estudiantes, profesores y cursos mediante una interfaz web dinámica. Asimismo, la práctica fortaleció conocimientos relacionados con Angular, Spring </a:t>
            </a:r>
            <a:r>
              <a:rPr lang="es-MX" sz="2000" dirty="0" err="1">
                <a:latin typeface="Arial" panose="020B0604020202020204" pitchFamily="34" charset="0"/>
                <a:cs typeface="Arial" panose="020B0604020202020204" pitchFamily="34" charset="0"/>
              </a:rPr>
              <a:t>Boot</a:t>
            </a:r>
            <a:r>
              <a:rPr lang="es-MX" sz="2000" dirty="0">
                <a:latin typeface="Arial" panose="020B0604020202020204" pitchFamily="34" charset="0"/>
                <a:cs typeface="Arial" panose="020B0604020202020204" pitchFamily="34" charset="0"/>
              </a:rPr>
              <a:t>, Eureka Server y bases de datos, tecnologías ampliamente utilizadas en el desarrollo de software moderno.</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973899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775</Words>
  <Application>Microsoft Office PowerPoint</Application>
  <PresentationFormat>Panorámica</PresentationFormat>
  <Paragraphs>61</Paragraphs>
  <Slides>11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Aptos</vt:lpstr>
      <vt:lpstr>Aptos Display</vt:lpstr>
      <vt:lpstr>Arial</vt:lpstr>
      <vt:lpstr>Century Gothic</vt:lpstr>
      <vt:lpstr>Tema de Office</vt:lpstr>
      <vt:lpstr>Presentación de PowerPoint</vt:lpstr>
      <vt:lpstr>Introducción </vt:lpstr>
      <vt:lpstr>Justificación </vt:lpstr>
      <vt:lpstr>Objetivo General</vt:lpstr>
      <vt:lpstr>1. Verificación de la arquitectura de microservicios</vt:lpstr>
      <vt:lpstr>2. Ejecución de la aplicación Angular</vt:lpstr>
      <vt:lpstr>4. Consumo del microservicio</vt:lpstr>
      <vt:lpstr>3. Actualización de registros</vt:lpstr>
      <vt:lpstr>4. Verificación de persistencia en MySQL</vt:lpstr>
      <vt:lpstr>Resultados obtenidos</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2</cp:revision>
  <dcterms:created xsi:type="dcterms:W3CDTF">2026-06-12T13:39:33Z</dcterms:created>
  <dcterms:modified xsi:type="dcterms:W3CDTF">2026-06-12T09:04:11Z</dcterms:modified>
</cp:coreProperties>
</file>