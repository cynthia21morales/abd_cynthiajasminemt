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44" r:id="rId1"/>
  </p:sldMasterIdLst>
  <p:sldIdLst>
    <p:sldId id="27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6" r:id="rId11"/>
    <p:sldId id="264" r:id="rId12"/>
    <p:sldId id="277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48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6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9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9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0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7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7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52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4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0958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9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44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17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90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5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3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5" r:id="rId1"/>
    <p:sldLayoutId id="2147484146" r:id="rId2"/>
    <p:sldLayoutId id="2147484147" r:id="rId3"/>
    <p:sldLayoutId id="2147484148" r:id="rId4"/>
    <p:sldLayoutId id="2147484149" r:id="rId5"/>
    <p:sldLayoutId id="2147484150" r:id="rId6"/>
    <p:sldLayoutId id="2147484151" r:id="rId7"/>
    <p:sldLayoutId id="2147484152" r:id="rId8"/>
    <p:sldLayoutId id="2147484153" r:id="rId9"/>
    <p:sldLayoutId id="2147484154" r:id="rId10"/>
    <p:sldLayoutId id="2147484155" r:id="rId11"/>
    <p:sldLayoutId id="2147484156" r:id="rId12"/>
    <p:sldLayoutId id="2147484157" r:id="rId13"/>
    <p:sldLayoutId id="2147484158" r:id="rId14"/>
    <p:sldLayoutId id="2147484159" r:id="rId15"/>
    <p:sldLayoutId id="2147484160" r:id="rId16"/>
    <p:sldLayoutId id="214748416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manivalca.blogspot.com/2017/04/215-variables-de-ambiente-y-archivos.html" TargetMode="External"/><Relationship Id="rId3" Type="http://schemas.openxmlformats.org/officeDocument/2006/relationships/hyperlink" Target="https://mundowin.com/como-configurar-el-sgbd-en-modo-transaccional/" TargetMode="External"/><Relationship Id="rId7" Type="http://schemas.openxmlformats.org/officeDocument/2006/relationships/hyperlink" Target="https://requisitospara.com.mx/requisitos-para-instalar-un-sistema-operativo/" TargetMode="External"/><Relationship Id="rId2" Type="http://schemas.openxmlformats.org/officeDocument/2006/relationships/hyperlink" Target="https://administracionbasededatosequipo4.blogspot.com/2021/07/estructura-de-memoria-y-procesos-de-la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ongee.com/tutoriales/arquitectura-de-sistemas-gestores-de-bases-de-datos/" TargetMode="External"/><Relationship Id="rId5" Type="http://schemas.openxmlformats.org/officeDocument/2006/relationships/hyperlink" Target="http://itpn.mx/recursositics/4semestre/tallerdebasededatos/Unidad%20I.pdf" TargetMode="External"/><Relationship Id="rId4" Type="http://schemas.openxmlformats.org/officeDocument/2006/relationships/hyperlink" Target="https://es.slideshare.net/slideshow/28-comandos-generales-de-alta-y-baja-del-sgbd/26675211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0B7F106A-71C6-EF52-1191-7789FF2BD084}"/>
              </a:ext>
            </a:extLst>
          </p:cNvPr>
          <p:cNvSpPr txBox="1"/>
          <p:nvPr/>
        </p:nvSpPr>
        <p:spPr>
          <a:xfrm>
            <a:off x="905015" y="1880767"/>
            <a:ext cx="7644625" cy="4678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Administración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base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datos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2.1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Presentación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electronica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26 de Abril del 2026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680122C0-2CB1-E418-DF71-87170953C499}"/>
              </a:ext>
            </a:extLst>
          </p:cNvPr>
          <p:cNvSpPr txBox="1"/>
          <p:nvPr/>
        </p:nvSpPr>
        <p:spPr>
          <a:xfrm>
            <a:off x="549091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0E64C2B2-AB28-8787-9729-C7E4EF3D2CF1}"/>
              </a:ext>
            </a:extLst>
          </p:cNvPr>
          <p:cNvGrpSpPr/>
          <p:nvPr/>
        </p:nvGrpSpPr>
        <p:grpSpPr>
          <a:xfrm>
            <a:off x="238434" y="153778"/>
            <a:ext cx="1833537" cy="105453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35B86A9E-6DC8-FF91-2D0E-2B5EA13916CB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4F57698D-CF13-3ABB-A73A-0D402FD5B666}"/>
              </a:ext>
            </a:extLst>
          </p:cNvPr>
          <p:cNvGrpSpPr/>
          <p:nvPr/>
        </p:nvGrpSpPr>
        <p:grpSpPr>
          <a:xfrm>
            <a:off x="7249886" y="84262"/>
            <a:ext cx="1517156" cy="890624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B4C5D44-27D9-0275-7A85-CC8AE0620009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774B787C-8FB0-0642-60BE-44900C1B4B7E}"/>
              </a:ext>
            </a:extLst>
          </p:cNvPr>
          <p:cNvGrpSpPr/>
          <p:nvPr/>
        </p:nvGrpSpPr>
        <p:grpSpPr>
          <a:xfrm>
            <a:off x="3228375" y="236006"/>
            <a:ext cx="2687249" cy="587136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5EF6947-ACC7-BE97-6C1A-42868F9A08ED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67898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1486" y="1188252"/>
            <a:ext cx="7315200" cy="1489633"/>
          </a:xfrm>
        </p:spPr>
        <p:txBody>
          <a:bodyPr>
            <a:normAutofit/>
          </a:bodyPr>
          <a:lstStyle/>
          <a:p>
            <a:r>
              <a:rPr lang="es-MX" sz="4800" dirty="0"/>
              <a:t>Arquitectura e Instalación del SGBD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6A72C93-7A8A-BFC9-BCA7-39673A73E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287" y="2836583"/>
            <a:ext cx="3781425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/>
              <a:t>Los Sistemas Gestores de Bases de Datos (SGBD) son herramientas fundamentales para almacenar, administrar y proteger grandes cantidades de información. Estos sistemas permiten organizar los datos de manera eficiente y segura, facilitando el acceso y manejo de la información dentro de empresas, instituciones y aplicaciones.</a:t>
            </a:r>
          </a:p>
          <a:p>
            <a:pPr marL="0" indent="0" algn="just">
              <a:buNone/>
            </a:pPr>
            <a:r>
              <a:rPr lang="es-MX" sz="2000" dirty="0"/>
              <a:t>La arquitectura e instalación de un SGBD es un proceso importante, ya que de ello depende el correcto funcionamiento del sistema, el rendimiento y la seguridad de la base de datos.</a:t>
            </a:r>
          </a:p>
          <a:p>
            <a:pPr algn="just">
              <a:defRPr sz="1584"/>
            </a:pP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un SGBD?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1584"/>
            </a:pPr>
            <a:r>
              <a:rPr lang="es-MX" dirty="0"/>
              <a:t>Un Sistema Gestor de Bases de Datos (SGBD) es un software que permite:</a:t>
            </a:r>
          </a:p>
          <a:p>
            <a:pPr>
              <a:buFont typeface="Arial" panose="020B0604020202020204" pitchFamily="34" charset="0"/>
              <a:buChar char="•"/>
              <a:defRPr sz="1584"/>
            </a:pPr>
            <a:r>
              <a:rPr lang="es-MX" dirty="0"/>
              <a:t>Crear bases de datos.</a:t>
            </a:r>
          </a:p>
          <a:p>
            <a:pPr>
              <a:buFont typeface="Arial" panose="020B0604020202020204" pitchFamily="34" charset="0"/>
              <a:buChar char="•"/>
              <a:defRPr sz="1584"/>
            </a:pPr>
            <a:r>
              <a:rPr lang="es-MX" dirty="0"/>
              <a:t> Administrar información.</a:t>
            </a:r>
          </a:p>
          <a:p>
            <a:pPr>
              <a:buFont typeface="Arial" panose="020B0604020202020204" pitchFamily="34" charset="0"/>
              <a:buChar char="•"/>
              <a:defRPr sz="1584"/>
            </a:pPr>
            <a:r>
              <a:rPr lang="es-MX" dirty="0"/>
              <a:t>Realizar consultas.</a:t>
            </a:r>
          </a:p>
          <a:p>
            <a:pPr>
              <a:buFont typeface="Arial" panose="020B0604020202020204" pitchFamily="34" charset="0"/>
              <a:buChar char="•"/>
              <a:defRPr sz="1584"/>
            </a:pPr>
            <a:r>
              <a:rPr lang="es-MX" dirty="0"/>
              <a:t>Proteger datos.</a:t>
            </a:r>
          </a:p>
          <a:p>
            <a:pPr>
              <a:buFont typeface="Arial" panose="020B0604020202020204" pitchFamily="34" charset="0"/>
              <a:buChar char="•"/>
              <a:defRPr sz="1584"/>
            </a:pPr>
            <a:r>
              <a:rPr lang="es-MX" dirty="0"/>
              <a:t>Controlar accesos de usuarios.</a:t>
            </a:r>
          </a:p>
          <a:p>
            <a:pPr>
              <a:buFont typeface="Arial" panose="020B0604020202020204" pitchFamily="34" charset="0"/>
              <a:buChar char="•"/>
              <a:defRPr sz="1584"/>
            </a:pPr>
            <a:r>
              <a:rPr lang="es-MX" dirty="0"/>
              <a:t>Garantizar integridad y recuperación de información.</a:t>
            </a:r>
          </a:p>
          <a:p>
            <a:pPr marL="0" indent="0">
              <a:buNone/>
              <a:defRPr sz="1584"/>
            </a:pPr>
            <a:r>
              <a:rPr lang="es-MX" dirty="0"/>
              <a:t>Ejemplos:</a:t>
            </a:r>
          </a:p>
          <a:p>
            <a:pPr>
              <a:buFont typeface="Arial" panose="020B0604020202020204" pitchFamily="34" charset="0"/>
              <a:buChar char="•"/>
              <a:defRPr sz="1584"/>
            </a:pPr>
            <a:r>
              <a:rPr lang="es-MX" dirty="0"/>
              <a:t>MySQL</a:t>
            </a:r>
          </a:p>
          <a:p>
            <a:pPr>
              <a:buFont typeface="Arial" panose="020B0604020202020204" pitchFamily="34" charset="0"/>
              <a:buChar char="•"/>
              <a:defRPr sz="1584"/>
            </a:pPr>
            <a:r>
              <a:rPr lang="es-MX" dirty="0"/>
              <a:t>Oracle</a:t>
            </a:r>
          </a:p>
          <a:p>
            <a:pPr>
              <a:buFont typeface="Arial" panose="020B0604020202020204" pitchFamily="34" charset="0"/>
              <a:buChar char="•"/>
              <a:defRPr sz="1584"/>
            </a:pPr>
            <a:r>
              <a:rPr lang="es-MX" dirty="0"/>
              <a:t>PostgreSQL</a:t>
            </a:r>
          </a:p>
          <a:p>
            <a:pPr>
              <a:buFont typeface="Arial" panose="020B0604020202020204" pitchFamily="34" charset="0"/>
              <a:buChar char="•"/>
              <a:defRPr sz="1584"/>
            </a:pPr>
            <a:r>
              <a:rPr lang="es-MX" dirty="0"/>
              <a:t>SQL Server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343" y="764373"/>
            <a:ext cx="7058297" cy="1293028"/>
          </a:xfrm>
        </p:spPr>
        <p:txBody>
          <a:bodyPr/>
          <a:lstStyle/>
          <a:p>
            <a:r>
              <a:rPr dirty="0" err="1"/>
              <a:t>Arquitectura</a:t>
            </a:r>
            <a:r>
              <a:rPr dirty="0"/>
              <a:t> del SGBD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73" y="2057401"/>
            <a:ext cx="7955280" cy="4288873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MX" dirty="0"/>
              <a:t>La arquitectura de un SGBD está compuesta por diferentes elementos que trabajan en conjunto para almacenar y administrar la información.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b="1" dirty="0"/>
              <a:t>Componentes principales: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Motor de almacenamiento.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Compilador de consultas.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Controlador de transacciones.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Estructuras físicas.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Estructuras lógicas.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Procesos y memoria.</a:t>
            </a:r>
          </a:p>
          <a:p>
            <a:pPr marL="0" indent="0">
              <a:buNone/>
            </a:pPr>
            <a:r>
              <a:rPr lang="es-MX" b="1" dirty="0"/>
              <a:t>Arquitectura de tres niveles: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Nivel interno.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Nivel conceptual.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Nivel externo.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Estructura</a:t>
            </a:r>
            <a:r>
              <a:rPr dirty="0"/>
              <a:t> de Memoria</a:t>
            </a:r>
            <a:r>
              <a:rPr lang="es-MX" dirty="0"/>
              <a:t> de la instancia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/>
              <a:t>La instancia del SGBD utiliza estructuras de memoria para almacenar información temporal y mejorar el rendimiento.</a:t>
            </a:r>
          </a:p>
          <a:p>
            <a:pPr marL="0" indent="0">
              <a:buNone/>
            </a:pPr>
            <a:r>
              <a:rPr lang="es-MX" b="1" dirty="0"/>
              <a:t>Área Global del Sistema (SGA)</a:t>
            </a:r>
          </a:p>
          <a:p>
            <a:r>
              <a:rPr lang="es-MX" dirty="0"/>
              <a:t>Contiene información compartida por todos los usuarios conectados.</a:t>
            </a:r>
          </a:p>
          <a:p>
            <a:pPr marL="0" indent="0">
              <a:buNone/>
            </a:pPr>
            <a:r>
              <a:rPr lang="es-MX" b="1" dirty="0"/>
              <a:t>Componentes principales: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Caché de buffers.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Buffer de redo log.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Shared</a:t>
            </a:r>
            <a:r>
              <a:rPr lang="es-MX" dirty="0"/>
              <a:t> Pool.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Large</a:t>
            </a:r>
            <a:r>
              <a:rPr lang="es-MX" dirty="0"/>
              <a:t> Pool.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Java Pool.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Streams</a:t>
            </a:r>
            <a:r>
              <a:rPr lang="es-MX" dirty="0"/>
              <a:t> Pool.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Caché de diccionario.</a:t>
            </a:r>
          </a:p>
          <a:p>
            <a:pPr marL="0" indent="0">
              <a:buNone/>
              <a:defRPr sz="1584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Caché de Buffers y Redo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 sz="1584"/>
            </a:pPr>
            <a:r>
              <a:rPr sz="2000" dirty="0" err="1"/>
              <a:t>Permiten</a:t>
            </a:r>
            <a:r>
              <a:rPr sz="2000" dirty="0"/>
              <a:t> </a:t>
            </a:r>
            <a:r>
              <a:rPr sz="2000" dirty="0" err="1"/>
              <a:t>almacenar</a:t>
            </a:r>
            <a:r>
              <a:rPr sz="2000" dirty="0"/>
              <a:t> </a:t>
            </a:r>
            <a:r>
              <a:rPr sz="2000" dirty="0" err="1"/>
              <a:t>datos</a:t>
            </a:r>
            <a:r>
              <a:rPr sz="2000" dirty="0"/>
              <a:t> </a:t>
            </a:r>
            <a:r>
              <a:rPr sz="2000" dirty="0" err="1"/>
              <a:t>temporales</a:t>
            </a:r>
            <a:r>
              <a:rPr sz="2000" dirty="0"/>
              <a:t> y registrar </a:t>
            </a:r>
            <a:r>
              <a:rPr sz="2000" dirty="0" err="1"/>
              <a:t>cambios</a:t>
            </a:r>
            <a:r>
              <a:rPr sz="2000" dirty="0"/>
              <a:t> para </a:t>
            </a:r>
            <a:r>
              <a:rPr sz="2000" dirty="0" err="1"/>
              <a:t>recuperación</a:t>
            </a:r>
            <a:r>
              <a:rPr sz="2000" dirty="0"/>
              <a:t> ante </a:t>
            </a:r>
            <a:r>
              <a:rPr sz="2000" dirty="0" err="1"/>
              <a:t>fallos</a:t>
            </a:r>
            <a:r>
              <a:rPr sz="1900" dirty="0"/>
              <a:t>.</a:t>
            </a:r>
            <a:endParaRPr lang="es-MX" sz="1900" dirty="0"/>
          </a:p>
          <a:p>
            <a:pPr marL="0" indent="0">
              <a:buNone/>
            </a:pPr>
            <a:r>
              <a:rPr lang="es-MX" b="1" dirty="0"/>
              <a:t>Caché de Buffers</a:t>
            </a:r>
          </a:p>
          <a:p>
            <a:r>
              <a:rPr lang="es-MX" dirty="0"/>
              <a:t>Almacena copias de bloques de datos leídos desde disco.</a:t>
            </a:r>
          </a:p>
          <a:p>
            <a:pPr marL="0" indent="0">
              <a:buNone/>
            </a:pPr>
            <a:r>
              <a:rPr lang="es-MX" b="1" dirty="0"/>
              <a:t>Redo Log Buffer</a:t>
            </a:r>
          </a:p>
          <a:p>
            <a:r>
              <a:rPr lang="es-MX" dirty="0"/>
              <a:t>Guarda información sobre cambios realizados en la base de datos.</a:t>
            </a:r>
          </a:p>
          <a:p>
            <a:pPr marL="0" indent="0">
              <a:buNone/>
            </a:pPr>
            <a:r>
              <a:rPr lang="es-MX" b="1" dirty="0"/>
              <a:t>Funciones: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Recuperación ante fallos.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Protección de transacciones.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Mantener consistencia de datos.</a:t>
            </a:r>
          </a:p>
          <a:p>
            <a:pPr marL="0" indent="0">
              <a:buNone/>
              <a:defRPr sz="1584"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Procesos</a:t>
            </a:r>
            <a:r>
              <a:rPr dirty="0"/>
              <a:t> de la </a:t>
            </a:r>
            <a:r>
              <a:rPr dirty="0" err="1"/>
              <a:t>Instancia</a:t>
            </a:r>
            <a:endParaRPr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F5A9133-5B91-9AF8-0C20-78C7E82F727F}"/>
              </a:ext>
            </a:extLst>
          </p:cNvPr>
          <p:cNvSpPr txBox="1"/>
          <p:nvPr/>
        </p:nvSpPr>
        <p:spPr>
          <a:xfrm>
            <a:off x="152401" y="2307975"/>
            <a:ext cx="8991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Los procesos permiten el funcionamiento interno del SGBD.</a:t>
            </a:r>
          </a:p>
          <a:p>
            <a:endParaRPr lang="es-MX" sz="2400" dirty="0"/>
          </a:p>
          <a:p>
            <a:r>
              <a:rPr lang="es-MX" sz="2400" b="1" dirty="0"/>
              <a:t>Procesos principales: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SMON → Recuperación del sistema.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PMON → Monitoreo de procesos.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DBWR → Escritura en disco.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LGWR → Escritura de redo logs.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CKPT → Control de </a:t>
            </a:r>
            <a:r>
              <a:rPr lang="es-MX" sz="2400" dirty="0" err="1"/>
              <a:t>checkpoints</a:t>
            </a:r>
            <a:r>
              <a:rPr lang="es-MX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ARCH → Archivado de registros.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RECO → Recuperación de transacciones.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Física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351" y="1905803"/>
            <a:ext cx="7981749" cy="38990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La estructura física corresponde a los archivos almacenados en disco.</a:t>
            </a:r>
          </a:p>
          <a:p>
            <a:r>
              <a:rPr lang="es-MX" b="1" dirty="0"/>
              <a:t>Archivos principales: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Data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Control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Redo Log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Temp</a:t>
            </a:r>
            <a:r>
              <a:rPr lang="es-MX" dirty="0"/>
              <a:t>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Undo</a:t>
            </a:r>
            <a:r>
              <a:rPr lang="es-MX" dirty="0"/>
              <a:t> Files.</a:t>
            </a:r>
          </a:p>
          <a:p>
            <a:r>
              <a:rPr lang="es-MX" dirty="0"/>
              <a:t>Estos archivos permiten almacenar información, recuperar datos y mantener la integridad de la base.</a:t>
            </a:r>
          </a:p>
          <a:p>
            <a:pPr marL="0" indent="0">
              <a:buNone/>
              <a:defRPr sz="1584"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11A4C39-4AC8-92C4-7EF4-B577A5DC5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52" y="433135"/>
            <a:ext cx="8749364" cy="5832909"/>
          </a:xfrm>
        </p:spPr>
      </p:pic>
    </p:spTree>
    <p:extLst>
      <p:ext uri="{BB962C8B-B14F-4D97-AF65-F5344CB8AC3E}">
        <p14:creationId xmlns:p14="http://schemas.microsoft.com/office/powerpoint/2010/main" val="2519480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Lógica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B482171-FDD9-100F-9E0E-A5291C797C28}"/>
              </a:ext>
            </a:extLst>
          </p:cNvPr>
          <p:cNvSpPr txBox="1"/>
          <p:nvPr/>
        </p:nvSpPr>
        <p:spPr>
          <a:xfrm>
            <a:off x="450067" y="2035745"/>
            <a:ext cx="75774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estructura lógica organiza la información dentro del SGBD.</a:t>
            </a:r>
          </a:p>
          <a:p>
            <a:r>
              <a:rPr lang="es-MX" b="1" dirty="0"/>
              <a:t>Elementos: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Tablespaces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Tablas.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Índices.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Esquemas.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Segmentos.</a:t>
            </a:r>
          </a:p>
          <a:p>
            <a:r>
              <a:rPr lang="es-MX" b="1" dirty="0"/>
              <a:t>Ventajas: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Organización de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Mejor administración.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Mayor rendimiento.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Separación entre lógica y almacenamiento físico.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Tabla&#10;&#10;El contenido generado por IA puede ser incorrecto.">
            <a:extLst>
              <a:ext uri="{FF2B5EF4-FFF2-40B4-BE49-F238E27FC236}">
                <a16:creationId xmlns:a16="http://schemas.microsoft.com/office/drawing/2014/main" id="{BD9D882F-7E09-4CF4-DB61-77B867F38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345" y="991402"/>
            <a:ext cx="7909310" cy="5272873"/>
          </a:xfrm>
        </p:spPr>
      </p:pic>
    </p:spTree>
    <p:extLst>
      <p:ext uri="{BB962C8B-B14F-4D97-AF65-F5344CB8AC3E}">
        <p14:creationId xmlns:p14="http://schemas.microsoft.com/office/powerpoint/2010/main" val="3663340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447" y="764373"/>
            <a:ext cx="8499106" cy="1293028"/>
          </a:xfrm>
        </p:spPr>
        <p:txBody>
          <a:bodyPr>
            <a:normAutofit/>
          </a:bodyPr>
          <a:lstStyle/>
          <a:p>
            <a:r>
              <a:rPr sz="3600" dirty="0" err="1"/>
              <a:t>Requerimientos</a:t>
            </a:r>
            <a:r>
              <a:rPr sz="3600" dirty="0"/>
              <a:t> para </a:t>
            </a:r>
            <a:r>
              <a:rPr sz="3600" dirty="0" err="1"/>
              <a:t>Instalación</a:t>
            </a:r>
            <a:endParaRPr sz="3600" dirty="0"/>
          </a:p>
        </p:txBody>
      </p:sp>
      <p:pic>
        <p:nvPicPr>
          <p:cNvPr id="9" name="Imagen 8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3FF8C142-467E-E31F-9D9C-6F8522B9A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282" y="1946708"/>
            <a:ext cx="6795436" cy="45302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Requerimientos Básicos de MySQL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0C0920-E8D1-E6C1-BA97-434B82FFECA0}"/>
              </a:ext>
            </a:extLst>
          </p:cNvPr>
          <p:cNvSpPr txBox="1"/>
          <p:nvPr/>
        </p:nvSpPr>
        <p:spPr>
          <a:xfrm>
            <a:off x="0" y="2039815"/>
            <a:ext cx="42254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Requisitos mínimos: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512 MB de 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1 GB de espacio en disco.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Arquitectura 32/64 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Protocolo TCP/IP.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Sistemas operativos Windows, Linux o Unix.</a:t>
            </a:r>
          </a:p>
          <a:p>
            <a:r>
              <a:rPr lang="es-MX" b="1" dirty="0"/>
              <a:t>Características: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Open </a:t>
            </a:r>
            <a:r>
              <a:rPr lang="es-MX" dirty="0" err="1"/>
              <a:t>Source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Multiusuario.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Compatible con 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Arquitectura cliente-servidor.</a:t>
            </a:r>
          </a:p>
        </p:txBody>
      </p:sp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52F0ACFC-4D00-EC6E-69B9-E29C2F69CB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07"/>
          <a:stretch/>
        </p:blipFill>
        <p:spPr>
          <a:xfrm>
            <a:off x="3797947" y="2384073"/>
            <a:ext cx="5346053" cy="32465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53152" y="741043"/>
            <a:ext cx="9144000" cy="757817"/>
          </a:xfrm>
        </p:spPr>
        <p:txBody>
          <a:bodyPr>
            <a:normAutofit fontScale="90000"/>
          </a:bodyPr>
          <a:lstStyle/>
          <a:p>
            <a:r>
              <a:rPr lang="es-MX" sz="2800" dirty="0"/>
              <a:t>Instalación del SGBD en Modo Transaccional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251" y="5501590"/>
            <a:ext cx="7955280" cy="592037"/>
          </a:xfrm>
        </p:spPr>
        <p:txBody>
          <a:bodyPr/>
          <a:lstStyle/>
          <a:p>
            <a:pPr marL="0" indent="0">
              <a:buNone/>
              <a:defRPr sz="1584"/>
            </a:pPr>
            <a:r>
              <a:rPr dirty="0" err="1"/>
              <a:t>Garantiza</a:t>
            </a:r>
            <a:r>
              <a:rPr dirty="0"/>
              <a:t> </a:t>
            </a:r>
            <a:r>
              <a:rPr dirty="0" err="1"/>
              <a:t>integridad</a:t>
            </a:r>
            <a:r>
              <a:rPr dirty="0"/>
              <a:t> y </a:t>
            </a:r>
            <a:r>
              <a:rPr dirty="0" err="1"/>
              <a:t>consistencia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COMMIT y ROLLBACK.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71833AA-2768-6C18-C52E-C5D77369887B}"/>
              </a:ext>
            </a:extLst>
          </p:cNvPr>
          <p:cNvSpPr txBox="1"/>
          <p:nvPr/>
        </p:nvSpPr>
        <p:spPr>
          <a:xfrm>
            <a:off x="402772" y="1922298"/>
            <a:ext cx="8915628" cy="230832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s-MX" b="1" dirty="0"/>
              <a:t>Características: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Uso de transacciones.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Operaciones atómicas.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Seguridad de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Recuperación ante errores.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MX" b="1" dirty="0"/>
              <a:t>Comandos importantes: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BEGIN TRANSACTION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COMMIT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C7F9525-0883-3161-E91B-D84AB02C3B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566"/>
          <a:stretch/>
        </p:blipFill>
        <p:spPr>
          <a:xfrm>
            <a:off x="-1" y="3566953"/>
            <a:ext cx="9144000" cy="32573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3E88BF2-5798-08D0-91F1-BADABB89989D}"/>
              </a:ext>
            </a:extLst>
          </p:cNvPr>
          <p:cNvSpPr txBox="1"/>
          <p:nvPr/>
        </p:nvSpPr>
        <p:spPr>
          <a:xfrm>
            <a:off x="253150" y="1275967"/>
            <a:ext cx="8637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 modo transaccional permite mantener la integridad y consistencia de los datos.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de Ambiente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6F098C-5BF4-8B5D-66CC-469FCAA119A8}"/>
              </a:ext>
            </a:extLst>
          </p:cNvPr>
          <p:cNvSpPr txBox="1"/>
          <p:nvPr/>
        </p:nvSpPr>
        <p:spPr>
          <a:xfrm>
            <a:off x="342899" y="1930683"/>
            <a:ext cx="867047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Las variables de ambiente permiten configurar el entorno de funcionamiento del SGBD.</a:t>
            </a:r>
          </a:p>
          <a:p>
            <a:endParaRPr lang="es-MX" sz="2000" dirty="0"/>
          </a:p>
          <a:p>
            <a:r>
              <a:rPr lang="es-MX" sz="2000" b="1" dirty="0"/>
              <a:t>Variables importantes: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/>
              <a:t>basedir</a:t>
            </a: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/>
              <a:t>datadir</a:t>
            </a: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/>
              <a:t>port</a:t>
            </a: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socket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/>
              <a:t>tmpdir</a:t>
            </a: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/>
              <a:t>user</a:t>
            </a: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log-error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general-log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r>
              <a:rPr lang="es-MX" sz="2000" dirty="0"/>
              <a:t>Estas variables se almacenan generalmente en archivos como </a:t>
            </a:r>
            <a:r>
              <a:rPr lang="es-MX" sz="2000" dirty="0" err="1"/>
              <a:t>my.cnf</a:t>
            </a:r>
            <a:r>
              <a:rPr lang="es-MX" sz="2000" dirty="0"/>
              <a:t> o my.ini.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314" y="764373"/>
            <a:ext cx="7722326" cy="1293028"/>
          </a:xfrm>
        </p:spPr>
        <p:txBody>
          <a:bodyPr/>
          <a:lstStyle/>
          <a:p>
            <a:r>
              <a:rPr lang="es-MX" dirty="0"/>
              <a:t>ARCHIVOS IMPORTANTES LOG</a:t>
            </a:r>
            <a:endParaRPr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8B5C89-BC20-4E90-61C7-8A02B718D0BB}"/>
              </a:ext>
            </a:extLst>
          </p:cNvPr>
          <p:cNvSpPr txBox="1"/>
          <p:nvPr/>
        </p:nvSpPr>
        <p:spPr>
          <a:xfrm>
            <a:off x="707571" y="1668254"/>
            <a:ext cx="7842069" cy="230832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s-MX" b="1" dirty="0"/>
              <a:t>Error Log</a:t>
            </a:r>
          </a:p>
          <a:p>
            <a:r>
              <a:rPr lang="es-MX" dirty="0"/>
              <a:t>Registra errores del servidor.</a:t>
            </a:r>
          </a:p>
          <a:p>
            <a:r>
              <a:rPr lang="es-MX" b="1" dirty="0"/>
              <a:t>General Log</a:t>
            </a:r>
          </a:p>
          <a:p>
            <a:r>
              <a:rPr lang="es-MX" dirty="0"/>
              <a:t>Guarda consultas realizadas.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MX" b="1" dirty="0" err="1"/>
              <a:t>Binary</a:t>
            </a:r>
            <a:r>
              <a:rPr lang="es-MX" b="1" dirty="0"/>
              <a:t> Log</a:t>
            </a:r>
          </a:p>
          <a:p>
            <a:r>
              <a:rPr lang="es-MX" dirty="0"/>
              <a:t>Registra cambios y transacciones.</a:t>
            </a:r>
          </a:p>
          <a:p>
            <a:r>
              <a:rPr lang="es-MX" b="1" dirty="0" err="1"/>
              <a:t>Slow</a:t>
            </a:r>
            <a:r>
              <a:rPr lang="es-MX" b="1" dirty="0"/>
              <a:t> </a:t>
            </a:r>
            <a:r>
              <a:rPr lang="es-MX" b="1" dirty="0" err="1"/>
              <a:t>Query</a:t>
            </a:r>
            <a:r>
              <a:rPr lang="es-MX" b="1" dirty="0"/>
              <a:t> Log</a:t>
            </a:r>
          </a:p>
          <a:p>
            <a:r>
              <a:rPr lang="es-MX" dirty="0"/>
              <a:t>Registra consultas lentas.</a:t>
            </a:r>
          </a:p>
        </p:txBody>
      </p:sp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A0D6ED6C-C139-CA45-81DF-8E489C87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92"/>
          <a:stretch/>
        </p:blipFill>
        <p:spPr>
          <a:xfrm>
            <a:off x="1219200" y="2982686"/>
            <a:ext cx="6270171" cy="38753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Procedimiento</a:t>
            </a:r>
            <a:r>
              <a:rPr dirty="0"/>
              <a:t> de </a:t>
            </a:r>
            <a:r>
              <a:rPr dirty="0" err="1"/>
              <a:t>Instalación</a:t>
            </a:r>
            <a:endParaRPr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9229BD-D0EF-7759-AEAF-6BC2CC2625DC}"/>
              </a:ext>
            </a:extLst>
          </p:cNvPr>
          <p:cNvSpPr txBox="1"/>
          <p:nvPr/>
        </p:nvSpPr>
        <p:spPr>
          <a:xfrm>
            <a:off x="141514" y="1410887"/>
            <a:ext cx="339090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Pasos generales: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Descargar el instalador.</a:t>
            </a:r>
          </a:p>
          <a:p>
            <a:pPr marL="342900" indent="-342900">
              <a:buFont typeface="+mj-lt"/>
              <a:buAutoNum type="arabicPeriod"/>
            </a:pPr>
            <a:endParaRPr lang="es-MX" dirty="0"/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Ejecutar el asistente.</a:t>
            </a:r>
          </a:p>
          <a:p>
            <a:pPr marL="342900" indent="-342900">
              <a:buFont typeface="+mj-lt"/>
              <a:buAutoNum type="arabicPeriod"/>
            </a:pPr>
            <a:endParaRPr lang="es-MX" dirty="0"/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Aceptar términos y condiciones.</a:t>
            </a:r>
          </a:p>
          <a:p>
            <a:pPr marL="342900" indent="-342900">
              <a:buFont typeface="+mj-lt"/>
              <a:buAutoNum type="arabicPeriod"/>
            </a:pPr>
            <a:endParaRPr lang="es-MX" dirty="0"/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Seleccionar tipo de instalación.</a:t>
            </a:r>
          </a:p>
          <a:p>
            <a:pPr marL="342900" indent="-342900">
              <a:buFont typeface="+mj-lt"/>
              <a:buAutoNum type="arabicPeriod"/>
            </a:pPr>
            <a:endParaRPr lang="es-MX" dirty="0"/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Elegir ubicación.</a:t>
            </a:r>
          </a:p>
          <a:p>
            <a:pPr marL="342900" indent="-342900">
              <a:buFont typeface="+mj-lt"/>
              <a:buAutoNum type="arabicPeriod"/>
            </a:pPr>
            <a:endParaRPr lang="es-MX" dirty="0"/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Configurar contraseña.</a:t>
            </a:r>
          </a:p>
          <a:p>
            <a:pPr marL="342900" indent="-342900">
              <a:buFont typeface="+mj-lt"/>
              <a:buAutoNum type="arabicPeriod"/>
            </a:pPr>
            <a:endParaRPr lang="es-MX" dirty="0"/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Ejecutar instalación.</a:t>
            </a:r>
          </a:p>
          <a:p>
            <a:pPr marL="342900" indent="-342900">
              <a:buFont typeface="+mj-lt"/>
              <a:buAutoNum type="arabicPeriod"/>
            </a:pPr>
            <a:endParaRPr lang="es-MX" dirty="0"/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Finalizar configuración.</a:t>
            </a:r>
          </a:p>
        </p:txBody>
      </p:sp>
      <p:pic>
        <p:nvPicPr>
          <p:cNvPr id="9" name="Imagen 8" descr="Diagrama, Icono&#10;&#10;El contenido generado por IA puede ser incorrecto.">
            <a:extLst>
              <a:ext uri="{FF2B5EF4-FFF2-40B4-BE49-F238E27FC236}">
                <a16:creationId xmlns:a16="http://schemas.microsoft.com/office/drawing/2014/main" id="{B405B79A-5C59-19B8-D3E5-32F34DF66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5"/>
          <a:stretch/>
        </p:blipFill>
        <p:spPr>
          <a:xfrm>
            <a:off x="3532416" y="2569028"/>
            <a:ext cx="5470070" cy="30565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Configuración del SGBD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542119B-E0EF-9417-86ED-FC700D6E9B2D}"/>
              </a:ext>
            </a:extLst>
          </p:cNvPr>
          <p:cNvSpPr txBox="1"/>
          <p:nvPr/>
        </p:nvSpPr>
        <p:spPr>
          <a:xfrm>
            <a:off x="228600" y="1869930"/>
            <a:ext cx="802277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Después de la instalación se realiza la configuración.</a:t>
            </a:r>
          </a:p>
          <a:p>
            <a:endParaRPr lang="es-MX" sz="2000" dirty="0"/>
          </a:p>
          <a:p>
            <a:r>
              <a:rPr lang="es-MX" sz="2000" b="1" dirty="0"/>
              <a:t>Parámetros importantes: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host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/>
              <a:t>port</a:t>
            </a: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/>
              <a:t>auth_type</a:t>
            </a: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/>
              <a:t>user</a:t>
            </a: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/>
              <a:t>password</a:t>
            </a:r>
            <a:endParaRPr lang="es-MX" sz="2000" dirty="0"/>
          </a:p>
          <a:p>
            <a:r>
              <a:rPr lang="es-MX" sz="2000" b="1" dirty="0"/>
              <a:t>Archivos de configuración: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/>
              <a:t>my.cnf</a:t>
            </a: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/>
              <a:t>config.inc.php</a:t>
            </a:r>
            <a:endParaRPr lang="es-MX" sz="2000" dirty="0"/>
          </a:p>
        </p:txBody>
      </p:sp>
      <p:pic>
        <p:nvPicPr>
          <p:cNvPr id="9" name="Imagen 8" descr="Icono&#10;&#10;El contenido generado por IA puede ser incorrecto.">
            <a:extLst>
              <a:ext uri="{FF2B5EF4-FFF2-40B4-BE49-F238E27FC236}">
                <a16:creationId xmlns:a16="http://schemas.microsoft.com/office/drawing/2014/main" id="{701C71EB-CE1D-3E14-67EC-D4703A9024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81" t="10892" r="24643" b="14642"/>
          <a:stretch/>
        </p:blipFill>
        <p:spPr>
          <a:xfrm>
            <a:off x="5573538" y="3095779"/>
            <a:ext cx="3113262" cy="29173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05" y="764373"/>
            <a:ext cx="8357135" cy="1293028"/>
          </a:xfrm>
        </p:spPr>
        <p:txBody>
          <a:bodyPr>
            <a:normAutofit/>
          </a:bodyPr>
          <a:lstStyle/>
          <a:p>
            <a:r>
              <a:rPr lang="es-MX" dirty="0"/>
              <a:t>Comandos Generales de Alta y Baja del SGBD</a:t>
            </a:r>
            <a:endParaRPr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BE86E4-53C7-9EB5-79E5-1580CE9266F8}"/>
              </a:ext>
            </a:extLst>
          </p:cNvPr>
          <p:cNvSpPr txBox="1"/>
          <p:nvPr/>
        </p:nvSpPr>
        <p:spPr>
          <a:xfrm>
            <a:off x="192505" y="2153183"/>
            <a:ext cx="27263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Alta del servicio: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start</a:t>
            </a:r>
            <a:r>
              <a:rPr lang="es-MX" dirty="0"/>
              <a:t> </a:t>
            </a:r>
            <a:r>
              <a:rPr lang="es-MX" dirty="0" err="1"/>
              <a:t>mysql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systemctl</a:t>
            </a:r>
            <a:r>
              <a:rPr lang="es-MX" dirty="0"/>
              <a:t> </a:t>
            </a:r>
            <a:r>
              <a:rPr lang="es-MX" dirty="0" err="1"/>
              <a:t>start</a:t>
            </a:r>
            <a:r>
              <a:rPr lang="es-MX" dirty="0"/>
              <a:t> </a:t>
            </a:r>
            <a:r>
              <a:rPr lang="es-MX" dirty="0" err="1"/>
              <a:t>mysql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net </a:t>
            </a:r>
            <a:r>
              <a:rPr lang="es-MX" dirty="0" err="1"/>
              <a:t>start</a:t>
            </a:r>
            <a:r>
              <a:rPr lang="es-MX" dirty="0"/>
              <a:t> </a:t>
            </a:r>
            <a:r>
              <a:rPr lang="es-MX" dirty="0" err="1"/>
              <a:t>mysql</a:t>
            </a: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0FBCD5-6A7D-FAB1-5DE9-189921EC23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803"/>
          <a:stretch/>
        </p:blipFill>
        <p:spPr>
          <a:xfrm>
            <a:off x="-6012" y="3599848"/>
            <a:ext cx="9144000" cy="287715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F50BCE2-AF4F-855E-D9F4-5016B6876C56}"/>
              </a:ext>
            </a:extLst>
          </p:cNvPr>
          <p:cNvSpPr txBox="1"/>
          <p:nvPr/>
        </p:nvSpPr>
        <p:spPr>
          <a:xfrm>
            <a:off x="3202810" y="2091723"/>
            <a:ext cx="27263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Baja del servicio: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stop </a:t>
            </a:r>
            <a:r>
              <a:rPr lang="es-MX" dirty="0" err="1"/>
              <a:t>mysql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systemctl</a:t>
            </a:r>
            <a:r>
              <a:rPr lang="es-MX" dirty="0"/>
              <a:t> stop </a:t>
            </a:r>
            <a:r>
              <a:rPr lang="es-MX" dirty="0" err="1"/>
              <a:t>mysql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net stop </a:t>
            </a:r>
            <a:r>
              <a:rPr lang="es-MX" dirty="0" err="1"/>
              <a:t>mysql</a:t>
            </a:r>
            <a:endParaRPr lang="es-MX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10A7C92-41B5-F020-4C83-457903AF5746}"/>
              </a:ext>
            </a:extLst>
          </p:cNvPr>
          <p:cNvSpPr txBox="1"/>
          <p:nvPr/>
        </p:nvSpPr>
        <p:spPr>
          <a:xfrm>
            <a:off x="6025415" y="2091723"/>
            <a:ext cx="28298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Reinicio: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restart</a:t>
            </a:r>
            <a:r>
              <a:rPr lang="es-MX" dirty="0"/>
              <a:t> </a:t>
            </a:r>
            <a:r>
              <a:rPr lang="es-MX" dirty="0" err="1"/>
              <a:t>mysql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systemctl</a:t>
            </a:r>
            <a:r>
              <a:rPr lang="es-MX" dirty="0"/>
              <a:t> </a:t>
            </a:r>
            <a:r>
              <a:rPr lang="es-MX" dirty="0" err="1"/>
              <a:t>restart</a:t>
            </a:r>
            <a:r>
              <a:rPr lang="es-MX" dirty="0"/>
              <a:t> </a:t>
            </a:r>
            <a:r>
              <a:rPr lang="es-MX" dirty="0" err="1"/>
              <a:t>mysql</a:t>
            </a:r>
            <a:endParaRPr lang="es-MX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Ventajas del Uso de un SGBD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056F5A-F7CE-2ECE-F11B-F56328A8D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71" y="2107169"/>
            <a:ext cx="459377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/>
              <a:t>Seguridad de información.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/>
              <a:t>Administración eficiente.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/>
              <a:t>Acceso rápido a datos.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/>
              <a:t>Soporte multiusuario.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/>
              <a:t>Recuperación ante errores.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/>
              <a:t>Integridad de datos.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/>
              <a:t>Escalabilidad. </a:t>
            </a:r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0654BC06-0FD6-04FD-C325-EEAC9E7FF3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21" b="9107"/>
          <a:stretch/>
        </p:blipFill>
        <p:spPr>
          <a:xfrm>
            <a:off x="3774697" y="2884713"/>
            <a:ext cx="5369303" cy="27230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/>
              <a:t>La arquitectura e instalación de un SGBD es fundamental para garantizar el correcto almacenamiento y administración de la información. Gracias a sus estructuras físicas, lógicas y de memoria, los sistemas gestores de bases de datos ofrecen seguridad, rendimiento y estabilidad.</a:t>
            </a:r>
          </a:p>
          <a:p>
            <a:pPr marL="0" indent="0" algn="just">
              <a:buNone/>
            </a:pPr>
            <a:r>
              <a:rPr lang="es-MX" sz="2000" dirty="0"/>
              <a:t>Además, conocer los procedimientos de instalación, configuración y administración permite implementar sistemas más eficientes y seguros para el manejo de datos.</a:t>
            </a:r>
          </a:p>
          <a:p>
            <a:pPr algn="just">
              <a:defRPr sz="1584"/>
            </a:pPr>
            <a:endParaRPr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80" y="764373"/>
            <a:ext cx="7776754" cy="1293028"/>
          </a:xfrm>
        </p:spPr>
        <p:txBody>
          <a:bodyPr/>
          <a:lstStyle/>
          <a:p>
            <a:r>
              <a:rPr lang="es-MX" dirty="0"/>
              <a:t>Fuentes de información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B2335C-EFB7-909B-30B8-978203265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80" y="1856759"/>
            <a:ext cx="8033660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457056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Estructura de memoria y procesos de la instancia. (2021, 28 julio). 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https://administracionbasededatosequipo4.blogspot.com/2021/07/estructura-de-memoria-y-procesos-de-la.html</a:t>
            </a: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C0bi. (2024, 15 febrero). Cómo configurar el </a:t>
            </a:r>
            <a:r>
              <a:rPr lang="es-MX" altLang="es-MX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sgbd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modo transaccional. </a:t>
            </a:r>
            <a:r>
              <a:rPr lang="es-MX" altLang="es-MX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Mundowin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https://mundowin.com/como-configurar-el-sgbd-en-modo-transaccional/</a:t>
            </a: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lang="es-MX" altLang="es-MX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(s. f.). 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https://es.slideshare.net/slideshow/28-comandos-generales-de-alta-y-baja-del-sgbd/266752119</a:t>
            </a: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Instalación y configuración del sistema Gestor de bases de Datos en distintas plataformas. (s. f.). </a:t>
            </a:r>
            <a:r>
              <a:rPr lang="es-MX" altLang="es-MX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Itpn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Recuperado 12 de mayo de 2026, de 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http://itpn.mx/recursositics/4semestre/tallerdebasededatos/Unidad%20I.pdf</a:t>
            </a: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Jesus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(2023, 2 noviembre). Arquitectura de sistemas gestores de bases de datos: mejores prácticas y estrategias modernas. </a:t>
            </a:r>
            <a:r>
              <a:rPr lang="es-MX" altLang="es-MX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Dongee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Recuperado 12 de mayo de 2026, de 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https://www.dongee.com/tutoriales/arquitectura-de-sistemas-gestores-de-bases-de-datos/</a:t>
            </a: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Para, R. (2025, 15 julio). Requisitos para instalar un sistema operativo. Requisitos Para. 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https://requisitospara.com.mx/requisitos-para-instalar-un-sistema-operativo/</a:t>
            </a: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(2017, 21 abril). 2.1.5 Variables de Ambiente y Archivos Importantes para Instalación. </a:t>
            </a:r>
            <a:r>
              <a:rPr lang="es-MX" altLang="es-MX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https://manivalca.blogspot.com/2017/04/215-variables-de-ambiente-y-archivos.html</a:t>
            </a: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MX" alt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144</TotalTime>
  <Words>1174</Words>
  <Application>Microsoft Office PowerPoint</Application>
  <PresentationFormat>Presentación en pantalla (4:3)</PresentationFormat>
  <Paragraphs>227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Century Gothic</vt:lpstr>
      <vt:lpstr>Times New Roman</vt:lpstr>
      <vt:lpstr>Estela de condensación</vt:lpstr>
      <vt:lpstr>Presentación de PowerPoint</vt:lpstr>
      <vt:lpstr>Arquitectura e Instalación del SGBD</vt:lpstr>
      <vt:lpstr>Introducción</vt:lpstr>
      <vt:lpstr>¿Qué es un SGBD?</vt:lpstr>
      <vt:lpstr>Arquitectura del SGBD</vt:lpstr>
      <vt:lpstr>Estructura de Memoria de la instancia</vt:lpstr>
      <vt:lpstr>Caché de Buffers y Redo Log</vt:lpstr>
      <vt:lpstr>Procesos de la Instancia</vt:lpstr>
      <vt:lpstr>Estructura Física</vt:lpstr>
      <vt:lpstr>Presentación de PowerPoint</vt:lpstr>
      <vt:lpstr>Estructura Lógica</vt:lpstr>
      <vt:lpstr>Presentación de PowerPoint</vt:lpstr>
      <vt:lpstr>Requerimientos para Instalación</vt:lpstr>
      <vt:lpstr>Requerimientos Básicos de MySQL</vt:lpstr>
      <vt:lpstr>Instalación del SGBD en Modo Transaccional</vt:lpstr>
      <vt:lpstr>Variables de Ambiente</vt:lpstr>
      <vt:lpstr>ARCHIVOS IMPORTANTES LOG</vt:lpstr>
      <vt:lpstr>Procedimiento de Instalación</vt:lpstr>
      <vt:lpstr>Configuración del SGBD</vt:lpstr>
      <vt:lpstr>Comandos Generales de Alta y Baja del SGBD</vt:lpstr>
      <vt:lpstr>Ventajas del Uso de un SGBD</vt:lpstr>
      <vt:lpstr>Conclusión</vt:lpstr>
      <vt:lpstr>Fuentes de información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Cynthia</dc:creator>
  <cp:keywords/>
  <dc:description>generated using python-pptx</dc:description>
  <cp:lastModifiedBy>Jasmine Morales</cp:lastModifiedBy>
  <cp:revision>3</cp:revision>
  <dcterms:created xsi:type="dcterms:W3CDTF">2013-01-27T09:14:16Z</dcterms:created>
  <dcterms:modified xsi:type="dcterms:W3CDTF">2026-05-30T19:36:28Z</dcterms:modified>
  <cp:category/>
</cp:coreProperties>
</file>