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7" r:id="rId5"/>
    <p:sldId id="268" r:id="rId6"/>
    <p:sldId id="259" r:id="rId7"/>
    <p:sldId id="260" r:id="rId8"/>
    <p:sldId id="261" r:id="rId9"/>
    <p:sldId id="262" r:id="rId10"/>
    <p:sldId id="263" r:id="rId11"/>
    <p:sldId id="264" r:id="rId12"/>
    <p:sldId id="265" r:id="rId13"/>
    <p:sldId id="266" r:id="rId14"/>
    <p:sldId id="269" r:id="rId15"/>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284F2-2591-4A89-9E11-EFFF3177C20D}" type="datetimeFigureOut">
              <a:rPr lang="es-MX" smtClean="0"/>
              <a:t>03/05/2026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6B991B-5860-4D6C-BDB3-45C5E2C2D791}" type="slidenum">
              <a:rPr lang="es-MX" smtClean="0"/>
              <a:t>‹Nº›</a:t>
            </a:fld>
            <a:endParaRPr lang="es-MX"/>
          </a:p>
        </p:txBody>
      </p:sp>
    </p:spTree>
    <p:extLst>
      <p:ext uri="{BB962C8B-B14F-4D97-AF65-F5344CB8AC3E}">
        <p14:creationId xmlns:p14="http://schemas.microsoft.com/office/powerpoint/2010/main" val="4271389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CC6B991B-5860-4D6C-BDB3-45C5E2C2D791}" type="slidenum">
              <a:rPr lang="es-MX" smtClean="0"/>
              <a:t>6</a:t>
            </a:fld>
            <a:endParaRPr lang="es-MX"/>
          </a:p>
        </p:txBody>
      </p:sp>
    </p:spTree>
    <p:extLst>
      <p:ext uri="{BB962C8B-B14F-4D97-AF65-F5344CB8AC3E}">
        <p14:creationId xmlns:p14="http://schemas.microsoft.com/office/powerpoint/2010/main" val="441431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A3666F-B8D2-6100-0932-7D3DAF9C46B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7B484E0-85A6-1BF9-2CF8-5BD3755851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33BBE6A-A276-D3EE-E838-9E07D06AE19C}"/>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5" name="Marcador de pie de página 4">
            <a:extLst>
              <a:ext uri="{FF2B5EF4-FFF2-40B4-BE49-F238E27FC236}">
                <a16:creationId xmlns:a16="http://schemas.microsoft.com/office/drawing/2014/main" id="{678D8E09-15DA-394C-D57D-BB70EA795A5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FB5C61E-DE46-38AF-79AF-F446C1D7B998}"/>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2475485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53D0DD-C1A5-01C6-BAF1-0DBDCC61AEA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8969988-7941-8764-8AAD-A508DA90ACC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E0E8B4F-E14A-A108-BE5A-A524A9489F88}"/>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5" name="Marcador de pie de página 4">
            <a:extLst>
              <a:ext uri="{FF2B5EF4-FFF2-40B4-BE49-F238E27FC236}">
                <a16:creationId xmlns:a16="http://schemas.microsoft.com/office/drawing/2014/main" id="{B57B4810-D7F9-61C1-CF0C-643FE6A44A7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1E07591-D6A6-FD96-29E3-9B7352FA43D1}"/>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1513955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85B5F9-AABB-407A-6B9B-81C93EE70E1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E61BC2F-16BB-7C4D-6BC1-CC18189BE0D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263168A-376F-8311-88AC-204A829549D6}"/>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5" name="Marcador de pie de página 4">
            <a:extLst>
              <a:ext uri="{FF2B5EF4-FFF2-40B4-BE49-F238E27FC236}">
                <a16:creationId xmlns:a16="http://schemas.microsoft.com/office/drawing/2014/main" id="{E2D7BC4E-7114-2B9C-1036-D877FD7CAB9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83D7311-93FF-F0EC-7A53-1958446E57F7}"/>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3977389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656648-F561-0F85-B249-768FA9EF81D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AB2DF10-880C-24ED-7420-04A007579FC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4AEEDFD4-7F6C-4D93-46CB-E547DDEB131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B3CE784-E860-F468-0356-A8AD0D883CF8}"/>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6" name="Marcador de pie de página 5">
            <a:extLst>
              <a:ext uri="{FF2B5EF4-FFF2-40B4-BE49-F238E27FC236}">
                <a16:creationId xmlns:a16="http://schemas.microsoft.com/office/drawing/2014/main" id="{54176F8F-9EA4-5D39-E817-8BA711CAB7D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8998B4D-FD06-17C0-A91D-D2E5374D09EB}"/>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2391533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6C7797-AAC9-188F-89B4-DA962933699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7491013-1FE2-CE09-3352-4C6898E7AC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4298D85-1A1C-A47E-E965-E6E2BF29526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CCCDAC3E-C6C2-E34E-53B9-31806AF826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BBC9904-22E6-46C1-8DFE-6C74A5296B8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A4B30EE5-93C9-3D07-2726-7B76246991D7}"/>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8" name="Marcador de pie de página 7">
            <a:extLst>
              <a:ext uri="{FF2B5EF4-FFF2-40B4-BE49-F238E27FC236}">
                <a16:creationId xmlns:a16="http://schemas.microsoft.com/office/drawing/2014/main" id="{EF968176-4686-1C4C-B782-38028B52D172}"/>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438D554-8F5A-D750-0979-9F83357D7B0D}"/>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570458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A6C42E-6321-64D3-A7A4-8BB02D4424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1589196-9C30-9B26-DC08-02D3D0E16F96}"/>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4" name="Marcador de pie de página 3">
            <a:extLst>
              <a:ext uri="{FF2B5EF4-FFF2-40B4-BE49-F238E27FC236}">
                <a16:creationId xmlns:a16="http://schemas.microsoft.com/office/drawing/2014/main" id="{4059E5C8-2565-0D03-98F5-5CFA14474E32}"/>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EF9D3B3-4215-D211-D3FF-59833478DCF0}"/>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2986087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FEB42E7-C96C-83A3-B58C-3263C3ED7863}"/>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3" name="Marcador de pie de página 2">
            <a:extLst>
              <a:ext uri="{FF2B5EF4-FFF2-40B4-BE49-F238E27FC236}">
                <a16:creationId xmlns:a16="http://schemas.microsoft.com/office/drawing/2014/main" id="{61538CC4-2D05-138D-BCE8-C2C1904C3B7D}"/>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9E001612-3C6C-BC58-EE99-5FFF14810061}"/>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693240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7B7C15-A8AC-49F9-7358-D17AC969E45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7B2BEA6-76D6-F533-1834-8803F03FBE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9AD94550-E4B4-1F74-FE4F-2085A11E42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E5FDAE4-8533-7AD4-A313-1B921FC40032}"/>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6" name="Marcador de pie de página 5">
            <a:extLst>
              <a:ext uri="{FF2B5EF4-FFF2-40B4-BE49-F238E27FC236}">
                <a16:creationId xmlns:a16="http://schemas.microsoft.com/office/drawing/2014/main" id="{051D7EF6-EBBB-F13E-CBE3-8C3E7BA64A9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A694A2A-ED3F-F76C-5549-A64D7C7C7199}"/>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1664604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CFA62-9BE3-0C46-66AC-BB24B274B3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05ACF8B9-EB09-51D0-8B1F-A070245E32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3A0FAD60-6230-398A-69BA-28A299E53D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07B2C87-F92F-A43B-0E12-6D95C780CF39}"/>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6" name="Marcador de pie de página 5">
            <a:extLst>
              <a:ext uri="{FF2B5EF4-FFF2-40B4-BE49-F238E27FC236}">
                <a16:creationId xmlns:a16="http://schemas.microsoft.com/office/drawing/2014/main" id="{3381C584-AB9B-A4E7-6648-1901D8800C5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684549A-552D-4DAF-61FD-81C2EE535289}"/>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1607127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22F959-667E-D865-3948-D9189B4EC7D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233A745-8CAD-6265-455B-4779D5D37A00}"/>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8FCFEE1-0924-CB3F-517C-AA8EC072AB87}"/>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5" name="Marcador de pie de página 4">
            <a:extLst>
              <a:ext uri="{FF2B5EF4-FFF2-40B4-BE49-F238E27FC236}">
                <a16:creationId xmlns:a16="http://schemas.microsoft.com/office/drawing/2014/main" id="{A52E2FC8-B531-BCB6-C1BC-A5E86BFCBFB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8E94745-C121-01A8-0D2C-E39318FF2D32}"/>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2282680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5910FC0-0315-FD8D-F804-3B0093E9FF5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D24E212-79B0-D691-550F-E5F81419DDC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7D7E664-BD03-E222-A3F0-0BCCBFA4449D}"/>
              </a:ext>
            </a:extLst>
          </p:cNvPr>
          <p:cNvSpPr>
            <a:spLocks noGrp="1"/>
          </p:cNvSpPr>
          <p:nvPr>
            <p:ph type="dt" sz="half" idx="10"/>
          </p:nvPr>
        </p:nvSpPr>
        <p:spPr/>
        <p:txBody>
          <a:bodyPr/>
          <a:lstStyle/>
          <a:p>
            <a:fld id="{E1A5934D-09AB-4539-8C12-852B0C6DC774}" type="datetimeFigureOut">
              <a:rPr lang="es-MX" smtClean="0"/>
              <a:t>03/05/2026</a:t>
            </a:fld>
            <a:endParaRPr lang="es-MX"/>
          </a:p>
        </p:txBody>
      </p:sp>
      <p:sp>
        <p:nvSpPr>
          <p:cNvPr id="5" name="Marcador de pie de página 4">
            <a:extLst>
              <a:ext uri="{FF2B5EF4-FFF2-40B4-BE49-F238E27FC236}">
                <a16:creationId xmlns:a16="http://schemas.microsoft.com/office/drawing/2014/main" id="{70AB9FC7-78F3-AF0A-AB45-58567DBB7E1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11F801E-B4CB-D570-F3F5-CBF8351EE295}"/>
              </a:ext>
            </a:extLst>
          </p:cNvPr>
          <p:cNvSpPr>
            <a:spLocks noGrp="1"/>
          </p:cNvSpPr>
          <p:nvPr>
            <p:ph type="sldNum" sz="quarter" idx="12"/>
          </p:nvPr>
        </p:nvSpPr>
        <p:spPr/>
        <p:txBody>
          <a:bodyPr/>
          <a:lstStyle/>
          <a:p>
            <a:fld id="{455962C9-2F7D-408C-8363-D2084265D368}" type="slidenum">
              <a:rPr lang="es-MX" smtClean="0"/>
              <a:t>‹Nº›</a:t>
            </a:fld>
            <a:endParaRPr lang="es-MX"/>
          </a:p>
        </p:txBody>
      </p:sp>
    </p:spTree>
    <p:extLst>
      <p:ext uri="{BB962C8B-B14F-4D97-AF65-F5344CB8AC3E}">
        <p14:creationId xmlns:p14="http://schemas.microsoft.com/office/powerpoint/2010/main" val="905949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974D093-A7E9-59EB-64D8-8068871B8E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42AB413-503C-47FF-F576-4B1157922E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E88629B-C13F-4742-4C5D-F31CCF02C1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A5934D-09AB-4539-8C12-852B0C6DC774}" type="datetimeFigureOut">
              <a:rPr lang="es-MX" smtClean="0"/>
              <a:t>03/05/2026</a:t>
            </a:fld>
            <a:endParaRPr lang="es-MX"/>
          </a:p>
        </p:txBody>
      </p:sp>
      <p:sp>
        <p:nvSpPr>
          <p:cNvPr id="5" name="Marcador de pie de página 4">
            <a:extLst>
              <a:ext uri="{FF2B5EF4-FFF2-40B4-BE49-F238E27FC236}">
                <a16:creationId xmlns:a16="http://schemas.microsoft.com/office/drawing/2014/main" id="{FCCD41C8-6466-3F68-CD61-2BD3EC5A7E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883BB419-F07A-C798-94AE-D1DAD5CAA5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5962C9-2F7D-408C-8363-D2084265D368}" type="slidenum">
              <a:rPr lang="es-MX" smtClean="0"/>
              <a:t>‹Nº›</a:t>
            </a:fld>
            <a:endParaRPr lang="es-MX"/>
          </a:p>
        </p:txBody>
      </p:sp>
    </p:spTree>
    <p:extLst>
      <p:ext uri="{BB962C8B-B14F-4D97-AF65-F5344CB8AC3E}">
        <p14:creationId xmlns:p14="http://schemas.microsoft.com/office/powerpoint/2010/main" val="3269338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69411080-AC90-33F5-EC0F-AC7F0613BF51}"/>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Administración de base de datos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semestre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1.3 Banco de Ejercicios</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24 de </a:t>
            </a:r>
            <a:r>
              <a:rPr lang="en-US" sz="1600" dirty="0" err="1">
                <a:solidFill>
                  <a:srgbClr val="000000"/>
                </a:solidFill>
                <a:latin typeface="Century Gothic" panose="020B0502020202020204" pitchFamily="34" charset="0"/>
                <a:ea typeface="Glacial Indifference"/>
                <a:cs typeface="Glacial Indifference"/>
                <a:sym typeface="Glacial Indifference"/>
              </a:rPr>
              <a:t>abril</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358AEDBE-F04F-9390-FA48-BC13F4A9FFBF}"/>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E6C65546-AFEC-862E-09FC-D9790471FE6D}"/>
              </a:ext>
            </a:extLst>
          </p:cNvPr>
          <p:cNvGrpSpPr/>
          <p:nvPr/>
        </p:nvGrpSpPr>
        <p:grpSpPr>
          <a:xfrm>
            <a:off x="795478" y="31119"/>
            <a:ext cx="2709599" cy="1198176"/>
            <a:chOff x="0" y="0"/>
            <a:chExt cx="3073400" cy="1308100"/>
          </a:xfrm>
        </p:grpSpPr>
        <p:sp>
          <p:nvSpPr>
            <p:cNvPr id="7" name="Freeform 3">
              <a:extLst>
                <a:ext uri="{FF2B5EF4-FFF2-40B4-BE49-F238E27FC236}">
                  <a16:creationId xmlns:a16="http://schemas.microsoft.com/office/drawing/2014/main" id="{7318AE44-6B17-A6C3-FD46-7AC11AF06C5D}"/>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AA52536E-1E88-AC84-8E3E-394081FC593A}"/>
              </a:ext>
            </a:extLst>
          </p:cNvPr>
          <p:cNvGrpSpPr/>
          <p:nvPr/>
        </p:nvGrpSpPr>
        <p:grpSpPr>
          <a:xfrm>
            <a:off x="9459465" y="106714"/>
            <a:ext cx="1872270" cy="1245240"/>
            <a:chOff x="0" y="0"/>
            <a:chExt cx="1981200" cy="1625600"/>
          </a:xfrm>
        </p:grpSpPr>
        <p:sp>
          <p:nvSpPr>
            <p:cNvPr id="9" name="Freeform 5">
              <a:extLst>
                <a:ext uri="{FF2B5EF4-FFF2-40B4-BE49-F238E27FC236}">
                  <a16:creationId xmlns:a16="http://schemas.microsoft.com/office/drawing/2014/main" id="{6DA2731F-E82C-079D-B5BA-F11173B90A8D}"/>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191DC139-FAF1-01D0-883A-B71B061B75E0}"/>
              </a:ext>
            </a:extLst>
          </p:cNvPr>
          <p:cNvGrpSpPr/>
          <p:nvPr/>
        </p:nvGrpSpPr>
        <p:grpSpPr>
          <a:xfrm>
            <a:off x="4286158" y="269788"/>
            <a:ext cx="3812814" cy="709234"/>
            <a:chOff x="0" y="0"/>
            <a:chExt cx="4343400" cy="901700"/>
          </a:xfrm>
        </p:grpSpPr>
        <p:sp>
          <p:nvSpPr>
            <p:cNvPr id="11" name="Freeform 7">
              <a:extLst>
                <a:ext uri="{FF2B5EF4-FFF2-40B4-BE49-F238E27FC236}">
                  <a16:creationId xmlns:a16="http://schemas.microsoft.com/office/drawing/2014/main" id="{00D985E2-DDE6-B8AC-E77B-8EAEC2329856}"/>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3277299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BE86AC-0CE7-AF56-8E70-BD4389FC8852}"/>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7AD9AF0A-C013-652F-F376-452DEA84B195}"/>
              </a:ext>
            </a:extLst>
          </p:cNvPr>
          <p:cNvSpPr>
            <a:spLocks noGrp="1"/>
          </p:cNvSpPr>
          <p:nvPr>
            <p:ph idx="1"/>
          </p:nvPr>
        </p:nvSpPr>
        <p:spPr/>
        <p:txBody>
          <a:bodyPr>
            <a:normAutofit/>
          </a:bodyPr>
          <a:lstStyle/>
          <a:p>
            <a:pPr marL="0" indent="0" algn="just">
              <a:buNone/>
            </a:pPr>
            <a:r>
              <a:rPr lang="es-MX" sz="1800" dirty="0">
                <a:latin typeface="Arial" panose="020B0604020202020204" pitchFamily="34" charset="0"/>
                <a:cs typeface="Arial" panose="020B0604020202020204" pitchFamily="34" charset="0"/>
              </a:rPr>
              <a:t>En el desarrollo de sistemas modernos, el uso de herramientas de virtualización ligera ha permitido optimizar la instalación y administración de servicios de software. Una de estas tecnologías es Docker, la cual permite ejecutar aplicaciones en contenedores aislados sin necesidad de instalarlas directamente en el sistema operativo.</a:t>
            </a:r>
          </a:p>
          <a:p>
            <a:pPr marL="0" indent="0" algn="just">
              <a:buNone/>
            </a:pPr>
            <a:r>
              <a:rPr lang="es-MX" sz="1800" dirty="0">
                <a:latin typeface="Arial" panose="020B0604020202020204" pitchFamily="34" charset="0"/>
                <a:cs typeface="Arial" panose="020B0604020202020204" pitchFamily="34" charset="0"/>
              </a:rPr>
              <a:t>En esta práctica se realizó la </a:t>
            </a:r>
            <a:r>
              <a:rPr lang="es-MX" sz="1800" dirty="0" err="1">
                <a:latin typeface="Arial" panose="020B0604020202020204" pitchFamily="34" charset="0"/>
                <a:cs typeface="Arial" panose="020B0604020202020204" pitchFamily="34" charset="0"/>
              </a:rPr>
              <a:t>dockerización</a:t>
            </a:r>
            <a:r>
              <a:rPr lang="es-MX" sz="1800" dirty="0">
                <a:latin typeface="Arial" panose="020B0604020202020204" pitchFamily="34" charset="0"/>
                <a:cs typeface="Arial" panose="020B0604020202020204" pitchFamily="34" charset="0"/>
              </a:rPr>
              <a:t> de sistemas gestores de bases de datos como MySQL, PostgreSQL y Oracle, con el objetivo de implementar un entorno de trabajo flexible, portable y eficiente. Esto permite ejecutar múltiples bases de datos en un mismo sistema sin conflictos de dependencias.</a:t>
            </a:r>
          </a:p>
          <a:p>
            <a:pPr marL="0" indent="0" algn="just">
              <a:buNone/>
            </a:pPr>
            <a:endParaRPr lang="es-MX"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3599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2DAEE6-FABB-C850-D229-8ADB83A2EA3D}"/>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6D734621-B306-8171-49A8-AEBD1202359B}"/>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La presente práctica se realiza con el fin de aplicar el uso de Docker para la implementación de sistemas gestores de bases de datos en contenedores. Esto permite trabajar con MySQL, PostgreSQL y Oracle </a:t>
            </a:r>
            <a:r>
              <a:rPr lang="es-MX" sz="2000" dirty="0" err="1">
                <a:latin typeface="Arial" panose="020B0604020202020204" pitchFamily="34" charset="0"/>
                <a:cs typeface="Arial" panose="020B0604020202020204" pitchFamily="34" charset="0"/>
              </a:rPr>
              <a:t>Database</a:t>
            </a:r>
            <a:r>
              <a:rPr lang="es-MX" sz="2000" dirty="0">
                <a:latin typeface="Arial" panose="020B0604020202020204" pitchFamily="34" charset="0"/>
                <a:cs typeface="Arial" panose="020B0604020202020204" pitchFamily="34" charset="0"/>
              </a:rPr>
              <a:t> sin necesidad de instalarlos directamente en el sistema operativo, evitando conflictos y facilitando su uso.</a:t>
            </a:r>
          </a:p>
          <a:p>
            <a:pPr marL="0" indent="0" algn="just">
              <a:buNone/>
            </a:pPr>
            <a:r>
              <a:rPr lang="es-MX" sz="2000" dirty="0">
                <a:latin typeface="Arial" panose="020B0604020202020204" pitchFamily="34" charset="0"/>
                <a:cs typeface="Arial" panose="020B0604020202020204" pitchFamily="34" charset="0"/>
              </a:rPr>
              <a:t>Además, el uso de Docker en Ubuntu permite crear entornos de trabajo más organizados, eficientes y fáciles de replicar, lo cual es importante en el desarrollo de software actual.</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8761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3173D2-3AF9-9447-16E7-3D160E6680C7}"/>
              </a:ext>
            </a:extLst>
          </p:cNvPr>
          <p:cNvSpPr>
            <a:spLocks noGrp="1"/>
          </p:cNvSpPr>
          <p:nvPr>
            <p:ph type="title"/>
          </p:nvPr>
        </p:nvSpPr>
        <p:spPr/>
        <p:txBody>
          <a:bodyPr/>
          <a:lstStyle/>
          <a:p>
            <a:r>
              <a:rPr lang="es-MX" dirty="0"/>
              <a:t>Objetivos </a:t>
            </a:r>
          </a:p>
        </p:txBody>
      </p:sp>
      <p:sp>
        <p:nvSpPr>
          <p:cNvPr id="3" name="Marcador de contenido 2">
            <a:extLst>
              <a:ext uri="{FF2B5EF4-FFF2-40B4-BE49-F238E27FC236}">
                <a16:creationId xmlns:a16="http://schemas.microsoft.com/office/drawing/2014/main" id="{D1705733-2A59-A15E-E54B-64A8D62D7CCF}"/>
              </a:ext>
            </a:extLst>
          </p:cNvPr>
          <p:cNvSpPr>
            <a:spLocks noGrp="1"/>
          </p:cNvSpPr>
          <p:nvPr>
            <p:ph idx="1"/>
          </p:nvPr>
        </p:nvSpPr>
        <p:spPr>
          <a:xfrm>
            <a:off x="838200" y="1586140"/>
            <a:ext cx="10515600" cy="4351338"/>
          </a:xfrm>
        </p:spPr>
        <p:txBody>
          <a:bodyPr>
            <a:normAutofit/>
          </a:bodyPr>
          <a:lstStyle/>
          <a:p>
            <a:pPr marL="0" indent="0">
              <a:buNone/>
            </a:pPr>
            <a:r>
              <a:rPr lang="es-MX" sz="2400" b="1" dirty="0">
                <a:latin typeface="Arial" panose="020B0604020202020204" pitchFamily="34" charset="0"/>
                <a:cs typeface="Arial" panose="020B0604020202020204" pitchFamily="34" charset="0"/>
              </a:rPr>
              <a:t>Objetivo general</a:t>
            </a:r>
          </a:p>
          <a:p>
            <a:pPr lvl="1"/>
            <a:r>
              <a:rPr lang="es-MX" sz="2000" dirty="0">
                <a:latin typeface="Arial" panose="020B0604020202020204" pitchFamily="34" charset="0"/>
                <a:cs typeface="Arial" panose="020B0604020202020204" pitchFamily="34" charset="0"/>
              </a:rPr>
              <a:t>Implementar un entorno de trabajo mediante Docker para la ejecución de sistemas gestores de bases de datos en contenedores.</a:t>
            </a:r>
          </a:p>
          <a:p>
            <a:pPr marL="0" indent="0">
              <a:buNone/>
            </a:pPr>
            <a:r>
              <a:rPr lang="es-MX" sz="2400" b="1" dirty="0">
                <a:latin typeface="Arial" panose="020B0604020202020204" pitchFamily="34" charset="0"/>
                <a:cs typeface="Arial" panose="020B0604020202020204" pitchFamily="34" charset="0"/>
              </a:rPr>
              <a:t>Objetivos específicos</a:t>
            </a:r>
          </a:p>
          <a:p>
            <a:pPr lvl="1"/>
            <a:r>
              <a:rPr lang="es-MX" sz="2000" dirty="0">
                <a:latin typeface="Arial" panose="020B0604020202020204" pitchFamily="34" charset="0"/>
                <a:cs typeface="Arial" panose="020B0604020202020204" pitchFamily="34" charset="0"/>
              </a:rPr>
              <a:t>Instalar y configurar Docker en Ubuntu. </a:t>
            </a:r>
          </a:p>
          <a:p>
            <a:pPr lvl="1"/>
            <a:r>
              <a:rPr lang="es-MX" sz="2000" dirty="0">
                <a:latin typeface="Arial" panose="020B0604020202020204" pitchFamily="34" charset="0"/>
                <a:cs typeface="Arial" panose="020B0604020202020204" pitchFamily="34" charset="0"/>
              </a:rPr>
              <a:t>Descargar imágenes oficiales de MySQL, PostgreSQL y Oracle. </a:t>
            </a:r>
          </a:p>
          <a:p>
            <a:pPr lvl="1"/>
            <a:r>
              <a:rPr lang="es-MX" sz="2000" dirty="0">
                <a:latin typeface="Arial" panose="020B0604020202020204" pitchFamily="34" charset="0"/>
                <a:cs typeface="Arial" panose="020B0604020202020204" pitchFamily="34" charset="0"/>
              </a:rPr>
              <a:t>Crear contenedores para cada sistema gestor de bases de datos. </a:t>
            </a:r>
          </a:p>
          <a:p>
            <a:pPr lvl="1"/>
            <a:r>
              <a:rPr lang="es-MX" sz="2000" dirty="0">
                <a:latin typeface="Arial" panose="020B0604020202020204" pitchFamily="34" charset="0"/>
                <a:cs typeface="Arial" panose="020B0604020202020204" pitchFamily="34" charset="0"/>
              </a:rPr>
              <a:t>Verificar la correcta ejecución y comunicación de los contenedores. </a:t>
            </a:r>
          </a:p>
          <a:p>
            <a:pPr lvl="1"/>
            <a:r>
              <a:rPr lang="es-MX" sz="2000" dirty="0">
                <a:latin typeface="Arial" panose="020B0604020202020204" pitchFamily="34" charset="0"/>
                <a:cs typeface="Arial" panose="020B0604020202020204" pitchFamily="34" charset="0"/>
              </a:rPr>
              <a:t>Comprender el funcionamiento de la virtualización por contenedores.</a:t>
            </a:r>
          </a:p>
          <a:p>
            <a:pPr marL="0" indent="0">
              <a:buNone/>
            </a:pPr>
            <a:endParaRPr lang="es-MX"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7908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1787C8-6B40-D45E-3EF3-8A882659BE40}"/>
              </a:ext>
            </a:extLst>
          </p:cNvPr>
          <p:cNvSpPr>
            <a:spLocks noGrp="1"/>
          </p:cNvSpPr>
          <p:nvPr>
            <p:ph type="title"/>
          </p:nvPr>
        </p:nvSpPr>
        <p:spPr/>
        <p:txBody>
          <a:bodyPr/>
          <a:lstStyle/>
          <a:p>
            <a:r>
              <a:rPr lang="es-MX" dirty="0"/>
              <a:t>Marco teórico </a:t>
            </a:r>
          </a:p>
        </p:txBody>
      </p:sp>
      <p:sp>
        <p:nvSpPr>
          <p:cNvPr id="3" name="Marcador de contenido 2">
            <a:extLst>
              <a:ext uri="{FF2B5EF4-FFF2-40B4-BE49-F238E27FC236}">
                <a16:creationId xmlns:a16="http://schemas.microsoft.com/office/drawing/2014/main" id="{B50429BB-E898-7C54-4867-33A13949D086}"/>
              </a:ext>
            </a:extLst>
          </p:cNvPr>
          <p:cNvSpPr>
            <a:spLocks noGrp="1"/>
          </p:cNvSpPr>
          <p:nvPr>
            <p:ph idx="1"/>
          </p:nvPr>
        </p:nvSpPr>
        <p:spPr>
          <a:xfrm>
            <a:off x="838200" y="1542595"/>
            <a:ext cx="10515600" cy="4950279"/>
          </a:xfrm>
        </p:spPr>
        <p:txBody>
          <a:bodyPr>
            <a:normAutofit/>
          </a:bodyPr>
          <a:lstStyle/>
          <a:p>
            <a:pPr marL="0" indent="0" algn="just">
              <a:buNone/>
            </a:pPr>
            <a:r>
              <a:rPr lang="es-MX" sz="1400" b="1" dirty="0">
                <a:latin typeface="Arial" panose="020B0604020202020204" pitchFamily="34" charset="0"/>
                <a:cs typeface="Arial" panose="020B0604020202020204" pitchFamily="34" charset="0"/>
              </a:rPr>
              <a:t>Docker</a:t>
            </a:r>
          </a:p>
          <a:p>
            <a:pPr algn="just"/>
            <a:r>
              <a:rPr lang="es-MX" sz="1400" dirty="0">
                <a:latin typeface="Arial" panose="020B0604020202020204" pitchFamily="34" charset="0"/>
                <a:cs typeface="Arial" panose="020B0604020202020204" pitchFamily="34" charset="0"/>
              </a:rPr>
              <a:t>Docker es una plataforma de código abierto que permite crear, desplegar y ejecutar aplicaciones dentro de contenedores. Estos contenedores incluyen todo lo necesario para que una aplicación funcione, como código, librerías y dependencias, asegurando que se ejecute de manera consistente en cualquier entorno.</a:t>
            </a:r>
          </a:p>
          <a:p>
            <a:pPr marL="0" indent="0" algn="just">
              <a:buNone/>
            </a:pPr>
            <a:r>
              <a:rPr lang="es-MX" sz="1400" b="1" dirty="0">
                <a:latin typeface="Arial" panose="020B0604020202020204" pitchFamily="34" charset="0"/>
                <a:cs typeface="Arial" panose="020B0604020202020204" pitchFamily="34" charset="0"/>
              </a:rPr>
              <a:t>Contenedores</a:t>
            </a:r>
          </a:p>
          <a:p>
            <a:pPr algn="just"/>
            <a:r>
              <a:rPr lang="es-MX" sz="1400" dirty="0">
                <a:latin typeface="Arial" panose="020B0604020202020204" pitchFamily="34" charset="0"/>
                <a:cs typeface="Arial" panose="020B0604020202020204" pitchFamily="34" charset="0"/>
              </a:rPr>
              <a:t>Los contenedores son entornos aislados que comparten el núcleo del sistema operativo, pero funcionan de manera independiente. Esto los hace más ligeros y rápidos que las máquinas virtuales tradicionales.</a:t>
            </a:r>
          </a:p>
          <a:p>
            <a:pPr marL="0" indent="0" algn="just">
              <a:buNone/>
            </a:pPr>
            <a:r>
              <a:rPr lang="es-MX" sz="1400" b="1" dirty="0">
                <a:latin typeface="Arial" panose="020B0604020202020204" pitchFamily="34" charset="0"/>
                <a:cs typeface="Arial" panose="020B0604020202020204" pitchFamily="34" charset="0"/>
              </a:rPr>
              <a:t>Sistemas Gestores de Bases de Datos (SGBD)</a:t>
            </a:r>
          </a:p>
          <a:p>
            <a:pPr algn="just"/>
            <a:r>
              <a:rPr lang="es-MX" sz="1400" dirty="0">
                <a:latin typeface="Arial" panose="020B0604020202020204" pitchFamily="34" charset="0"/>
                <a:cs typeface="Arial" panose="020B0604020202020204" pitchFamily="34" charset="0"/>
              </a:rPr>
              <a:t>Un sistema gestor de bases de datos es un software que permite almacenar, administrar y consultar información de manera estructurada.</a:t>
            </a:r>
          </a:p>
          <a:p>
            <a:pPr algn="just">
              <a:buFont typeface="Arial" panose="020B0604020202020204" pitchFamily="34" charset="0"/>
              <a:buChar char="•"/>
            </a:pPr>
            <a:r>
              <a:rPr lang="es-MX" sz="1400" dirty="0">
                <a:latin typeface="Arial" panose="020B0604020202020204" pitchFamily="34" charset="0"/>
                <a:cs typeface="Arial" panose="020B0604020202020204" pitchFamily="34" charset="0"/>
              </a:rPr>
              <a:t>MySQL: sistema relacional ampliamente utilizado en aplicaciones web. </a:t>
            </a:r>
          </a:p>
          <a:p>
            <a:pPr algn="just">
              <a:buFont typeface="Arial" panose="020B0604020202020204" pitchFamily="34" charset="0"/>
              <a:buChar char="•"/>
            </a:pPr>
            <a:r>
              <a:rPr lang="es-MX" sz="1400" dirty="0">
                <a:latin typeface="Arial" panose="020B0604020202020204" pitchFamily="34" charset="0"/>
                <a:cs typeface="Arial" panose="020B0604020202020204" pitchFamily="34" charset="0"/>
              </a:rPr>
              <a:t>PostgreSQL: sistema avanzado de código abierto con alto rendimiento y soporte de estándares. </a:t>
            </a:r>
          </a:p>
          <a:p>
            <a:pPr algn="just">
              <a:buFont typeface="Arial" panose="020B0604020202020204" pitchFamily="34" charset="0"/>
              <a:buChar char="•"/>
            </a:pPr>
            <a:r>
              <a:rPr lang="es-MX" sz="1400" dirty="0">
                <a:latin typeface="Arial" panose="020B0604020202020204" pitchFamily="34" charset="0"/>
                <a:cs typeface="Arial" panose="020B0604020202020204" pitchFamily="34" charset="0"/>
              </a:rPr>
              <a:t>Oracle </a:t>
            </a:r>
            <a:r>
              <a:rPr lang="es-MX" sz="1400" dirty="0" err="1">
                <a:latin typeface="Arial" panose="020B0604020202020204" pitchFamily="34" charset="0"/>
                <a:cs typeface="Arial" panose="020B0604020202020204" pitchFamily="34" charset="0"/>
              </a:rPr>
              <a:t>Database</a:t>
            </a:r>
            <a:r>
              <a:rPr lang="es-MX" sz="1400" dirty="0">
                <a:latin typeface="Arial" panose="020B0604020202020204" pitchFamily="34" charset="0"/>
                <a:cs typeface="Arial" panose="020B0604020202020204" pitchFamily="34" charset="0"/>
              </a:rPr>
              <a:t>: sistema robusto utilizado en entornos empresariales. </a:t>
            </a:r>
          </a:p>
          <a:p>
            <a:pPr marL="0" indent="0" algn="just">
              <a:buNone/>
            </a:pPr>
            <a:r>
              <a:rPr lang="es-MX" sz="1400" b="1" dirty="0">
                <a:latin typeface="Arial" panose="020B0604020202020204" pitchFamily="34" charset="0"/>
                <a:cs typeface="Arial" panose="020B0604020202020204" pitchFamily="34" charset="0"/>
              </a:rPr>
              <a:t>Ubuntu</a:t>
            </a:r>
          </a:p>
          <a:p>
            <a:pPr algn="just"/>
            <a:r>
              <a:rPr lang="es-MX" sz="1400" dirty="0">
                <a:latin typeface="Arial" panose="020B0604020202020204" pitchFamily="34" charset="0"/>
                <a:cs typeface="Arial" panose="020B0604020202020204" pitchFamily="34" charset="0"/>
              </a:rPr>
              <a:t>Ubuntu es un sistema operativo basado en Linux, ampliamente utilizado para servidores y desarrollo de software, compatible con herramientas de contenedores como Docker.</a:t>
            </a:r>
          </a:p>
          <a:p>
            <a:pPr marL="0" indent="0" algn="just">
              <a:buNone/>
            </a:pP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4259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7AD528-52A8-F196-9DE5-99C1EC16DF79}"/>
              </a:ext>
            </a:extLst>
          </p:cNvPr>
          <p:cNvSpPr>
            <a:spLocks noGrp="1"/>
          </p:cNvSpPr>
          <p:nvPr>
            <p:ph type="title"/>
          </p:nvPr>
        </p:nvSpPr>
        <p:spPr>
          <a:xfrm>
            <a:off x="107479" y="0"/>
            <a:ext cx="11717421" cy="474345"/>
          </a:xfrm>
        </p:spPr>
        <p:txBody>
          <a:bodyPr>
            <a:noAutofit/>
          </a:bodyPr>
          <a:lstStyle/>
          <a:p>
            <a:r>
              <a:rPr lang="es-MX" sz="2400" dirty="0"/>
              <a:t>Comenzamos con la instalación de Docker en Ubuntu Linux con los siguientes comandos:</a:t>
            </a:r>
          </a:p>
        </p:txBody>
      </p:sp>
      <p:pic>
        <p:nvPicPr>
          <p:cNvPr id="5" name="Marcador de contenido 4" descr="Pantalla de una computadora&#10;&#10;El contenido generado por IA puede ser incorrecto.">
            <a:extLst>
              <a:ext uri="{FF2B5EF4-FFF2-40B4-BE49-F238E27FC236}">
                <a16:creationId xmlns:a16="http://schemas.microsoft.com/office/drawing/2014/main" id="{3532CF27-0F90-DCA4-172E-D0733836ACC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474345"/>
            <a:ext cx="5782508" cy="4351338"/>
          </a:xfrm>
        </p:spPr>
      </p:pic>
      <p:sp>
        <p:nvSpPr>
          <p:cNvPr id="6" name="CuadroTexto 5">
            <a:extLst>
              <a:ext uri="{FF2B5EF4-FFF2-40B4-BE49-F238E27FC236}">
                <a16:creationId xmlns:a16="http://schemas.microsoft.com/office/drawing/2014/main" id="{3DABDB51-2658-9FFD-6CC7-FA10046F5BEE}"/>
              </a:ext>
            </a:extLst>
          </p:cNvPr>
          <p:cNvSpPr txBox="1"/>
          <p:nvPr/>
        </p:nvSpPr>
        <p:spPr>
          <a:xfrm>
            <a:off x="5889987" y="420342"/>
            <a:ext cx="5934913" cy="4524315"/>
          </a:xfrm>
          <a:prstGeom prst="rect">
            <a:avLst/>
          </a:prstGeom>
          <a:noFill/>
        </p:spPr>
        <p:txBody>
          <a:bodyPr wrap="square" rtlCol="0">
            <a:spAutoFit/>
          </a:bodyPr>
          <a:lstStyle/>
          <a:p>
            <a:r>
              <a:rPr lang="es-MX" sz="1600" dirty="0">
                <a:latin typeface="Arial" panose="020B0604020202020204" pitchFamily="34" charset="0"/>
                <a:cs typeface="Arial" panose="020B0604020202020204" pitchFamily="34" charset="0"/>
              </a:rPr>
              <a:t>1.- ir a la carpeta de descargas:</a:t>
            </a:r>
          </a:p>
          <a:p>
            <a:r>
              <a:rPr lang="es-MX" sz="1600" dirty="0">
                <a:latin typeface="Arial" panose="020B0604020202020204" pitchFamily="34" charset="0"/>
                <a:cs typeface="Arial" panose="020B0604020202020204" pitchFamily="34" charset="0"/>
              </a:rPr>
              <a:t> </a:t>
            </a:r>
            <a:r>
              <a:rPr lang="es-MX" sz="1600" b="1" dirty="0">
                <a:latin typeface="Arial" panose="020B0604020202020204" pitchFamily="34" charset="0"/>
                <a:cs typeface="Arial" panose="020B0604020202020204" pitchFamily="34" charset="0"/>
              </a:rPr>
              <a:t>cd ~/Descargas</a:t>
            </a:r>
          </a:p>
          <a:p>
            <a:endParaRPr lang="es-MX" sz="1600" b="1" dirty="0">
              <a:latin typeface="Arial" panose="020B0604020202020204" pitchFamily="34" charset="0"/>
              <a:cs typeface="Arial" panose="020B0604020202020204" pitchFamily="34" charset="0"/>
            </a:endParaRPr>
          </a:p>
          <a:p>
            <a:r>
              <a:rPr lang="es-MX" sz="1600" dirty="0">
                <a:latin typeface="Arial" panose="020B0604020202020204" pitchFamily="34" charset="0"/>
                <a:cs typeface="Arial" panose="020B0604020202020204" pitchFamily="34" charset="0"/>
              </a:rPr>
              <a:t>2.- instalar paquete necesarios: sudo </a:t>
            </a:r>
            <a:r>
              <a:rPr lang="es-MX" sz="1600" dirty="0" err="1">
                <a:latin typeface="Arial" panose="020B0604020202020204" pitchFamily="34" charset="0"/>
                <a:cs typeface="Arial" panose="020B0604020202020204" pitchFamily="34" charset="0"/>
              </a:rPr>
              <a:t>apt</a:t>
            </a:r>
            <a:r>
              <a:rPr lang="es-MX" sz="1600" dirty="0">
                <a:latin typeface="Arial" panose="020B0604020202020204" pitchFamily="34" charset="0"/>
                <a:cs typeface="Arial" panose="020B0604020202020204" pitchFamily="34" charset="0"/>
              </a:rPr>
              <a:t> </a:t>
            </a:r>
            <a:r>
              <a:rPr lang="es-MX" sz="1600" dirty="0" err="1">
                <a:latin typeface="Arial" panose="020B0604020202020204" pitchFamily="34" charset="0"/>
                <a:cs typeface="Arial" panose="020B0604020202020204" pitchFamily="34" charset="0"/>
              </a:rPr>
              <a:t>update</a:t>
            </a:r>
            <a:r>
              <a:rPr lang="es-MX" sz="1600" dirty="0">
                <a:latin typeface="Arial" panose="020B0604020202020204" pitchFamily="34" charset="0"/>
                <a:cs typeface="Arial" panose="020B0604020202020204" pitchFamily="34" charset="0"/>
              </a:rPr>
              <a:t> </a:t>
            </a:r>
          </a:p>
          <a:p>
            <a:r>
              <a:rPr lang="es-MX" sz="1600" b="1" dirty="0">
                <a:latin typeface="Arial" panose="020B0604020202020204" pitchFamily="34" charset="0"/>
                <a:cs typeface="Arial" panose="020B0604020202020204" pitchFamily="34" charset="0"/>
              </a:rPr>
              <a:t>Sudo </a:t>
            </a:r>
            <a:r>
              <a:rPr lang="es-MX" sz="1600" b="1" dirty="0" err="1">
                <a:latin typeface="Arial" panose="020B0604020202020204" pitchFamily="34" charset="0"/>
                <a:cs typeface="Arial" panose="020B0604020202020204" pitchFamily="34" charset="0"/>
              </a:rPr>
              <a:t>apt</a:t>
            </a:r>
            <a:r>
              <a:rPr lang="es-MX" sz="1600" b="1" dirty="0">
                <a:latin typeface="Arial" panose="020B0604020202020204" pitchFamily="34" charset="0"/>
                <a:cs typeface="Arial" panose="020B0604020202020204" pitchFamily="34" charset="0"/>
              </a:rPr>
              <a:t> </a:t>
            </a:r>
            <a:r>
              <a:rPr lang="es-MX" sz="1600" b="1" dirty="0" err="1">
                <a:latin typeface="Arial" panose="020B0604020202020204" pitchFamily="34" charset="0"/>
                <a:cs typeface="Arial" panose="020B0604020202020204" pitchFamily="34" charset="0"/>
              </a:rPr>
              <a:t>install</a:t>
            </a:r>
            <a:r>
              <a:rPr lang="es-MX" sz="1600" b="1" dirty="0">
                <a:latin typeface="Arial" panose="020B0604020202020204" pitchFamily="34" charset="0"/>
                <a:cs typeface="Arial" panose="020B0604020202020204" pitchFamily="34" charset="0"/>
              </a:rPr>
              <a:t> ca-</a:t>
            </a:r>
            <a:r>
              <a:rPr lang="es-MX" sz="1600" b="1" dirty="0" err="1">
                <a:latin typeface="Arial" panose="020B0604020202020204" pitchFamily="34" charset="0"/>
                <a:cs typeface="Arial" panose="020B0604020202020204" pitchFamily="34" charset="0"/>
              </a:rPr>
              <a:t>certificates</a:t>
            </a:r>
            <a:endParaRPr lang="es-MX" sz="1600" b="1" dirty="0">
              <a:latin typeface="Arial" panose="020B0604020202020204" pitchFamily="34" charset="0"/>
              <a:cs typeface="Arial" panose="020B0604020202020204" pitchFamily="34" charset="0"/>
            </a:endParaRPr>
          </a:p>
          <a:p>
            <a:r>
              <a:rPr lang="es-MX" sz="1600" b="1" dirty="0">
                <a:latin typeface="Arial" panose="020B0604020202020204" pitchFamily="34" charset="0"/>
                <a:cs typeface="Arial" panose="020B0604020202020204" pitchFamily="34" charset="0"/>
              </a:rPr>
              <a:t>    </a:t>
            </a:r>
            <a:r>
              <a:rPr lang="es-MX" sz="1600" b="1" dirty="0" err="1">
                <a:latin typeface="Arial" panose="020B0604020202020204" pitchFamily="34" charset="0"/>
                <a:cs typeface="Arial" panose="020B0604020202020204" pitchFamily="34" charset="0"/>
              </a:rPr>
              <a:t>curl</a:t>
            </a:r>
            <a:r>
              <a:rPr lang="es-MX" sz="1600" b="1" dirty="0">
                <a:latin typeface="Arial" panose="020B0604020202020204" pitchFamily="34" charset="0"/>
                <a:cs typeface="Arial" panose="020B0604020202020204" pitchFamily="34" charset="0"/>
              </a:rPr>
              <a:t> </a:t>
            </a:r>
            <a:r>
              <a:rPr lang="es-MX" sz="1600" b="1" dirty="0" err="1">
                <a:latin typeface="Arial" panose="020B0604020202020204" pitchFamily="34" charset="0"/>
                <a:cs typeface="Arial" panose="020B0604020202020204" pitchFamily="34" charset="0"/>
              </a:rPr>
              <a:t>gnupg</a:t>
            </a:r>
            <a:r>
              <a:rPr lang="es-MX" sz="1600" b="1" dirty="0">
                <a:latin typeface="Arial" panose="020B0604020202020204" pitchFamily="34" charset="0"/>
                <a:cs typeface="Arial" panose="020B0604020202020204" pitchFamily="34" charset="0"/>
              </a:rPr>
              <a:t> –y</a:t>
            </a:r>
          </a:p>
          <a:p>
            <a:endParaRPr lang="es-MX" sz="1600" b="1" dirty="0">
              <a:latin typeface="Arial" panose="020B0604020202020204" pitchFamily="34" charset="0"/>
              <a:cs typeface="Arial" panose="020B0604020202020204" pitchFamily="34" charset="0"/>
            </a:endParaRPr>
          </a:p>
          <a:p>
            <a:r>
              <a:rPr lang="es-MX" sz="1600" dirty="0">
                <a:latin typeface="Arial" panose="020B0604020202020204" pitchFamily="34" charset="0"/>
                <a:cs typeface="Arial" panose="020B0604020202020204" pitchFamily="34" charset="0"/>
              </a:rPr>
              <a:t>3.- crear carpetas para claves</a:t>
            </a:r>
          </a:p>
          <a:p>
            <a:r>
              <a:rPr lang="es-MX" sz="1600" b="1" dirty="0">
                <a:latin typeface="Arial" panose="020B0604020202020204" pitchFamily="34" charset="0"/>
                <a:cs typeface="Arial" panose="020B0604020202020204" pitchFamily="34" charset="0"/>
              </a:rPr>
              <a:t>Sudo </a:t>
            </a:r>
            <a:r>
              <a:rPr lang="es-MX" sz="1600" b="1" dirty="0" err="1">
                <a:latin typeface="Arial" panose="020B0604020202020204" pitchFamily="34" charset="0"/>
                <a:cs typeface="Arial" panose="020B0604020202020204" pitchFamily="34" charset="0"/>
              </a:rPr>
              <a:t>install</a:t>
            </a:r>
            <a:r>
              <a:rPr lang="es-MX" sz="1600" b="1" dirty="0">
                <a:latin typeface="Arial" panose="020B0604020202020204" pitchFamily="34" charset="0"/>
                <a:cs typeface="Arial" panose="020B0604020202020204" pitchFamily="34" charset="0"/>
              </a:rPr>
              <a:t> –m 0755 –d /</a:t>
            </a:r>
            <a:r>
              <a:rPr lang="es-MX" sz="1600" b="1" dirty="0" err="1">
                <a:latin typeface="Arial" panose="020B0604020202020204" pitchFamily="34" charset="0"/>
                <a:cs typeface="Arial" panose="020B0604020202020204" pitchFamily="34" charset="0"/>
              </a:rPr>
              <a:t>etc</a:t>
            </a:r>
            <a:r>
              <a:rPr lang="es-MX" sz="1600" b="1" dirty="0">
                <a:latin typeface="Arial" panose="020B0604020202020204" pitchFamily="34" charset="0"/>
                <a:cs typeface="Arial" panose="020B0604020202020204" pitchFamily="34" charset="0"/>
              </a:rPr>
              <a:t>/</a:t>
            </a:r>
            <a:r>
              <a:rPr lang="es-MX" sz="1600" b="1" dirty="0" err="1">
                <a:latin typeface="Arial" panose="020B0604020202020204" pitchFamily="34" charset="0"/>
                <a:cs typeface="Arial" panose="020B0604020202020204" pitchFamily="34" charset="0"/>
              </a:rPr>
              <a:t>apt</a:t>
            </a:r>
            <a:r>
              <a:rPr lang="es-MX" sz="1600" b="1" dirty="0">
                <a:latin typeface="Arial" panose="020B0604020202020204" pitchFamily="34" charset="0"/>
                <a:cs typeface="Arial" panose="020B0604020202020204" pitchFamily="34" charset="0"/>
              </a:rPr>
              <a:t>/</a:t>
            </a:r>
            <a:r>
              <a:rPr lang="es-MX" sz="1600" b="1" dirty="0" err="1">
                <a:latin typeface="Arial" panose="020B0604020202020204" pitchFamily="34" charset="0"/>
                <a:cs typeface="Arial" panose="020B0604020202020204" pitchFamily="34" charset="0"/>
              </a:rPr>
              <a:t>keyrings</a:t>
            </a:r>
            <a:endParaRPr lang="es-MX" sz="1600" b="1" dirty="0">
              <a:latin typeface="Arial" panose="020B0604020202020204" pitchFamily="34" charset="0"/>
              <a:cs typeface="Arial" panose="020B0604020202020204" pitchFamily="34" charset="0"/>
            </a:endParaRPr>
          </a:p>
          <a:p>
            <a:endParaRPr lang="es-MX" sz="1600" b="1" dirty="0">
              <a:latin typeface="Arial" panose="020B0604020202020204" pitchFamily="34" charset="0"/>
              <a:cs typeface="Arial" panose="020B0604020202020204" pitchFamily="34" charset="0"/>
            </a:endParaRPr>
          </a:p>
          <a:p>
            <a:r>
              <a:rPr lang="es-MX" sz="1600" dirty="0">
                <a:latin typeface="Arial" panose="020B0604020202020204" pitchFamily="34" charset="0"/>
                <a:cs typeface="Arial" panose="020B0604020202020204" pitchFamily="34" charset="0"/>
              </a:rPr>
              <a:t>4.Agregar clave oficial de Docker</a:t>
            </a:r>
          </a:p>
          <a:p>
            <a:r>
              <a:rPr lang="es-MX" sz="1600" b="1" dirty="0" err="1">
                <a:latin typeface="Arial" panose="020B0604020202020204" pitchFamily="34" charset="0"/>
                <a:cs typeface="Arial" panose="020B0604020202020204" pitchFamily="34" charset="0"/>
              </a:rPr>
              <a:t>curl</a:t>
            </a:r>
            <a:r>
              <a:rPr lang="es-MX" sz="1600" b="1" dirty="0">
                <a:latin typeface="Arial" panose="020B0604020202020204" pitchFamily="34" charset="0"/>
                <a:cs typeface="Arial" panose="020B0604020202020204" pitchFamily="34" charset="0"/>
              </a:rPr>
              <a:t> -</a:t>
            </a:r>
            <a:r>
              <a:rPr lang="es-MX" sz="1600" b="1" dirty="0" err="1">
                <a:latin typeface="Arial" panose="020B0604020202020204" pitchFamily="34" charset="0"/>
                <a:cs typeface="Arial" panose="020B0604020202020204" pitchFamily="34" charset="0"/>
              </a:rPr>
              <a:t>fsSL</a:t>
            </a:r>
            <a:r>
              <a:rPr lang="es-MX" sz="1600" b="1" dirty="0">
                <a:latin typeface="Arial" panose="020B0604020202020204" pitchFamily="34" charset="0"/>
                <a:cs typeface="Arial" panose="020B0604020202020204" pitchFamily="34" charset="0"/>
              </a:rPr>
              <a:t> https://download.docker.com/linux/ubuntu/gpg |sudo </a:t>
            </a:r>
            <a:r>
              <a:rPr lang="es-MX" sz="1600" b="1" dirty="0" err="1">
                <a:latin typeface="Arial" panose="020B0604020202020204" pitchFamily="34" charset="0"/>
                <a:cs typeface="Arial" panose="020B0604020202020204" pitchFamily="34" charset="0"/>
              </a:rPr>
              <a:t>gpg</a:t>
            </a:r>
            <a:r>
              <a:rPr lang="es-MX" sz="1600" b="1" dirty="0">
                <a:latin typeface="Arial" panose="020B0604020202020204" pitchFamily="34" charset="0"/>
                <a:cs typeface="Arial" panose="020B0604020202020204" pitchFamily="34" charset="0"/>
              </a:rPr>
              <a:t> --</a:t>
            </a:r>
            <a:r>
              <a:rPr lang="es-MX" sz="1600" b="1" dirty="0" err="1">
                <a:latin typeface="Arial" panose="020B0604020202020204" pitchFamily="34" charset="0"/>
                <a:cs typeface="Arial" panose="020B0604020202020204" pitchFamily="34" charset="0"/>
              </a:rPr>
              <a:t>dearmor</a:t>
            </a:r>
            <a:r>
              <a:rPr lang="es-MX" sz="1600" b="1" dirty="0">
                <a:latin typeface="Arial" panose="020B0604020202020204" pitchFamily="34" charset="0"/>
                <a:cs typeface="Arial" panose="020B0604020202020204" pitchFamily="34" charset="0"/>
              </a:rPr>
              <a:t> -o /</a:t>
            </a:r>
            <a:r>
              <a:rPr lang="es-MX" sz="1600" b="1" dirty="0" err="1">
                <a:latin typeface="Arial" panose="020B0604020202020204" pitchFamily="34" charset="0"/>
                <a:cs typeface="Arial" panose="020B0604020202020204" pitchFamily="34" charset="0"/>
              </a:rPr>
              <a:t>etc</a:t>
            </a:r>
            <a:r>
              <a:rPr lang="es-MX" sz="1600" b="1" dirty="0">
                <a:latin typeface="Arial" panose="020B0604020202020204" pitchFamily="34" charset="0"/>
                <a:cs typeface="Arial" panose="020B0604020202020204" pitchFamily="34" charset="0"/>
              </a:rPr>
              <a:t>/</a:t>
            </a:r>
            <a:r>
              <a:rPr lang="es-MX" sz="1600" b="1" dirty="0" err="1">
                <a:latin typeface="Arial" panose="020B0604020202020204" pitchFamily="34" charset="0"/>
                <a:cs typeface="Arial" panose="020B0604020202020204" pitchFamily="34" charset="0"/>
              </a:rPr>
              <a:t>apt</a:t>
            </a:r>
            <a:r>
              <a:rPr lang="es-MX" sz="1600" b="1" dirty="0">
                <a:latin typeface="Arial" panose="020B0604020202020204" pitchFamily="34" charset="0"/>
                <a:cs typeface="Arial" panose="020B0604020202020204" pitchFamily="34" charset="0"/>
              </a:rPr>
              <a:t>/</a:t>
            </a:r>
            <a:r>
              <a:rPr lang="es-MX" sz="1600" b="1" dirty="0" err="1">
                <a:latin typeface="Arial" panose="020B0604020202020204" pitchFamily="34" charset="0"/>
                <a:cs typeface="Arial" panose="020B0604020202020204" pitchFamily="34" charset="0"/>
              </a:rPr>
              <a:t>keyrings</a:t>
            </a:r>
            <a:r>
              <a:rPr lang="es-MX" sz="1600" b="1" dirty="0">
                <a:latin typeface="Arial" panose="020B0604020202020204" pitchFamily="34" charset="0"/>
                <a:cs typeface="Arial" panose="020B0604020202020204" pitchFamily="34" charset="0"/>
              </a:rPr>
              <a:t>/</a:t>
            </a:r>
            <a:r>
              <a:rPr lang="es-MX" sz="1600" b="1" dirty="0" err="1">
                <a:latin typeface="Arial" panose="020B0604020202020204" pitchFamily="34" charset="0"/>
                <a:cs typeface="Arial" panose="020B0604020202020204" pitchFamily="34" charset="0"/>
              </a:rPr>
              <a:t>docker.gpg</a:t>
            </a:r>
            <a:endParaRPr lang="es-MX" sz="1600" b="1" dirty="0">
              <a:latin typeface="Arial" panose="020B0604020202020204" pitchFamily="34" charset="0"/>
              <a:cs typeface="Arial" panose="020B0604020202020204" pitchFamily="34" charset="0"/>
            </a:endParaRPr>
          </a:p>
          <a:p>
            <a:endParaRPr lang="es-MX" sz="1600" b="1" dirty="0">
              <a:latin typeface="Arial" panose="020B0604020202020204" pitchFamily="34" charset="0"/>
              <a:cs typeface="Arial" panose="020B0604020202020204" pitchFamily="34" charset="0"/>
            </a:endParaRPr>
          </a:p>
          <a:p>
            <a:r>
              <a:rPr lang="es-MX" sz="1600" dirty="0">
                <a:latin typeface="Arial" panose="020B0604020202020204" pitchFamily="34" charset="0"/>
                <a:cs typeface="Arial" panose="020B0604020202020204" pitchFamily="34" charset="0"/>
              </a:rPr>
              <a:t>5.- dar permiso a la clave</a:t>
            </a:r>
          </a:p>
          <a:p>
            <a:r>
              <a:rPr lang="es-MX" sz="1600" b="1" dirty="0">
                <a:latin typeface="Arial" panose="020B0604020202020204" pitchFamily="34" charset="0"/>
                <a:cs typeface="Arial" panose="020B0604020202020204" pitchFamily="34" charset="0"/>
              </a:rPr>
              <a:t>sudo </a:t>
            </a:r>
            <a:r>
              <a:rPr lang="es-MX" sz="1600" b="1" dirty="0" err="1">
                <a:latin typeface="Arial" panose="020B0604020202020204" pitchFamily="34" charset="0"/>
                <a:cs typeface="Arial" panose="020B0604020202020204" pitchFamily="34" charset="0"/>
              </a:rPr>
              <a:t>chmod</a:t>
            </a:r>
            <a:r>
              <a:rPr lang="es-MX" sz="1600" b="1" dirty="0">
                <a:latin typeface="Arial" panose="020B0604020202020204" pitchFamily="34" charset="0"/>
                <a:cs typeface="Arial" panose="020B0604020202020204" pitchFamily="34" charset="0"/>
              </a:rPr>
              <a:t> </a:t>
            </a:r>
            <a:r>
              <a:rPr lang="es-MX" sz="1600" b="1" dirty="0" err="1">
                <a:latin typeface="Arial" panose="020B0604020202020204" pitchFamily="34" charset="0"/>
                <a:cs typeface="Arial" panose="020B0604020202020204" pitchFamily="34" charset="0"/>
              </a:rPr>
              <a:t>a+r</a:t>
            </a:r>
            <a:r>
              <a:rPr lang="es-MX" sz="1600" b="1" dirty="0">
                <a:latin typeface="Arial" panose="020B0604020202020204" pitchFamily="34" charset="0"/>
                <a:cs typeface="Arial" panose="020B0604020202020204" pitchFamily="34" charset="0"/>
              </a:rPr>
              <a:t> /</a:t>
            </a:r>
            <a:r>
              <a:rPr lang="es-MX" sz="1600" b="1" dirty="0" err="1">
                <a:latin typeface="Arial" panose="020B0604020202020204" pitchFamily="34" charset="0"/>
                <a:cs typeface="Arial" panose="020B0604020202020204" pitchFamily="34" charset="0"/>
              </a:rPr>
              <a:t>etc</a:t>
            </a:r>
            <a:r>
              <a:rPr lang="es-MX" sz="1600" b="1" dirty="0">
                <a:latin typeface="Arial" panose="020B0604020202020204" pitchFamily="34" charset="0"/>
                <a:cs typeface="Arial" panose="020B0604020202020204" pitchFamily="34" charset="0"/>
              </a:rPr>
              <a:t>/</a:t>
            </a:r>
            <a:r>
              <a:rPr lang="es-MX" sz="1600" b="1" dirty="0" err="1">
                <a:latin typeface="Arial" panose="020B0604020202020204" pitchFamily="34" charset="0"/>
                <a:cs typeface="Arial" panose="020B0604020202020204" pitchFamily="34" charset="0"/>
              </a:rPr>
              <a:t>apt</a:t>
            </a:r>
            <a:r>
              <a:rPr lang="es-MX" sz="1600" b="1" dirty="0">
                <a:latin typeface="Arial" panose="020B0604020202020204" pitchFamily="34" charset="0"/>
                <a:cs typeface="Arial" panose="020B0604020202020204" pitchFamily="34" charset="0"/>
              </a:rPr>
              <a:t>/</a:t>
            </a:r>
            <a:r>
              <a:rPr lang="es-MX" sz="1600" b="1" dirty="0" err="1">
                <a:latin typeface="Arial" panose="020B0604020202020204" pitchFamily="34" charset="0"/>
                <a:cs typeface="Arial" panose="020B0604020202020204" pitchFamily="34" charset="0"/>
              </a:rPr>
              <a:t>keyrings</a:t>
            </a:r>
            <a:r>
              <a:rPr lang="es-MX" sz="1600" b="1" dirty="0">
                <a:latin typeface="Arial" panose="020B0604020202020204" pitchFamily="34" charset="0"/>
                <a:cs typeface="Arial" panose="020B0604020202020204" pitchFamily="34" charset="0"/>
              </a:rPr>
              <a:t>/</a:t>
            </a:r>
            <a:r>
              <a:rPr lang="es-MX" sz="1600" b="1" dirty="0" err="1">
                <a:latin typeface="Arial" panose="020B0604020202020204" pitchFamily="34" charset="0"/>
                <a:cs typeface="Arial" panose="020B0604020202020204" pitchFamily="34" charset="0"/>
              </a:rPr>
              <a:t>docker.gpg</a:t>
            </a:r>
            <a:endParaRPr lang="es-MX" sz="1600" b="1" dirty="0">
              <a:latin typeface="Arial" panose="020B0604020202020204" pitchFamily="34" charset="0"/>
              <a:cs typeface="Arial" panose="020B0604020202020204" pitchFamily="34" charset="0"/>
            </a:endParaRPr>
          </a:p>
          <a:p>
            <a:endParaRPr lang="es-MX" sz="1600" b="1" dirty="0">
              <a:latin typeface="Arial" panose="020B0604020202020204" pitchFamily="34" charset="0"/>
              <a:cs typeface="Arial" panose="020B0604020202020204" pitchFamily="34" charset="0"/>
            </a:endParaRPr>
          </a:p>
          <a:p>
            <a:r>
              <a:rPr lang="es-MX" sz="1600" dirty="0">
                <a:latin typeface="Arial" panose="020B0604020202020204" pitchFamily="34" charset="0"/>
                <a:cs typeface="Arial" panose="020B0604020202020204" pitchFamily="34" charset="0"/>
              </a:rPr>
              <a:t>   </a:t>
            </a:r>
          </a:p>
        </p:txBody>
      </p:sp>
      <p:sp>
        <p:nvSpPr>
          <p:cNvPr id="4" name="CuadroTexto 3">
            <a:extLst>
              <a:ext uri="{FF2B5EF4-FFF2-40B4-BE49-F238E27FC236}">
                <a16:creationId xmlns:a16="http://schemas.microsoft.com/office/drawing/2014/main" id="{E0DBFE07-022F-8387-A2C5-9354A74CB4D3}"/>
              </a:ext>
            </a:extLst>
          </p:cNvPr>
          <p:cNvSpPr txBox="1"/>
          <p:nvPr/>
        </p:nvSpPr>
        <p:spPr>
          <a:xfrm>
            <a:off x="107479" y="4549676"/>
            <a:ext cx="12084521" cy="2308324"/>
          </a:xfrm>
          <a:prstGeom prst="rect">
            <a:avLst/>
          </a:prstGeom>
          <a:noFill/>
        </p:spPr>
        <p:txBody>
          <a:bodyPr wrap="square">
            <a:spAutoFit/>
          </a:bodyPr>
          <a:lstStyle/>
          <a:p>
            <a:endParaRPr lang="es-MX" sz="1800" b="1" dirty="0">
              <a:latin typeface="Arial" panose="020B0604020202020204" pitchFamily="34" charset="0"/>
              <a:cs typeface="Arial" panose="020B0604020202020204" pitchFamily="34" charset="0"/>
            </a:endParaRPr>
          </a:p>
          <a:p>
            <a:r>
              <a:rPr lang="es-MX" sz="1800" dirty="0">
                <a:latin typeface="Arial" panose="020B0604020202020204" pitchFamily="34" charset="0"/>
                <a:cs typeface="Arial" panose="020B0604020202020204" pitchFamily="34" charset="0"/>
              </a:rPr>
              <a:t>6.- agregar repositorio de Docker</a:t>
            </a:r>
          </a:p>
          <a:p>
            <a:r>
              <a:rPr lang="es-MX" sz="1800" b="1" dirty="0">
                <a:latin typeface="Arial" panose="020B0604020202020204" pitchFamily="34" charset="0"/>
                <a:cs typeface="Arial" panose="020B0604020202020204" pitchFamily="34" charset="0"/>
              </a:rPr>
              <a:t>echo "</a:t>
            </a:r>
            <a:r>
              <a:rPr lang="es-MX" sz="1800" b="1" dirty="0" err="1">
                <a:latin typeface="Arial" panose="020B0604020202020204" pitchFamily="34" charset="0"/>
                <a:cs typeface="Arial" panose="020B0604020202020204" pitchFamily="34" charset="0"/>
              </a:rPr>
              <a:t>deb</a:t>
            </a:r>
            <a:r>
              <a:rPr lang="es-MX" sz="1800" b="1" dirty="0">
                <a:latin typeface="Arial" panose="020B0604020202020204" pitchFamily="34" charset="0"/>
                <a:cs typeface="Arial" panose="020B0604020202020204" pitchFamily="34" charset="0"/>
              </a:rPr>
              <a:t> [</a:t>
            </a:r>
            <a:r>
              <a:rPr lang="es-MX" sz="1800" b="1" dirty="0" err="1">
                <a:latin typeface="Arial" panose="020B0604020202020204" pitchFamily="34" charset="0"/>
                <a:cs typeface="Arial" panose="020B0604020202020204" pitchFamily="34" charset="0"/>
              </a:rPr>
              <a:t>arch</a:t>
            </a:r>
            <a:r>
              <a:rPr lang="es-MX" sz="1800" b="1" dirty="0">
                <a:latin typeface="Arial" panose="020B0604020202020204" pitchFamily="34" charset="0"/>
                <a:cs typeface="Arial" panose="020B0604020202020204" pitchFamily="34" charset="0"/>
              </a:rPr>
              <a:t>=amd64 </a:t>
            </a:r>
            <a:r>
              <a:rPr lang="es-MX" sz="1800" b="1" dirty="0" err="1">
                <a:latin typeface="Arial" panose="020B0604020202020204" pitchFamily="34" charset="0"/>
                <a:cs typeface="Arial" panose="020B0604020202020204" pitchFamily="34" charset="0"/>
              </a:rPr>
              <a:t>signed-by</a:t>
            </a:r>
            <a:r>
              <a:rPr lang="es-MX" sz="1800" b="1" dirty="0">
                <a:latin typeface="Arial" panose="020B0604020202020204" pitchFamily="34" charset="0"/>
                <a:cs typeface="Arial" panose="020B0604020202020204" pitchFamily="34" charset="0"/>
              </a:rPr>
              <a:t>=/</a:t>
            </a:r>
            <a:r>
              <a:rPr lang="es-MX" sz="1800" b="1" dirty="0" err="1">
                <a:latin typeface="Arial" panose="020B0604020202020204" pitchFamily="34" charset="0"/>
                <a:cs typeface="Arial" panose="020B0604020202020204" pitchFamily="34" charset="0"/>
              </a:rPr>
              <a:t>etc</a:t>
            </a:r>
            <a:r>
              <a:rPr lang="es-MX" sz="1800" b="1" dirty="0">
                <a:latin typeface="Arial" panose="020B0604020202020204" pitchFamily="34" charset="0"/>
                <a:cs typeface="Arial" panose="020B0604020202020204" pitchFamily="34" charset="0"/>
              </a:rPr>
              <a:t>/</a:t>
            </a:r>
            <a:r>
              <a:rPr lang="es-MX" sz="1800" b="1" dirty="0" err="1">
                <a:latin typeface="Arial" panose="020B0604020202020204" pitchFamily="34" charset="0"/>
                <a:cs typeface="Arial" panose="020B0604020202020204" pitchFamily="34" charset="0"/>
              </a:rPr>
              <a:t>apt</a:t>
            </a:r>
            <a:r>
              <a:rPr lang="es-MX" sz="1800" b="1" dirty="0">
                <a:latin typeface="Arial" panose="020B0604020202020204" pitchFamily="34" charset="0"/>
                <a:cs typeface="Arial" panose="020B0604020202020204" pitchFamily="34" charset="0"/>
              </a:rPr>
              <a:t>/</a:t>
            </a:r>
            <a:r>
              <a:rPr lang="es-MX" sz="1800" b="1" dirty="0" err="1">
                <a:latin typeface="Arial" panose="020B0604020202020204" pitchFamily="34" charset="0"/>
                <a:cs typeface="Arial" panose="020B0604020202020204" pitchFamily="34" charset="0"/>
              </a:rPr>
              <a:t>keyrings</a:t>
            </a:r>
            <a:r>
              <a:rPr lang="es-MX" sz="1800" b="1" dirty="0">
                <a:latin typeface="Arial" panose="020B0604020202020204" pitchFamily="34" charset="0"/>
                <a:cs typeface="Arial" panose="020B0604020202020204" pitchFamily="34" charset="0"/>
              </a:rPr>
              <a:t>/</a:t>
            </a:r>
            <a:r>
              <a:rPr lang="es-MX" sz="1800" b="1" dirty="0" err="1">
                <a:latin typeface="Arial" panose="020B0604020202020204" pitchFamily="34" charset="0"/>
                <a:cs typeface="Arial" panose="020B0604020202020204" pitchFamily="34" charset="0"/>
              </a:rPr>
              <a:t>docker.gpg</a:t>
            </a:r>
            <a:r>
              <a:rPr lang="es-MX" sz="1800" b="1" dirty="0">
                <a:latin typeface="Arial" panose="020B0604020202020204" pitchFamily="34" charset="0"/>
                <a:cs typeface="Arial" panose="020B0604020202020204" pitchFamily="34" charset="0"/>
              </a:rPr>
              <a:t>] https://download.docker.com/linux/ubuntu $(. /</a:t>
            </a:r>
            <a:r>
              <a:rPr lang="es-MX" sz="1800" b="1" dirty="0" err="1">
                <a:latin typeface="Arial" panose="020B0604020202020204" pitchFamily="34" charset="0"/>
                <a:cs typeface="Arial" panose="020B0604020202020204" pitchFamily="34" charset="0"/>
              </a:rPr>
              <a:t>etc</a:t>
            </a:r>
            <a:r>
              <a:rPr lang="es-MX" sz="1800" b="1" dirty="0">
                <a:latin typeface="Arial" panose="020B0604020202020204" pitchFamily="34" charset="0"/>
                <a:cs typeface="Arial" panose="020B0604020202020204" pitchFamily="34" charset="0"/>
              </a:rPr>
              <a:t>/os-</a:t>
            </a:r>
            <a:r>
              <a:rPr lang="es-MX" sz="1800" b="1" dirty="0" err="1">
                <a:latin typeface="Arial" panose="020B0604020202020204" pitchFamily="34" charset="0"/>
                <a:cs typeface="Arial" panose="020B0604020202020204" pitchFamily="34" charset="0"/>
              </a:rPr>
              <a:t>release</a:t>
            </a:r>
            <a:r>
              <a:rPr lang="es-MX" sz="1800" b="1" dirty="0">
                <a:latin typeface="Arial" panose="020B0604020202020204" pitchFamily="34" charset="0"/>
                <a:cs typeface="Arial" panose="020B0604020202020204" pitchFamily="34" charset="0"/>
              </a:rPr>
              <a:t> &amp;&amp; echo $VERSION_CODENAME) </a:t>
            </a:r>
            <a:r>
              <a:rPr lang="es-MX" sz="1800" b="1" dirty="0" err="1">
                <a:latin typeface="Arial" panose="020B0604020202020204" pitchFamily="34" charset="0"/>
                <a:cs typeface="Arial" panose="020B0604020202020204" pitchFamily="34" charset="0"/>
              </a:rPr>
              <a:t>stable</a:t>
            </a:r>
            <a:r>
              <a:rPr lang="es-MX" sz="1800" b="1" dirty="0">
                <a:latin typeface="Arial" panose="020B0604020202020204" pitchFamily="34" charset="0"/>
                <a:cs typeface="Arial" panose="020B0604020202020204" pitchFamily="34" charset="0"/>
              </a:rPr>
              <a:t>" | sudo </a:t>
            </a:r>
            <a:r>
              <a:rPr lang="es-MX" sz="1800" b="1" dirty="0" err="1">
                <a:latin typeface="Arial" panose="020B0604020202020204" pitchFamily="34" charset="0"/>
                <a:cs typeface="Arial" panose="020B0604020202020204" pitchFamily="34" charset="0"/>
              </a:rPr>
              <a:t>tee</a:t>
            </a:r>
            <a:r>
              <a:rPr lang="es-MX" sz="1800" b="1" dirty="0">
                <a:latin typeface="Arial" panose="020B0604020202020204" pitchFamily="34" charset="0"/>
                <a:cs typeface="Arial" panose="020B0604020202020204" pitchFamily="34" charset="0"/>
              </a:rPr>
              <a:t> /</a:t>
            </a:r>
            <a:r>
              <a:rPr lang="es-MX" sz="1800" b="1" dirty="0" err="1">
                <a:latin typeface="Arial" panose="020B0604020202020204" pitchFamily="34" charset="0"/>
                <a:cs typeface="Arial" panose="020B0604020202020204" pitchFamily="34" charset="0"/>
              </a:rPr>
              <a:t>etc</a:t>
            </a:r>
            <a:r>
              <a:rPr lang="es-MX" sz="1800" b="1" dirty="0">
                <a:latin typeface="Arial" panose="020B0604020202020204" pitchFamily="34" charset="0"/>
                <a:cs typeface="Arial" panose="020B0604020202020204" pitchFamily="34" charset="0"/>
              </a:rPr>
              <a:t>/</a:t>
            </a:r>
            <a:r>
              <a:rPr lang="es-MX" sz="1800" b="1" dirty="0" err="1">
                <a:latin typeface="Arial" panose="020B0604020202020204" pitchFamily="34" charset="0"/>
                <a:cs typeface="Arial" panose="020B0604020202020204" pitchFamily="34" charset="0"/>
              </a:rPr>
              <a:t>apt</a:t>
            </a:r>
            <a:r>
              <a:rPr lang="es-MX" sz="1800" b="1" dirty="0">
                <a:latin typeface="Arial" panose="020B0604020202020204" pitchFamily="34" charset="0"/>
                <a:cs typeface="Arial" panose="020B0604020202020204" pitchFamily="34" charset="0"/>
              </a:rPr>
              <a:t>/</a:t>
            </a:r>
            <a:r>
              <a:rPr lang="es-MX" sz="1800" b="1" dirty="0" err="1">
                <a:latin typeface="Arial" panose="020B0604020202020204" pitchFamily="34" charset="0"/>
                <a:cs typeface="Arial" panose="020B0604020202020204" pitchFamily="34" charset="0"/>
              </a:rPr>
              <a:t>sources.list.d</a:t>
            </a:r>
            <a:r>
              <a:rPr lang="es-MX" sz="1800" b="1" dirty="0">
                <a:latin typeface="Arial" panose="020B0604020202020204" pitchFamily="34" charset="0"/>
                <a:cs typeface="Arial" panose="020B0604020202020204" pitchFamily="34" charset="0"/>
              </a:rPr>
              <a:t>/</a:t>
            </a:r>
            <a:r>
              <a:rPr lang="es-MX" sz="1800" b="1" dirty="0" err="1">
                <a:latin typeface="Arial" panose="020B0604020202020204" pitchFamily="34" charset="0"/>
                <a:cs typeface="Arial" panose="020B0604020202020204" pitchFamily="34" charset="0"/>
              </a:rPr>
              <a:t>docker.list</a:t>
            </a:r>
            <a:r>
              <a:rPr lang="es-MX" sz="1800" b="1" dirty="0">
                <a:latin typeface="Arial" panose="020B0604020202020204" pitchFamily="34" charset="0"/>
                <a:cs typeface="Arial" panose="020B0604020202020204" pitchFamily="34" charset="0"/>
              </a:rPr>
              <a:t> &gt; /</a:t>
            </a:r>
            <a:r>
              <a:rPr lang="es-MX" sz="1800" b="1" dirty="0" err="1">
                <a:latin typeface="Arial" panose="020B0604020202020204" pitchFamily="34" charset="0"/>
                <a:cs typeface="Arial" panose="020B0604020202020204" pitchFamily="34" charset="0"/>
              </a:rPr>
              <a:t>dev</a:t>
            </a:r>
            <a:r>
              <a:rPr lang="es-MX" sz="1800" b="1" dirty="0">
                <a:latin typeface="Arial" panose="020B0604020202020204" pitchFamily="34" charset="0"/>
                <a:cs typeface="Arial" panose="020B0604020202020204" pitchFamily="34" charset="0"/>
              </a:rPr>
              <a:t>/</a:t>
            </a:r>
            <a:r>
              <a:rPr lang="es-MX" sz="1800" b="1" dirty="0" err="1">
                <a:latin typeface="Arial" panose="020B0604020202020204" pitchFamily="34" charset="0"/>
                <a:cs typeface="Arial" panose="020B0604020202020204" pitchFamily="34" charset="0"/>
              </a:rPr>
              <a:t>null</a:t>
            </a:r>
            <a:endParaRPr lang="es-MX" sz="1800" b="1" dirty="0">
              <a:latin typeface="Arial" panose="020B0604020202020204" pitchFamily="34" charset="0"/>
              <a:cs typeface="Arial" panose="020B0604020202020204" pitchFamily="34" charset="0"/>
            </a:endParaRPr>
          </a:p>
          <a:p>
            <a:endParaRPr lang="es-MX" sz="1800" b="1" dirty="0">
              <a:latin typeface="Arial" panose="020B0604020202020204" pitchFamily="34" charset="0"/>
              <a:cs typeface="Arial" panose="020B0604020202020204" pitchFamily="34" charset="0"/>
            </a:endParaRPr>
          </a:p>
          <a:p>
            <a:r>
              <a:rPr lang="es-MX" sz="1800" dirty="0">
                <a:latin typeface="Arial" panose="020B0604020202020204" pitchFamily="34" charset="0"/>
                <a:cs typeface="Arial" panose="020B0604020202020204" pitchFamily="34" charset="0"/>
              </a:rPr>
              <a:t>7.- actualizar repositorios</a:t>
            </a:r>
          </a:p>
          <a:p>
            <a:r>
              <a:rPr lang="es-MX" sz="1800" b="1" dirty="0">
                <a:latin typeface="Arial" panose="020B0604020202020204" pitchFamily="34" charset="0"/>
                <a:cs typeface="Arial" panose="020B0604020202020204" pitchFamily="34" charset="0"/>
              </a:rPr>
              <a:t>Sudo </a:t>
            </a:r>
            <a:r>
              <a:rPr lang="es-MX" sz="1800" b="1" dirty="0" err="1">
                <a:latin typeface="Arial" panose="020B0604020202020204" pitchFamily="34" charset="0"/>
                <a:cs typeface="Arial" panose="020B0604020202020204" pitchFamily="34" charset="0"/>
              </a:rPr>
              <a:t>apt</a:t>
            </a:r>
            <a:r>
              <a:rPr lang="es-MX" sz="1800" b="1" dirty="0">
                <a:latin typeface="Arial" panose="020B0604020202020204" pitchFamily="34" charset="0"/>
                <a:cs typeface="Arial" panose="020B0604020202020204" pitchFamily="34" charset="0"/>
              </a:rPr>
              <a:t> </a:t>
            </a:r>
            <a:r>
              <a:rPr lang="es-MX" sz="1800" b="1" dirty="0" err="1">
                <a:latin typeface="Arial" panose="020B0604020202020204" pitchFamily="34" charset="0"/>
                <a:cs typeface="Arial" panose="020B0604020202020204" pitchFamily="34" charset="0"/>
              </a:rPr>
              <a:t>update</a:t>
            </a:r>
            <a:endParaRPr lang="es-MX" sz="1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730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descr="Texto&#10;&#10;El contenido generado por IA puede ser incorrecto.">
            <a:extLst>
              <a:ext uri="{FF2B5EF4-FFF2-40B4-BE49-F238E27FC236}">
                <a16:creationId xmlns:a16="http://schemas.microsoft.com/office/drawing/2014/main" id="{13A125B6-07F9-A43A-63EB-031F36CE3A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049" y="736600"/>
            <a:ext cx="6010426" cy="4522847"/>
          </a:xfrm>
        </p:spPr>
      </p:pic>
      <p:sp>
        <p:nvSpPr>
          <p:cNvPr id="6" name="CuadroTexto 5">
            <a:extLst>
              <a:ext uri="{FF2B5EF4-FFF2-40B4-BE49-F238E27FC236}">
                <a16:creationId xmlns:a16="http://schemas.microsoft.com/office/drawing/2014/main" id="{24E9FBA8-3E1D-A630-D24C-89B6BF4307E9}"/>
              </a:ext>
            </a:extLst>
          </p:cNvPr>
          <p:cNvSpPr txBox="1"/>
          <p:nvPr/>
        </p:nvSpPr>
        <p:spPr>
          <a:xfrm>
            <a:off x="6197600" y="504825"/>
            <a:ext cx="5156200" cy="2862322"/>
          </a:xfrm>
          <a:prstGeom prst="rect">
            <a:avLst/>
          </a:prstGeom>
          <a:noFill/>
        </p:spPr>
        <p:txBody>
          <a:bodyPr wrap="square" rtlCol="0">
            <a:spAutoFit/>
          </a:bodyPr>
          <a:lstStyle/>
          <a:p>
            <a:r>
              <a:rPr lang="es-MX" sz="2000" dirty="0">
                <a:latin typeface="Arial" panose="020B0604020202020204" pitchFamily="34" charset="0"/>
                <a:cs typeface="Arial" panose="020B0604020202020204" pitchFamily="34" charset="0"/>
              </a:rPr>
              <a:t>8.- instalar dependencia necesaria</a:t>
            </a:r>
          </a:p>
          <a:p>
            <a:r>
              <a:rPr lang="es-MX" sz="2000" b="1" dirty="0">
                <a:latin typeface="Arial" panose="020B0604020202020204" pitchFamily="34" charset="0"/>
                <a:cs typeface="Arial" panose="020B0604020202020204" pitchFamily="34" charset="0"/>
              </a:rPr>
              <a:t>Sudo </a:t>
            </a:r>
            <a:r>
              <a:rPr lang="es-MX" sz="2000" b="1" dirty="0" err="1">
                <a:latin typeface="Arial" panose="020B0604020202020204" pitchFamily="34" charset="0"/>
                <a:cs typeface="Arial" panose="020B0604020202020204" pitchFamily="34" charset="0"/>
              </a:rPr>
              <a:t>apt</a:t>
            </a:r>
            <a:r>
              <a:rPr lang="es-MX" sz="2000" b="1" dirty="0">
                <a:latin typeface="Arial" panose="020B0604020202020204" pitchFamily="34" charset="0"/>
                <a:cs typeface="Arial" panose="020B0604020202020204" pitchFamily="34" charset="0"/>
              </a:rPr>
              <a:t> </a:t>
            </a:r>
            <a:r>
              <a:rPr lang="es-MX" sz="2000" b="1" dirty="0" err="1">
                <a:latin typeface="Arial" panose="020B0604020202020204" pitchFamily="34" charset="0"/>
                <a:cs typeface="Arial" panose="020B0604020202020204" pitchFamily="34" charset="0"/>
              </a:rPr>
              <a:t>install</a:t>
            </a:r>
            <a:r>
              <a:rPr lang="es-MX" sz="2000" b="1" dirty="0">
                <a:latin typeface="Arial" panose="020B0604020202020204" pitchFamily="34" charset="0"/>
                <a:cs typeface="Arial" panose="020B0604020202020204" pitchFamily="34" charset="0"/>
              </a:rPr>
              <a:t> Docker-ce-</a:t>
            </a:r>
            <a:r>
              <a:rPr lang="es-MX" sz="2000" b="1" dirty="0" err="1">
                <a:latin typeface="Arial" panose="020B0604020202020204" pitchFamily="34" charset="0"/>
                <a:cs typeface="Arial" panose="020B0604020202020204" pitchFamily="34" charset="0"/>
              </a:rPr>
              <a:t>cli</a:t>
            </a:r>
            <a:r>
              <a:rPr lang="es-MX" sz="2000" b="1" dirty="0">
                <a:latin typeface="Arial" panose="020B0604020202020204" pitchFamily="34" charset="0"/>
                <a:cs typeface="Arial" panose="020B0604020202020204" pitchFamily="34" charset="0"/>
              </a:rPr>
              <a:t> –y</a:t>
            </a:r>
          </a:p>
          <a:p>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9. Instalar Docker desktop</a:t>
            </a:r>
          </a:p>
          <a:p>
            <a:r>
              <a:rPr lang="es-MX" sz="2000" b="1" dirty="0">
                <a:latin typeface="Arial" panose="020B0604020202020204" pitchFamily="34" charset="0"/>
                <a:cs typeface="Arial" panose="020B0604020202020204" pitchFamily="34" charset="0"/>
              </a:rPr>
              <a:t>Sudo </a:t>
            </a:r>
            <a:r>
              <a:rPr lang="es-MX" sz="2000" b="1" dirty="0" err="1">
                <a:latin typeface="Arial" panose="020B0604020202020204" pitchFamily="34" charset="0"/>
                <a:cs typeface="Arial" panose="020B0604020202020204" pitchFamily="34" charset="0"/>
              </a:rPr>
              <a:t>apt</a:t>
            </a:r>
            <a:r>
              <a:rPr lang="es-MX" sz="2000" b="1" dirty="0">
                <a:latin typeface="Arial" panose="020B0604020202020204" pitchFamily="34" charset="0"/>
                <a:cs typeface="Arial" panose="020B0604020202020204" pitchFamily="34" charset="0"/>
              </a:rPr>
              <a:t> </a:t>
            </a:r>
            <a:r>
              <a:rPr lang="es-MX" sz="2000" b="1" dirty="0" err="1">
                <a:latin typeface="Arial" panose="020B0604020202020204" pitchFamily="34" charset="0"/>
                <a:cs typeface="Arial" panose="020B0604020202020204" pitchFamily="34" charset="0"/>
              </a:rPr>
              <a:t>install</a:t>
            </a:r>
            <a:r>
              <a:rPr lang="es-MX" sz="2000" b="1" dirty="0">
                <a:latin typeface="Arial" panose="020B0604020202020204" pitchFamily="34" charset="0"/>
                <a:cs typeface="Arial" panose="020B0604020202020204" pitchFamily="34" charset="0"/>
              </a:rPr>
              <a:t> ./Docker-desktop-amd64.deb</a:t>
            </a:r>
          </a:p>
          <a:p>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Cuando pregunte: </a:t>
            </a:r>
            <a:r>
              <a:rPr lang="es-MX" sz="2000" b="1" dirty="0">
                <a:latin typeface="Arial" panose="020B0604020202020204" pitchFamily="34" charset="0"/>
                <a:cs typeface="Arial" panose="020B0604020202020204" pitchFamily="34" charset="0"/>
              </a:rPr>
              <a:t>desea continuar? [S/n] Escriba S y da </a:t>
            </a:r>
            <a:r>
              <a:rPr lang="es-MX" sz="2000" b="1" dirty="0" err="1">
                <a:latin typeface="Arial" panose="020B0604020202020204" pitchFamily="34" charset="0"/>
                <a:cs typeface="Arial" panose="020B0604020202020204" pitchFamily="34" charset="0"/>
              </a:rPr>
              <a:t>click</a:t>
            </a:r>
            <a:r>
              <a:rPr lang="es-MX" sz="2000" b="1" dirty="0">
                <a:latin typeface="Arial" panose="020B0604020202020204" pitchFamily="34" charset="0"/>
                <a:cs typeface="Arial" panose="020B0604020202020204" pitchFamily="34" charset="0"/>
              </a:rPr>
              <a:t> en </a:t>
            </a:r>
            <a:r>
              <a:rPr lang="es-MX" sz="2000" b="1" dirty="0" err="1">
                <a:latin typeface="Arial" panose="020B0604020202020204" pitchFamily="34" charset="0"/>
                <a:cs typeface="Arial" panose="020B0604020202020204" pitchFamily="34" charset="0"/>
              </a:rPr>
              <a:t>enter</a:t>
            </a:r>
            <a:endParaRPr lang="es-MX" sz="2000" b="1" dirty="0">
              <a:latin typeface="Arial" panose="020B0604020202020204" pitchFamily="34" charset="0"/>
              <a:cs typeface="Arial" panose="020B0604020202020204" pitchFamily="34" charset="0"/>
            </a:endParaRPr>
          </a:p>
        </p:txBody>
      </p:sp>
      <p:pic>
        <p:nvPicPr>
          <p:cNvPr id="8" name="Imagen 7" descr="Imagen de la pantalla de un computador portátil&#10;&#10;El contenido generado por IA puede ser incorrecto.">
            <a:extLst>
              <a:ext uri="{FF2B5EF4-FFF2-40B4-BE49-F238E27FC236}">
                <a16:creationId xmlns:a16="http://schemas.microsoft.com/office/drawing/2014/main" id="{6D979904-4748-D3A5-7463-F89C3CE48C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8214" y="3367147"/>
            <a:ext cx="4407588" cy="3316710"/>
          </a:xfrm>
          <a:prstGeom prst="rect">
            <a:avLst/>
          </a:prstGeom>
        </p:spPr>
      </p:pic>
    </p:spTree>
    <p:extLst>
      <p:ext uri="{BB962C8B-B14F-4D97-AF65-F5344CB8AC3E}">
        <p14:creationId xmlns:p14="http://schemas.microsoft.com/office/powerpoint/2010/main" val="1783565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Imagen de la pantalla de un computador&#10;&#10;El contenido generado por IA puede ser incorrecto.">
            <a:extLst>
              <a:ext uri="{FF2B5EF4-FFF2-40B4-BE49-F238E27FC236}">
                <a16:creationId xmlns:a16="http://schemas.microsoft.com/office/drawing/2014/main" id="{D4A9E366-92E8-0E8C-5628-CDBFEE68F0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866" y="3582718"/>
            <a:ext cx="5173133" cy="3072082"/>
          </a:xfrm>
          <a:prstGeom prst="rect">
            <a:avLst/>
          </a:prstGeom>
        </p:spPr>
      </p:pic>
      <p:pic>
        <p:nvPicPr>
          <p:cNvPr id="5" name="Marcador de contenido 4" descr="Interfaz de usuario gráfica, Texto&#10;&#10;El contenido generado por IA puede ser incorrecto.">
            <a:extLst>
              <a:ext uri="{FF2B5EF4-FFF2-40B4-BE49-F238E27FC236}">
                <a16:creationId xmlns:a16="http://schemas.microsoft.com/office/drawing/2014/main" id="{1039903A-E7F5-DE80-C809-BCE30CA692B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85856" y="203200"/>
            <a:ext cx="4966797" cy="3737516"/>
          </a:xfrm>
        </p:spPr>
      </p:pic>
      <p:sp>
        <p:nvSpPr>
          <p:cNvPr id="6" name="CuadroTexto 5">
            <a:extLst>
              <a:ext uri="{FF2B5EF4-FFF2-40B4-BE49-F238E27FC236}">
                <a16:creationId xmlns:a16="http://schemas.microsoft.com/office/drawing/2014/main" id="{34EE6B61-EFF8-E580-49A3-6678D89F4181}"/>
              </a:ext>
            </a:extLst>
          </p:cNvPr>
          <p:cNvSpPr txBox="1"/>
          <p:nvPr/>
        </p:nvSpPr>
        <p:spPr>
          <a:xfrm>
            <a:off x="1167794" y="720737"/>
            <a:ext cx="5173133" cy="2554545"/>
          </a:xfrm>
          <a:prstGeom prst="rect">
            <a:avLst/>
          </a:prstGeom>
          <a:noFill/>
        </p:spPr>
        <p:txBody>
          <a:bodyPr wrap="square" rtlCol="0">
            <a:spAutoFit/>
          </a:bodyPr>
          <a:lstStyle/>
          <a:p>
            <a:r>
              <a:rPr lang="es-MX" sz="2000" dirty="0">
                <a:latin typeface="Arial" panose="020B0604020202020204" pitchFamily="34" charset="0"/>
                <a:cs typeface="Arial" panose="020B0604020202020204" pitchFamily="34" charset="0"/>
              </a:rPr>
              <a:t>10.- ya que termine lo anterior se </a:t>
            </a:r>
            <a:r>
              <a:rPr lang="es-MX" sz="2000" dirty="0" err="1">
                <a:latin typeface="Arial" panose="020B0604020202020204" pitchFamily="34" charset="0"/>
                <a:cs typeface="Arial" panose="020B0604020202020204" pitchFamily="34" charset="0"/>
              </a:rPr>
              <a:t>escribira</a:t>
            </a:r>
            <a:r>
              <a:rPr lang="es-MX" sz="2000" dirty="0">
                <a:latin typeface="Arial" panose="020B0604020202020204" pitchFamily="34" charset="0"/>
                <a:cs typeface="Arial" panose="020B0604020202020204" pitchFamily="34" charset="0"/>
              </a:rPr>
              <a:t> el siguiente comando:</a:t>
            </a:r>
          </a:p>
          <a:p>
            <a:r>
              <a:rPr lang="es-MX" sz="2000" b="1" dirty="0" err="1">
                <a:latin typeface="Arial" panose="020B0604020202020204" pitchFamily="34" charset="0"/>
                <a:cs typeface="Arial" panose="020B0604020202020204" pitchFamily="34" charset="0"/>
              </a:rPr>
              <a:t>Systemctl</a:t>
            </a:r>
            <a:r>
              <a:rPr lang="es-MX" sz="2000" b="1" dirty="0">
                <a:latin typeface="Arial" panose="020B0604020202020204" pitchFamily="34" charset="0"/>
                <a:cs typeface="Arial" panose="020B0604020202020204" pitchFamily="34" charset="0"/>
              </a:rPr>
              <a:t> –</a:t>
            </a:r>
            <a:r>
              <a:rPr lang="es-MX" sz="2000" b="1" dirty="0" err="1">
                <a:latin typeface="Arial" panose="020B0604020202020204" pitchFamily="34" charset="0"/>
                <a:cs typeface="Arial" panose="020B0604020202020204" pitchFamily="34" charset="0"/>
              </a:rPr>
              <a:t>user</a:t>
            </a:r>
            <a:r>
              <a:rPr lang="es-MX" sz="2000" b="1" dirty="0">
                <a:latin typeface="Arial" panose="020B0604020202020204" pitchFamily="34" charset="0"/>
                <a:cs typeface="Arial" panose="020B0604020202020204" pitchFamily="34" charset="0"/>
              </a:rPr>
              <a:t> </a:t>
            </a:r>
            <a:r>
              <a:rPr lang="es-MX" sz="2000" b="1" dirty="0" err="1">
                <a:latin typeface="Arial" panose="020B0604020202020204" pitchFamily="34" charset="0"/>
                <a:cs typeface="Arial" panose="020B0604020202020204" pitchFamily="34" charset="0"/>
              </a:rPr>
              <a:t>start</a:t>
            </a:r>
            <a:r>
              <a:rPr lang="es-MX" sz="2000" b="1" dirty="0">
                <a:latin typeface="Arial" panose="020B0604020202020204" pitchFamily="34" charset="0"/>
                <a:cs typeface="Arial" panose="020B0604020202020204" pitchFamily="34" charset="0"/>
              </a:rPr>
              <a:t> </a:t>
            </a:r>
            <a:r>
              <a:rPr lang="es-MX" sz="2000" dirty="0">
                <a:latin typeface="Arial" panose="020B0604020202020204" pitchFamily="34" charset="0"/>
                <a:cs typeface="Arial" panose="020B0604020202020204" pitchFamily="34" charset="0"/>
              </a:rPr>
              <a:t>Docker-desktop</a:t>
            </a:r>
          </a:p>
          <a:p>
            <a:pPr marL="285750" indent="-285750">
              <a:buFont typeface="Arial" panose="020B0604020202020204" pitchFamily="34" charset="0"/>
              <a:buChar char="•"/>
            </a:pPr>
            <a:r>
              <a:rPr lang="es-MX" sz="2000" dirty="0">
                <a:latin typeface="Arial" panose="020B0604020202020204" pitchFamily="34" charset="0"/>
                <a:cs typeface="Arial" panose="020B0604020202020204" pitchFamily="34" charset="0"/>
              </a:rPr>
              <a:t>Acepta términos, dale en </a:t>
            </a:r>
            <a:r>
              <a:rPr lang="es-MX" sz="2000" dirty="0" err="1">
                <a:latin typeface="Arial" panose="020B0604020202020204" pitchFamily="34" charset="0"/>
                <a:cs typeface="Arial" panose="020B0604020202020204" pitchFamily="34" charset="0"/>
              </a:rPr>
              <a:t>accept</a:t>
            </a:r>
            <a:endParaRPr lang="es-MX"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MX" sz="2000" dirty="0">
              <a:latin typeface="Arial" panose="020B0604020202020204" pitchFamily="34" charset="0"/>
              <a:cs typeface="Arial" panose="020B0604020202020204" pitchFamily="34" charset="0"/>
            </a:endParaRPr>
          </a:p>
          <a:p>
            <a:r>
              <a:rPr lang="es-MX" sz="2000" dirty="0">
                <a:latin typeface="Arial" panose="020B0604020202020204" pitchFamily="34" charset="0"/>
                <a:cs typeface="Arial" panose="020B0604020202020204" pitchFamily="34" charset="0"/>
              </a:rPr>
              <a:t>11.-como saber si ya funciona</a:t>
            </a:r>
          </a:p>
          <a:p>
            <a:r>
              <a:rPr lang="es-MX" sz="2000" b="1" dirty="0" err="1">
                <a:latin typeface="Arial" panose="020B0604020202020204" pitchFamily="34" charset="0"/>
                <a:cs typeface="Arial" panose="020B0604020202020204" pitchFamily="34" charset="0"/>
              </a:rPr>
              <a:t>docker</a:t>
            </a:r>
            <a:r>
              <a:rPr lang="es-MX" sz="2000" b="1" dirty="0">
                <a:latin typeface="Arial" panose="020B0604020202020204" pitchFamily="34" charset="0"/>
                <a:cs typeface="Arial" panose="020B0604020202020204" pitchFamily="34" charset="0"/>
              </a:rPr>
              <a:t> –versión</a:t>
            </a:r>
          </a:p>
          <a:p>
            <a:r>
              <a:rPr lang="es-MX" sz="2000" b="1" dirty="0" err="1">
                <a:latin typeface="Arial" panose="020B0604020202020204" pitchFamily="34" charset="0"/>
                <a:cs typeface="Arial" panose="020B0604020202020204" pitchFamily="34" charset="0"/>
              </a:rPr>
              <a:t>docker</a:t>
            </a:r>
            <a:r>
              <a:rPr lang="es-MX" sz="2000" b="1" dirty="0">
                <a:latin typeface="Arial" panose="020B0604020202020204" pitchFamily="34" charset="0"/>
                <a:cs typeface="Arial" panose="020B0604020202020204" pitchFamily="34" charset="0"/>
              </a:rPr>
              <a:t> </a:t>
            </a:r>
            <a:r>
              <a:rPr lang="es-MX" sz="2000" b="1" dirty="0" err="1">
                <a:latin typeface="Arial" panose="020B0604020202020204" pitchFamily="34" charset="0"/>
                <a:cs typeface="Arial" panose="020B0604020202020204" pitchFamily="34" charset="0"/>
              </a:rPr>
              <a:t>compose</a:t>
            </a:r>
            <a:r>
              <a:rPr lang="es-MX" sz="2000" b="1" dirty="0">
                <a:latin typeface="Arial" panose="020B0604020202020204" pitchFamily="34" charset="0"/>
                <a:cs typeface="Arial" panose="020B0604020202020204" pitchFamily="34" charset="0"/>
              </a:rPr>
              <a:t> </a:t>
            </a:r>
            <a:r>
              <a:rPr lang="es-MX" sz="2000" b="1" dirty="0" err="1">
                <a:latin typeface="Arial" panose="020B0604020202020204" pitchFamily="34" charset="0"/>
                <a:cs typeface="Arial" panose="020B0604020202020204" pitchFamily="34" charset="0"/>
              </a:rPr>
              <a:t>version</a:t>
            </a:r>
            <a:endParaRPr lang="es-MX"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193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7569-C1C5-B51B-0B7B-10CA03FF0C28}"/>
              </a:ext>
            </a:extLst>
          </p:cNvPr>
          <p:cNvSpPr>
            <a:spLocks noGrp="1"/>
          </p:cNvSpPr>
          <p:nvPr>
            <p:ph type="title"/>
          </p:nvPr>
        </p:nvSpPr>
        <p:spPr>
          <a:xfrm>
            <a:off x="838200" y="365126"/>
            <a:ext cx="10515600" cy="613230"/>
          </a:xfrm>
        </p:spPr>
        <p:txBody>
          <a:bodyPr>
            <a:normAutofit fontScale="90000"/>
          </a:bodyPr>
          <a:lstStyle/>
          <a:p>
            <a:r>
              <a:rPr lang="es-MX" dirty="0"/>
              <a:t>Comienzo de </a:t>
            </a:r>
            <a:r>
              <a:rPr lang="es-MX" dirty="0" err="1"/>
              <a:t>Dockerizar</a:t>
            </a:r>
            <a:endParaRPr lang="es-MX" dirty="0"/>
          </a:p>
        </p:txBody>
      </p:sp>
      <p:sp>
        <p:nvSpPr>
          <p:cNvPr id="3" name="Marcador de contenido 2">
            <a:extLst>
              <a:ext uri="{FF2B5EF4-FFF2-40B4-BE49-F238E27FC236}">
                <a16:creationId xmlns:a16="http://schemas.microsoft.com/office/drawing/2014/main" id="{9D50B0DA-0908-C13D-8B94-951557B12869}"/>
              </a:ext>
            </a:extLst>
          </p:cNvPr>
          <p:cNvSpPr>
            <a:spLocks noGrp="1"/>
          </p:cNvSpPr>
          <p:nvPr>
            <p:ph idx="1"/>
          </p:nvPr>
        </p:nvSpPr>
        <p:spPr>
          <a:xfrm>
            <a:off x="250371" y="978355"/>
            <a:ext cx="11615058" cy="1013731"/>
          </a:xfrm>
        </p:spPr>
        <p:txBody>
          <a:bodyPr/>
          <a:lstStyle/>
          <a:p>
            <a:pPr marL="514350" indent="-514350">
              <a:buAutoNum type="arabicPeriod"/>
            </a:pPr>
            <a:r>
              <a:rPr lang="es-MX" dirty="0">
                <a:latin typeface="Arial" panose="020B0604020202020204" pitchFamily="34" charset="0"/>
                <a:cs typeface="Arial" panose="020B0604020202020204" pitchFamily="34" charset="0"/>
              </a:rPr>
              <a:t>Comenzamos descargando las </a:t>
            </a:r>
            <a:r>
              <a:rPr lang="es-MX" dirty="0" err="1">
                <a:latin typeface="Arial" panose="020B0604020202020204" pitchFamily="34" charset="0"/>
                <a:cs typeface="Arial" panose="020B0604020202020204" pitchFamily="34" charset="0"/>
              </a:rPr>
              <a:t>imagenes</a:t>
            </a:r>
            <a:r>
              <a:rPr lang="es-MX" dirty="0">
                <a:latin typeface="Arial" panose="020B0604020202020204" pitchFamily="34" charset="0"/>
                <a:cs typeface="Arial" panose="020B0604020202020204" pitchFamily="34" charset="0"/>
              </a:rPr>
              <a:t> con el siguiente comando:</a:t>
            </a:r>
          </a:p>
          <a:p>
            <a:pPr marL="514350" indent="-514350">
              <a:buAutoNum type="arabicPeriod"/>
            </a:pPr>
            <a:endParaRPr lang="es-MX" dirty="0">
              <a:latin typeface="Arial" panose="020B0604020202020204" pitchFamily="34" charset="0"/>
              <a:cs typeface="Arial" panose="020B0604020202020204" pitchFamily="34" charset="0"/>
            </a:endParaRPr>
          </a:p>
        </p:txBody>
      </p:sp>
      <p:pic>
        <p:nvPicPr>
          <p:cNvPr id="5" name="Imagen 4" descr="Texto&#10;&#10;El contenido generado por IA puede ser incorrecto.">
            <a:extLst>
              <a:ext uri="{FF2B5EF4-FFF2-40B4-BE49-F238E27FC236}">
                <a16:creationId xmlns:a16="http://schemas.microsoft.com/office/drawing/2014/main" id="{C676AFCD-3369-0D37-844F-2F100B621F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5398" y="3032927"/>
            <a:ext cx="7626804" cy="3124081"/>
          </a:xfrm>
          <a:prstGeom prst="rect">
            <a:avLst/>
          </a:prstGeom>
        </p:spPr>
      </p:pic>
      <p:sp>
        <p:nvSpPr>
          <p:cNvPr id="6" name="CuadroTexto 5">
            <a:extLst>
              <a:ext uri="{FF2B5EF4-FFF2-40B4-BE49-F238E27FC236}">
                <a16:creationId xmlns:a16="http://schemas.microsoft.com/office/drawing/2014/main" id="{A765DD59-B3A2-5A19-B28B-3B8283894DE2}"/>
              </a:ext>
            </a:extLst>
          </p:cNvPr>
          <p:cNvSpPr txBox="1"/>
          <p:nvPr/>
        </p:nvSpPr>
        <p:spPr>
          <a:xfrm>
            <a:off x="4697185" y="3948636"/>
            <a:ext cx="2797629" cy="646331"/>
          </a:xfrm>
          <a:prstGeom prst="rect">
            <a:avLst/>
          </a:prstGeom>
          <a:noFill/>
        </p:spPr>
        <p:txBody>
          <a:bodyPr wrap="square" rtlCol="0">
            <a:spAutoFit/>
          </a:bodyPr>
          <a:lstStyle/>
          <a:p>
            <a:r>
              <a:rPr lang="es-MX" dirty="0">
                <a:solidFill>
                  <a:schemeClr val="bg1"/>
                </a:solidFill>
              </a:rPr>
              <a:t>Aquí comienza con Oracle.</a:t>
            </a:r>
          </a:p>
        </p:txBody>
      </p:sp>
      <p:sp>
        <p:nvSpPr>
          <p:cNvPr id="8" name="CuadroTexto 7">
            <a:extLst>
              <a:ext uri="{FF2B5EF4-FFF2-40B4-BE49-F238E27FC236}">
                <a16:creationId xmlns:a16="http://schemas.microsoft.com/office/drawing/2014/main" id="{6F845ACC-FDCC-68E9-335A-C2C7AA233B6E}"/>
              </a:ext>
            </a:extLst>
          </p:cNvPr>
          <p:cNvSpPr txBox="1"/>
          <p:nvPr/>
        </p:nvSpPr>
        <p:spPr>
          <a:xfrm>
            <a:off x="4052888" y="1742500"/>
            <a:ext cx="6096000" cy="923330"/>
          </a:xfrm>
          <a:prstGeom prst="rect">
            <a:avLst/>
          </a:prstGeom>
          <a:noFill/>
        </p:spPr>
        <p:txBody>
          <a:bodyPr wrap="square">
            <a:spAutoFit/>
          </a:bodyPr>
          <a:lstStyle/>
          <a:p>
            <a:r>
              <a:rPr lang="es-MX" b="1" dirty="0" err="1"/>
              <a:t>docker</a:t>
            </a:r>
            <a:r>
              <a:rPr lang="es-MX" b="1" dirty="0"/>
              <a:t> </a:t>
            </a:r>
            <a:r>
              <a:rPr lang="es-MX" b="1" dirty="0" err="1"/>
              <a:t>pull</a:t>
            </a:r>
            <a:r>
              <a:rPr lang="es-MX" b="1" dirty="0"/>
              <a:t> mysql:8.0</a:t>
            </a:r>
          </a:p>
          <a:p>
            <a:r>
              <a:rPr lang="es-MX" b="1" dirty="0" err="1"/>
              <a:t>docker</a:t>
            </a:r>
            <a:r>
              <a:rPr lang="es-MX" b="1" dirty="0"/>
              <a:t> </a:t>
            </a:r>
            <a:r>
              <a:rPr lang="es-MX" b="1" dirty="0" err="1"/>
              <a:t>pull</a:t>
            </a:r>
            <a:r>
              <a:rPr lang="es-MX" b="1" dirty="0"/>
              <a:t> postgres:15</a:t>
            </a:r>
          </a:p>
          <a:p>
            <a:r>
              <a:rPr lang="es-MX" b="1" dirty="0" err="1"/>
              <a:t>docker</a:t>
            </a:r>
            <a:r>
              <a:rPr lang="es-MX" b="1" dirty="0"/>
              <a:t> </a:t>
            </a:r>
            <a:r>
              <a:rPr lang="es-MX" b="1" dirty="0" err="1"/>
              <a:t>pull</a:t>
            </a:r>
            <a:r>
              <a:rPr lang="es-MX" b="1" dirty="0"/>
              <a:t> </a:t>
            </a:r>
            <a:r>
              <a:rPr lang="es-MX" b="1" dirty="0" err="1"/>
              <a:t>gvenzl</a:t>
            </a:r>
            <a:r>
              <a:rPr lang="es-MX" b="1" dirty="0"/>
              <a:t>/oracle-xe:21-slim</a:t>
            </a:r>
          </a:p>
        </p:txBody>
      </p:sp>
    </p:spTree>
    <p:extLst>
      <p:ext uri="{BB962C8B-B14F-4D97-AF65-F5344CB8AC3E}">
        <p14:creationId xmlns:p14="http://schemas.microsoft.com/office/powerpoint/2010/main" val="305236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238885F-3216-A853-CB74-6F57ECBA56FB}"/>
              </a:ext>
            </a:extLst>
          </p:cNvPr>
          <p:cNvSpPr>
            <a:spLocks noGrp="1"/>
          </p:cNvSpPr>
          <p:nvPr>
            <p:ph idx="1"/>
          </p:nvPr>
        </p:nvSpPr>
        <p:spPr>
          <a:xfrm>
            <a:off x="729342" y="410482"/>
            <a:ext cx="10515600" cy="4351338"/>
          </a:xfrm>
        </p:spPr>
        <p:txBody>
          <a:bodyPr/>
          <a:lstStyle/>
          <a:p>
            <a:r>
              <a:rPr lang="es-MX" dirty="0"/>
              <a:t>Segunda descarga de la imagen es </a:t>
            </a:r>
            <a:r>
              <a:rPr lang="es-MX" dirty="0" err="1"/>
              <a:t>postgres</a:t>
            </a:r>
            <a:endParaRPr lang="es-MX" dirty="0"/>
          </a:p>
          <a:p>
            <a:endParaRPr lang="es-MX" dirty="0"/>
          </a:p>
        </p:txBody>
      </p:sp>
      <p:pic>
        <p:nvPicPr>
          <p:cNvPr id="5" name="Imagen 4">
            <a:extLst>
              <a:ext uri="{FF2B5EF4-FFF2-40B4-BE49-F238E27FC236}">
                <a16:creationId xmlns:a16="http://schemas.microsoft.com/office/drawing/2014/main" id="{F7CB93A8-91F7-B686-444C-6F0B0BC4B7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42" y="1227778"/>
            <a:ext cx="9727746" cy="3984665"/>
          </a:xfrm>
          <a:prstGeom prst="rect">
            <a:avLst/>
          </a:prstGeom>
        </p:spPr>
      </p:pic>
    </p:spTree>
    <p:extLst>
      <p:ext uri="{BB962C8B-B14F-4D97-AF65-F5344CB8AC3E}">
        <p14:creationId xmlns:p14="http://schemas.microsoft.com/office/powerpoint/2010/main" val="3957220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168C6D1-DD6A-E8E9-DC39-8C5378FD2CCB}"/>
              </a:ext>
            </a:extLst>
          </p:cNvPr>
          <p:cNvSpPr>
            <a:spLocks noGrp="1"/>
          </p:cNvSpPr>
          <p:nvPr>
            <p:ph idx="1"/>
          </p:nvPr>
        </p:nvSpPr>
        <p:spPr>
          <a:xfrm>
            <a:off x="729343" y="519339"/>
            <a:ext cx="10515600" cy="4351338"/>
          </a:xfrm>
        </p:spPr>
        <p:txBody>
          <a:bodyPr/>
          <a:lstStyle/>
          <a:p>
            <a:r>
              <a:rPr lang="es-MX" dirty="0"/>
              <a:t>Tercera descarga es MySQL</a:t>
            </a:r>
          </a:p>
        </p:txBody>
      </p:sp>
      <p:pic>
        <p:nvPicPr>
          <p:cNvPr id="5" name="Imagen 4">
            <a:extLst>
              <a:ext uri="{FF2B5EF4-FFF2-40B4-BE49-F238E27FC236}">
                <a16:creationId xmlns:a16="http://schemas.microsoft.com/office/drawing/2014/main" id="{71DB0920-26AE-F1F9-68D7-555C0BAE6A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428" y="1165809"/>
            <a:ext cx="10034587" cy="3802839"/>
          </a:xfrm>
          <a:prstGeom prst="rect">
            <a:avLst/>
          </a:prstGeom>
        </p:spPr>
      </p:pic>
    </p:spTree>
    <p:extLst>
      <p:ext uri="{BB962C8B-B14F-4D97-AF65-F5344CB8AC3E}">
        <p14:creationId xmlns:p14="http://schemas.microsoft.com/office/powerpoint/2010/main" val="3980426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AEC26D-56F5-786A-38AF-60020DF64078}"/>
              </a:ext>
            </a:extLst>
          </p:cNvPr>
          <p:cNvSpPr>
            <a:spLocks noGrp="1"/>
          </p:cNvSpPr>
          <p:nvPr>
            <p:ph type="title"/>
          </p:nvPr>
        </p:nvSpPr>
        <p:spPr>
          <a:xfrm>
            <a:off x="47625" y="-43587"/>
            <a:ext cx="12144375" cy="684100"/>
          </a:xfrm>
        </p:spPr>
        <p:txBody>
          <a:bodyPr>
            <a:noAutofit/>
          </a:bodyPr>
          <a:lstStyle/>
          <a:p>
            <a:r>
              <a:rPr lang="es-MX" sz="2000" dirty="0"/>
              <a:t>Continuamos con el siguiente comando con el cual comenzaremos a crear en primer contenedor </a:t>
            </a:r>
            <a:r>
              <a:rPr lang="es-MX" sz="2000" dirty="0" err="1"/>
              <a:t>dockerizando</a:t>
            </a:r>
            <a:r>
              <a:rPr lang="es-MX" sz="2000" dirty="0"/>
              <a:t> que es </a:t>
            </a:r>
            <a:r>
              <a:rPr lang="es-MX" sz="2000" dirty="0" err="1"/>
              <a:t>mysql</a:t>
            </a:r>
            <a:endParaRPr lang="es-MX" sz="2000" dirty="0"/>
          </a:p>
        </p:txBody>
      </p:sp>
      <p:pic>
        <p:nvPicPr>
          <p:cNvPr id="5" name="Marcador de contenido 4" descr="Texto&#10;&#10;El contenido generado por IA puede ser incorrecto.">
            <a:extLst>
              <a:ext uri="{FF2B5EF4-FFF2-40B4-BE49-F238E27FC236}">
                <a16:creationId xmlns:a16="http://schemas.microsoft.com/office/drawing/2014/main" id="{54BE2056-F1E0-7DEF-6E1B-7A165CD0B8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7674" y="571824"/>
            <a:ext cx="8915400" cy="1381999"/>
          </a:xfrm>
        </p:spPr>
      </p:pic>
      <p:pic>
        <p:nvPicPr>
          <p:cNvPr id="7" name="Imagen 6" descr="Texto&#10;&#10;El contenido generado por IA puede ser incorrecto.">
            <a:extLst>
              <a:ext uri="{FF2B5EF4-FFF2-40B4-BE49-F238E27FC236}">
                <a16:creationId xmlns:a16="http://schemas.microsoft.com/office/drawing/2014/main" id="{EF70CBE3-CE54-E283-774C-E53A7C8975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724" y="2368982"/>
            <a:ext cx="11306175" cy="1752600"/>
          </a:xfrm>
          <a:prstGeom prst="rect">
            <a:avLst/>
          </a:prstGeom>
        </p:spPr>
      </p:pic>
      <p:sp>
        <p:nvSpPr>
          <p:cNvPr id="8" name="Título 1">
            <a:extLst>
              <a:ext uri="{FF2B5EF4-FFF2-40B4-BE49-F238E27FC236}">
                <a16:creationId xmlns:a16="http://schemas.microsoft.com/office/drawing/2014/main" id="{CF647953-7673-D610-54C1-8D8BCCBECAE7}"/>
              </a:ext>
            </a:extLst>
          </p:cNvPr>
          <p:cNvSpPr txBox="1">
            <a:spLocks/>
          </p:cNvSpPr>
          <p:nvPr/>
        </p:nvSpPr>
        <p:spPr>
          <a:xfrm>
            <a:off x="179614" y="1770812"/>
            <a:ext cx="11832771" cy="7842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t>Segundo comando con el cual comenzaremos a crear en el segundo contenedor </a:t>
            </a:r>
            <a:r>
              <a:rPr lang="es-MX" sz="2000" dirty="0" err="1"/>
              <a:t>dockerizando</a:t>
            </a:r>
            <a:r>
              <a:rPr lang="es-MX" sz="2000" dirty="0"/>
              <a:t> que es </a:t>
            </a:r>
            <a:r>
              <a:rPr lang="es-MX" sz="2000" dirty="0" err="1"/>
              <a:t>postgres</a:t>
            </a:r>
            <a:endParaRPr lang="es-MX" sz="2000" dirty="0"/>
          </a:p>
        </p:txBody>
      </p:sp>
      <p:sp>
        <p:nvSpPr>
          <p:cNvPr id="9" name="Título 1">
            <a:extLst>
              <a:ext uri="{FF2B5EF4-FFF2-40B4-BE49-F238E27FC236}">
                <a16:creationId xmlns:a16="http://schemas.microsoft.com/office/drawing/2014/main" id="{D9CA5673-7D59-790D-BFE6-89A0C2A17DD3}"/>
              </a:ext>
            </a:extLst>
          </p:cNvPr>
          <p:cNvSpPr txBox="1">
            <a:spLocks/>
          </p:cNvSpPr>
          <p:nvPr/>
        </p:nvSpPr>
        <p:spPr>
          <a:xfrm>
            <a:off x="179614" y="4253190"/>
            <a:ext cx="10515600" cy="3414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2000" dirty="0"/>
              <a:t>Tercer comando creando el tercer contenedor </a:t>
            </a:r>
            <a:r>
              <a:rPr lang="es-MX" sz="2000" dirty="0" err="1"/>
              <a:t>dockerizando</a:t>
            </a:r>
            <a:r>
              <a:rPr lang="es-MX" sz="2000" dirty="0"/>
              <a:t> que es </a:t>
            </a:r>
            <a:r>
              <a:rPr lang="es-MX" sz="2000" dirty="0" err="1"/>
              <a:t>oracle</a:t>
            </a:r>
            <a:endParaRPr lang="es-MX" sz="2000" dirty="0"/>
          </a:p>
        </p:txBody>
      </p:sp>
      <p:pic>
        <p:nvPicPr>
          <p:cNvPr id="11" name="Imagen 10">
            <a:extLst>
              <a:ext uri="{FF2B5EF4-FFF2-40B4-BE49-F238E27FC236}">
                <a16:creationId xmlns:a16="http://schemas.microsoft.com/office/drawing/2014/main" id="{83ACCEDE-5A27-E35E-6C0D-2A317BDCC9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674" y="4743893"/>
            <a:ext cx="11296650" cy="1600200"/>
          </a:xfrm>
          <a:prstGeom prst="rect">
            <a:avLst/>
          </a:prstGeom>
        </p:spPr>
      </p:pic>
    </p:spTree>
    <p:extLst>
      <p:ext uri="{BB962C8B-B14F-4D97-AF65-F5344CB8AC3E}">
        <p14:creationId xmlns:p14="http://schemas.microsoft.com/office/powerpoint/2010/main" val="3468637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711F4E-556D-4143-B80F-BBDD52CD180C}"/>
              </a:ext>
            </a:extLst>
          </p:cNvPr>
          <p:cNvSpPr>
            <a:spLocks noGrp="1"/>
          </p:cNvSpPr>
          <p:nvPr>
            <p:ph type="title"/>
          </p:nvPr>
        </p:nvSpPr>
        <p:spPr>
          <a:xfrm>
            <a:off x="838200" y="365125"/>
            <a:ext cx="10515600" cy="462189"/>
          </a:xfrm>
        </p:spPr>
        <p:txBody>
          <a:bodyPr>
            <a:normAutofit fontScale="90000"/>
          </a:bodyPr>
          <a:lstStyle/>
          <a:p>
            <a:r>
              <a:rPr lang="es-MX" sz="3200" dirty="0"/>
              <a:t>Verificamos que </a:t>
            </a:r>
            <a:r>
              <a:rPr lang="es-MX" sz="3200" dirty="0" err="1"/>
              <a:t>esten</a:t>
            </a:r>
            <a:r>
              <a:rPr lang="es-MX" sz="3200" dirty="0"/>
              <a:t> corriendo con el comando </a:t>
            </a:r>
            <a:r>
              <a:rPr lang="es-MX" sz="3200" b="1" dirty="0" err="1"/>
              <a:t>docker</a:t>
            </a:r>
            <a:r>
              <a:rPr lang="es-MX" sz="3200" b="1" dirty="0"/>
              <a:t> </a:t>
            </a:r>
            <a:r>
              <a:rPr lang="es-MX" sz="3200" b="1" dirty="0" err="1"/>
              <a:t>ps</a:t>
            </a:r>
            <a:endParaRPr lang="es-MX" sz="3200" b="1" dirty="0"/>
          </a:p>
        </p:txBody>
      </p:sp>
      <p:pic>
        <p:nvPicPr>
          <p:cNvPr id="5" name="Marcador de contenido 4">
            <a:extLst>
              <a:ext uri="{FF2B5EF4-FFF2-40B4-BE49-F238E27FC236}">
                <a16:creationId xmlns:a16="http://schemas.microsoft.com/office/drawing/2014/main" id="{6158D57B-A9BC-E9E3-2D57-333D415ED2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983589"/>
            <a:ext cx="10515600" cy="1325563"/>
          </a:xfrm>
        </p:spPr>
      </p:pic>
      <p:sp>
        <p:nvSpPr>
          <p:cNvPr id="6" name="CuadroTexto 5">
            <a:extLst>
              <a:ext uri="{FF2B5EF4-FFF2-40B4-BE49-F238E27FC236}">
                <a16:creationId xmlns:a16="http://schemas.microsoft.com/office/drawing/2014/main" id="{F202EDD8-3E5B-A434-724E-50886E0EE6A0}"/>
              </a:ext>
            </a:extLst>
          </p:cNvPr>
          <p:cNvSpPr txBox="1"/>
          <p:nvPr/>
        </p:nvSpPr>
        <p:spPr>
          <a:xfrm>
            <a:off x="990600" y="2287381"/>
            <a:ext cx="9209315" cy="646331"/>
          </a:xfrm>
          <a:prstGeom prst="rect">
            <a:avLst/>
          </a:prstGeom>
          <a:noFill/>
        </p:spPr>
        <p:txBody>
          <a:bodyPr wrap="square" rtlCol="0">
            <a:spAutoFit/>
          </a:bodyPr>
          <a:lstStyle/>
          <a:p>
            <a:r>
              <a:rPr lang="es-MX" dirty="0"/>
              <a:t>Aquí se muestra que los tres contenedores ya están corriendo perfectamente y cada SGBD vive en su propio contenedor aislado</a:t>
            </a:r>
          </a:p>
        </p:txBody>
      </p:sp>
      <p:pic>
        <p:nvPicPr>
          <p:cNvPr id="8" name="Imagen 7" descr="Interfaz de usuario gráfica, Aplicación, Correo electrónico&#10;&#10;El contenido generado por IA puede ser incorrecto.">
            <a:extLst>
              <a:ext uri="{FF2B5EF4-FFF2-40B4-BE49-F238E27FC236}">
                <a16:creationId xmlns:a16="http://schemas.microsoft.com/office/drawing/2014/main" id="{0F57B81C-AE0C-521E-1C6A-C6A3E00CEF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7256" y="2970442"/>
            <a:ext cx="6444343" cy="3624943"/>
          </a:xfrm>
          <a:prstGeom prst="rect">
            <a:avLst/>
          </a:prstGeom>
        </p:spPr>
      </p:pic>
    </p:spTree>
    <p:extLst>
      <p:ext uri="{BB962C8B-B14F-4D97-AF65-F5344CB8AC3E}">
        <p14:creationId xmlns:p14="http://schemas.microsoft.com/office/powerpoint/2010/main" val="2355543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60795E-F12F-F5F8-9BAE-DDD3F8DE924A}"/>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5D7E1708-3B0D-B011-E6DF-5CA2775A0A07}"/>
              </a:ext>
            </a:extLst>
          </p:cNvPr>
          <p:cNvSpPr>
            <a:spLocks noGrp="1"/>
          </p:cNvSpPr>
          <p:nvPr>
            <p:ph idx="1"/>
          </p:nvPr>
        </p:nvSpPr>
        <p:spPr/>
        <p:txBody>
          <a:bodyPr>
            <a:normAutofit/>
          </a:bodyPr>
          <a:lstStyle/>
          <a:p>
            <a:pPr marL="0" indent="0" algn="just">
              <a:buNone/>
            </a:pPr>
            <a:r>
              <a:rPr lang="es-MX" sz="2000" dirty="0">
                <a:latin typeface="Arial" panose="020B0604020202020204" pitchFamily="34" charset="0"/>
                <a:cs typeface="Arial" panose="020B0604020202020204" pitchFamily="34" charset="0"/>
              </a:rPr>
              <a:t>La implementación de sistemas gestores de bases de datos mediante Docker permitió comprender las ventajas de la virtualización por contenedores, destacando su facilidad de uso, portabilidad y eficiencia.</a:t>
            </a:r>
          </a:p>
          <a:p>
            <a:pPr marL="0" indent="0" algn="just">
              <a:buNone/>
            </a:pPr>
            <a:r>
              <a:rPr lang="es-MX" sz="2000" dirty="0">
                <a:latin typeface="Arial" panose="020B0604020202020204" pitchFamily="34" charset="0"/>
                <a:cs typeface="Arial" panose="020B0604020202020204" pitchFamily="34" charset="0"/>
              </a:rPr>
              <a:t>A través de esta práctica se logró ejecutar MySQL, PostgreSQL y Oracle en un mismo entorno sin conflictos de instalación, lo que demuestra la utilidad de Docker en el desarrollo y administración de entornos de bases de datos modernos.</a:t>
            </a:r>
          </a:p>
          <a:p>
            <a:pPr marL="0" indent="0" algn="just">
              <a:buNone/>
            </a:pPr>
            <a:r>
              <a:rPr lang="es-MX" sz="2000" dirty="0">
                <a:latin typeface="Arial" panose="020B0604020202020204" pitchFamily="34" charset="0"/>
                <a:cs typeface="Arial" panose="020B0604020202020204" pitchFamily="34" charset="0"/>
              </a:rPr>
              <a:t>Además, se reforzó el conocimiento sobre la gestión de contenedores, el uso de imágenes oficiales y la configuración de servicios aislados, lo cual es fundamental en entornos profesionales de desarrollo de software.</a:t>
            </a:r>
          </a:p>
          <a:p>
            <a:pPr marL="0" indent="0" algn="just">
              <a:buNone/>
            </a:pPr>
            <a:endParaRPr lang="es-MX"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74580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1025</Words>
  <Application>Microsoft Office PowerPoint</Application>
  <PresentationFormat>Panorámica</PresentationFormat>
  <Paragraphs>105</Paragraphs>
  <Slides>14</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Aptos</vt:lpstr>
      <vt:lpstr>Aptos Display</vt:lpstr>
      <vt:lpstr>Arial</vt:lpstr>
      <vt:lpstr>Century Gothic</vt:lpstr>
      <vt:lpstr>Tema de Office</vt:lpstr>
      <vt:lpstr>Presentación de PowerPoint</vt:lpstr>
      <vt:lpstr>Introducción </vt:lpstr>
      <vt:lpstr>Justificación </vt:lpstr>
      <vt:lpstr>Objetivos </vt:lpstr>
      <vt:lpstr>Marco teórico </vt:lpstr>
      <vt:lpstr>Comenzamos con la instalación de Docker en Ubuntu Linux con los siguientes comandos:</vt:lpstr>
      <vt:lpstr>Presentación de PowerPoint</vt:lpstr>
      <vt:lpstr>Presentación de PowerPoint</vt:lpstr>
      <vt:lpstr>Comienzo de Dockerizar</vt:lpstr>
      <vt:lpstr>Presentación de PowerPoint</vt:lpstr>
      <vt:lpstr>Presentación de PowerPoint</vt:lpstr>
      <vt:lpstr>Continuamos con el siguiente comando con el cual comenzaremos a crear en primer contenedor dockerizando que es mysql</vt:lpstr>
      <vt:lpstr>Verificamos que esten corriendo con el comando docker ps</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5</cp:revision>
  <dcterms:created xsi:type="dcterms:W3CDTF">2026-04-29T19:39:33Z</dcterms:created>
  <dcterms:modified xsi:type="dcterms:W3CDTF">2026-05-04T04:44:04Z</dcterms:modified>
</cp:coreProperties>
</file>