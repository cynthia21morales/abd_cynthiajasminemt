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260"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AC1003-1326-70D9-2D0E-16C4CF0D37B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EACDDCEF-7437-7D81-8C82-7066CF5D34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F5B2C0D1-D809-BEA6-F484-E468878D16EF}"/>
              </a:ext>
            </a:extLst>
          </p:cNvPr>
          <p:cNvSpPr>
            <a:spLocks noGrp="1"/>
          </p:cNvSpPr>
          <p:nvPr>
            <p:ph type="dt" sz="half" idx="10"/>
          </p:nvPr>
        </p:nvSpPr>
        <p:spPr/>
        <p:txBody>
          <a:bodyPr/>
          <a:lstStyle/>
          <a:p>
            <a:fld id="{CCDD0B88-448F-4CB0-B3AD-1890ED610B16}" type="datetimeFigureOut">
              <a:rPr lang="es-MX" smtClean="0"/>
              <a:t>30/05/2026</a:t>
            </a:fld>
            <a:endParaRPr lang="es-MX"/>
          </a:p>
        </p:txBody>
      </p:sp>
      <p:sp>
        <p:nvSpPr>
          <p:cNvPr id="5" name="Marcador de pie de página 4">
            <a:extLst>
              <a:ext uri="{FF2B5EF4-FFF2-40B4-BE49-F238E27FC236}">
                <a16:creationId xmlns:a16="http://schemas.microsoft.com/office/drawing/2014/main" id="{5F7BCF7F-D592-5D83-9FF9-540FB52D225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6EA539A-C7E0-B954-4E96-04C337BAB5EC}"/>
              </a:ext>
            </a:extLst>
          </p:cNvPr>
          <p:cNvSpPr>
            <a:spLocks noGrp="1"/>
          </p:cNvSpPr>
          <p:nvPr>
            <p:ph type="sldNum" sz="quarter" idx="12"/>
          </p:nvPr>
        </p:nvSpPr>
        <p:spPr/>
        <p:txBody>
          <a:bodyPr/>
          <a:lstStyle/>
          <a:p>
            <a:fld id="{25B1F674-9259-4FA1-81B1-184F31EFCC32}" type="slidenum">
              <a:rPr lang="es-MX" smtClean="0"/>
              <a:t>‹Nº›</a:t>
            </a:fld>
            <a:endParaRPr lang="es-MX"/>
          </a:p>
        </p:txBody>
      </p:sp>
    </p:spTree>
    <p:extLst>
      <p:ext uri="{BB962C8B-B14F-4D97-AF65-F5344CB8AC3E}">
        <p14:creationId xmlns:p14="http://schemas.microsoft.com/office/powerpoint/2010/main" val="3552698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093ACC-0F37-962B-EEE2-C660BDBE0CC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6CF8DDB-39CE-24F5-D29A-3D3CA50FD2D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19DBFE6-D26C-7B91-A92E-37360FF715F3}"/>
              </a:ext>
            </a:extLst>
          </p:cNvPr>
          <p:cNvSpPr>
            <a:spLocks noGrp="1"/>
          </p:cNvSpPr>
          <p:nvPr>
            <p:ph type="dt" sz="half" idx="10"/>
          </p:nvPr>
        </p:nvSpPr>
        <p:spPr/>
        <p:txBody>
          <a:bodyPr/>
          <a:lstStyle/>
          <a:p>
            <a:fld id="{CCDD0B88-448F-4CB0-B3AD-1890ED610B16}" type="datetimeFigureOut">
              <a:rPr lang="es-MX" smtClean="0"/>
              <a:t>30/05/2026</a:t>
            </a:fld>
            <a:endParaRPr lang="es-MX"/>
          </a:p>
        </p:txBody>
      </p:sp>
      <p:sp>
        <p:nvSpPr>
          <p:cNvPr id="5" name="Marcador de pie de página 4">
            <a:extLst>
              <a:ext uri="{FF2B5EF4-FFF2-40B4-BE49-F238E27FC236}">
                <a16:creationId xmlns:a16="http://schemas.microsoft.com/office/drawing/2014/main" id="{A290F73C-D5B5-7F13-9B17-004A3B38B4A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41E60C8-1597-D3B4-2FCE-C3E7D31389ED}"/>
              </a:ext>
            </a:extLst>
          </p:cNvPr>
          <p:cNvSpPr>
            <a:spLocks noGrp="1"/>
          </p:cNvSpPr>
          <p:nvPr>
            <p:ph type="sldNum" sz="quarter" idx="12"/>
          </p:nvPr>
        </p:nvSpPr>
        <p:spPr/>
        <p:txBody>
          <a:bodyPr/>
          <a:lstStyle/>
          <a:p>
            <a:fld id="{25B1F674-9259-4FA1-81B1-184F31EFCC32}" type="slidenum">
              <a:rPr lang="es-MX" smtClean="0"/>
              <a:t>‹Nº›</a:t>
            </a:fld>
            <a:endParaRPr lang="es-MX"/>
          </a:p>
        </p:txBody>
      </p:sp>
    </p:spTree>
    <p:extLst>
      <p:ext uri="{BB962C8B-B14F-4D97-AF65-F5344CB8AC3E}">
        <p14:creationId xmlns:p14="http://schemas.microsoft.com/office/powerpoint/2010/main" val="1773893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C6991-40C5-8C7F-E34E-B73FF73397A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2469967-9600-A8FF-5DA8-318DEA0444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AC15E3F-BF10-A338-4FBC-EF564F830797}"/>
              </a:ext>
            </a:extLst>
          </p:cNvPr>
          <p:cNvSpPr>
            <a:spLocks noGrp="1"/>
          </p:cNvSpPr>
          <p:nvPr>
            <p:ph type="dt" sz="half" idx="10"/>
          </p:nvPr>
        </p:nvSpPr>
        <p:spPr/>
        <p:txBody>
          <a:bodyPr/>
          <a:lstStyle/>
          <a:p>
            <a:fld id="{CCDD0B88-448F-4CB0-B3AD-1890ED610B16}" type="datetimeFigureOut">
              <a:rPr lang="es-MX" smtClean="0"/>
              <a:t>30/05/2026</a:t>
            </a:fld>
            <a:endParaRPr lang="es-MX"/>
          </a:p>
        </p:txBody>
      </p:sp>
      <p:sp>
        <p:nvSpPr>
          <p:cNvPr id="5" name="Marcador de pie de página 4">
            <a:extLst>
              <a:ext uri="{FF2B5EF4-FFF2-40B4-BE49-F238E27FC236}">
                <a16:creationId xmlns:a16="http://schemas.microsoft.com/office/drawing/2014/main" id="{FA87701C-D805-8541-EE70-8D77C1ADAED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F4BA6C9-BD7A-814A-9E5A-906CB5531483}"/>
              </a:ext>
            </a:extLst>
          </p:cNvPr>
          <p:cNvSpPr>
            <a:spLocks noGrp="1"/>
          </p:cNvSpPr>
          <p:nvPr>
            <p:ph type="sldNum" sz="quarter" idx="12"/>
          </p:nvPr>
        </p:nvSpPr>
        <p:spPr/>
        <p:txBody>
          <a:bodyPr/>
          <a:lstStyle/>
          <a:p>
            <a:fld id="{25B1F674-9259-4FA1-81B1-184F31EFCC32}" type="slidenum">
              <a:rPr lang="es-MX" smtClean="0"/>
              <a:t>‹Nº›</a:t>
            </a:fld>
            <a:endParaRPr lang="es-MX"/>
          </a:p>
        </p:txBody>
      </p:sp>
    </p:spTree>
    <p:extLst>
      <p:ext uri="{BB962C8B-B14F-4D97-AF65-F5344CB8AC3E}">
        <p14:creationId xmlns:p14="http://schemas.microsoft.com/office/powerpoint/2010/main" val="322064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45FA32-3F87-059F-B298-23016A64DB1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721C8FF-6FEC-0C63-E1A1-FE9A7975A40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96E54FAC-BDF1-B5C0-0FED-1A85411A0E5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93EF41A-88E9-D97C-BE63-3026CE58608C}"/>
              </a:ext>
            </a:extLst>
          </p:cNvPr>
          <p:cNvSpPr>
            <a:spLocks noGrp="1"/>
          </p:cNvSpPr>
          <p:nvPr>
            <p:ph type="dt" sz="half" idx="10"/>
          </p:nvPr>
        </p:nvSpPr>
        <p:spPr/>
        <p:txBody>
          <a:bodyPr/>
          <a:lstStyle/>
          <a:p>
            <a:fld id="{CCDD0B88-448F-4CB0-B3AD-1890ED610B16}" type="datetimeFigureOut">
              <a:rPr lang="es-MX" smtClean="0"/>
              <a:t>30/05/2026</a:t>
            </a:fld>
            <a:endParaRPr lang="es-MX"/>
          </a:p>
        </p:txBody>
      </p:sp>
      <p:sp>
        <p:nvSpPr>
          <p:cNvPr id="6" name="Marcador de pie de página 5">
            <a:extLst>
              <a:ext uri="{FF2B5EF4-FFF2-40B4-BE49-F238E27FC236}">
                <a16:creationId xmlns:a16="http://schemas.microsoft.com/office/drawing/2014/main" id="{E6E02FF0-3940-6150-E63C-7D11688AFFA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8BC7D30-9751-5644-6386-E7F7545DE691}"/>
              </a:ext>
            </a:extLst>
          </p:cNvPr>
          <p:cNvSpPr>
            <a:spLocks noGrp="1"/>
          </p:cNvSpPr>
          <p:nvPr>
            <p:ph type="sldNum" sz="quarter" idx="12"/>
          </p:nvPr>
        </p:nvSpPr>
        <p:spPr/>
        <p:txBody>
          <a:bodyPr/>
          <a:lstStyle/>
          <a:p>
            <a:fld id="{25B1F674-9259-4FA1-81B1-184F31EFCC32}" type="slidenum">
              <a:rPr lang="es-MX" smtClean="0"/>
              <a:t>‹Nº›</a:t>
            </a:fld>
            <a:endParaRPr lang="es-MX"/>
          </a:p>
        </p:txBody>
      </p:sp>
    </p:spTree>
    <p:extLst>
      <p:ext uri="{BB962C8B-B14F-4D97-AF65-F5344CB8AC3E}">
        <p14:creationId xmlns:p14="http://schemas.microsoft.com/office/powerpoint/2010/main" val="2145604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1962AD-B724-F0AA-7860-929052EF7E2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16F5EC4-341F-AD35-7924-0E3DBFC97C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551A858-DFD3-4EEF-64BE-56468DEE0AB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1C02AABC-9B3C-741D-84AC-EB8D271743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EF4B5A5-F869-2DE2-1C55-FBEFE710316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F766D403-BBE0-C965-8F0F-62B01D7EB401}"/>
              </a:ext>
            </a:extLst>
          </p:cNvPr>
          <p:cNvSpPr>
            <a:spLocks noGrp="1"/>
          </p:cNvSpPr>
          <p:nvPr>
            <p:ph type="dt" sz="half" idx="10"/>
          </p:nvPr>
        </p:nvSpPr>
        <p:spPr/>
        <p:txBody>
          <a:bodyPr/>
          <a:lstStyle/>
          <a:p>
            <a:fld id="{CCDD0B88-448F-4CB0-B3AD-1890ED610B16}" type="datetimeFigureOut">
              <a:rPr lang="es-MX" smtClean="0"/>
              <a:t>30/05/2026</a:t>
            </a:fld>
            <a:endParaRPr lang="es-MX"/>
          </a:p>
        </p:txBody>
      </p:sp>
      <p:sp>
        <p:nvSpPr>
          <p:cNvPr id="8" name="Marcador de pie de página 7">
            <a:extLst>
              <a:ext uri="{FF2B5EF4-FFF2-40B4-BE49-F238E27FC236}">
                <a16:creationId xmlns:a16="http://schemas.microsoft.com/office/drawing/2014/main" id="{0F214877-0590-B927-FFE7-D989B8CFD81E}"/>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1CF2C9E7-F33B-A0AB-67E2-E6C0689A95A6}"/>
              </a:ext>
            </a:extLst>
          </p:cNvPr>
          <p:cNvSpPr>
            <a:spLocks noGrp="1"/>
          </p:cNvSpPr>
          <p:nvPr>
            <p:ph type="sldNum" sz="quarter" idx="12"/>
          </p:nvPr>
        </p:nvSpPr>
        <p:spPr/>
        <p:txBody>
          <a:bodyPr/>
          <a:lstStyle/>
          <a:p>
            <a:fld id="{25B1F674-9259-4FA1-81B1-184F31EFCC32}" type="slidenum">
              <a:rPr lang="es-MX" smtClean="0"/>
              <a:t>‹Nº›</a:t>
            </a:fld>
            <a:endParaRPr lang="es-MX"/>
          </a:p>
        </p:txBody>
      </p:sp>
    </p:spTree>
    <p:extLst>
      <p:ext uri="{BB962C8B-B14F-4D97-AF65-F5344CB8AC3E}">
        <p14:creationId xmlns:p14="http://schemas.microsoft.com/office/powerpoint/2010/main" val="3089222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4A52C4-64F0-EE6E-37A6-797750B0F49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259BD421-F1CE-D2B1-E389-F3B18B1FA164}"/>
              </a:ext>
            </a:extLst>
          </p:cNvPr>
          <p:cNvSpPr>
            <a:spLocks noGrp="1"/>
          </p:cNvSpPr>
          <p:nvPr>
            <p:ph type="dt" sz="half" idx="10"/>
          </p:nvPr>
        </p:nvSpPr>
        <p:spPr/>
        <p:txBody>
          <a:bodyPr/>
          <a:lstStyle/>
          <a:p>
            <a:fld id="{CCDD0B88-448F-4CB0-B3AD-1890ED610B16}" type="datetimeFigureOut">
              <a:rPr lang="es-MX" smtClean="0"/>
              <a:t>30/05/2026</a:t>
            </a:fld>
            <a:endParaRPr lang="es-MX"/>
          </a:p>
        </p:txBody>
      </p:sp>
      <p:sp>
        <p:nvSpPr>
          <p:cNvPr id="4" name="Marcador de pie de página 3">
            <a:extLst>
              <a:ext uri="{FF2B5EF4-FFF2-40B4-BE49-F238E27FC236}">
                <a16:creationId xmlns:a16="http://schemas.microsoft.com/office/drawing/2014/main" id="{76208B44-D380-A613-BBA4-8FB69171B992}"/>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ABEC75D-6308-8E12-2E05-8BD1747CDAF9}"/>
              </a:ext>
            </a:extLst>
          </p:cNvPr>
          <p:cNvSpPr>
            <a:spLocks noGrp="1"/>
          </p:cNvSpPr>
          <p:nvPr>
            <p:ph type="sldNum" sz="quarter" idx="12"/>
          </p:nvPr>
        </p:nvSpPr>
        <p:spPr/>
        <p:txBody>
          <a:bodyPr/>
          <a:lstStyle/>
          <a:p>
            <a:fld id="{25B1F674-9259-4FA1-81B1-184F31EFCC32}" type="slidenum">
              <a:rPr lang="es-MX" smtClean="0"/>
              <a:t>‹Nº›</a:t>
            </a:fld>
            <a:endParaRPr lang="es-MX"/>
          </a:p>
        </p:txBody>
      </p:sp>
    </p:spTree>
    <p:extLst>
      <p:ext uri="{BB962C8B-B14F-4D97-AF65-F5344CB8AC3E}">
        <p14:creationId xmlns:p14="http://schemas.microsoft.com/office/powerpoint/2010/main" val="1643791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CF67BD3-B935-B598-D8CF-747E8E261259}"/>
              </a:ext>
            </a:extLst>
          </p:cNvPr>
          <p:cNvSpPr>
            <a:spLocks noGrp="1"/>
          </p:cNvSpPr>
          <p:nvPr>
            <p:ph type="dt" sz="half" idx="10"/>
          </p:nvPr>
        </p:nvSpPr>
        <p:spPr/>
        <p:txBody>
          <a:bodyPr/>
          <a:lstStyle/>
          <a:p>
            <a:fld id="{CCDD0B88-448F-4CB0-B3AD-1890ED610B16}" type="datetimeFigureOut">
              <a:rPr lang="es-MX" smtClean="0"/>
              <a:t>30/05/2026</a:t>
            </a:fld>
            <a:endParaRPr lang="es-MX"/>
          </a:p>
        </p:txBody>
      </p:sp>
      <p:sp>
        <p:nvSpPr>
          <p:cNvPr id="3" name="Marcador de pie de página 2">
            <a:extLst>
              <a:ext uri="{FF2B5EF4-FFF2-40B4-BE49-F238E27FC236}">
                <a16:creationId xmlns:a16="http://schemas.microsoft.com/office/drawing/2014/main" id="{F461DB97-E46B-AC41-103F-D6D9C9387088}"/>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17E1986E-F9E9-12B0-C59E-59F42A9AA7C5}"/>
              </a:ext>
            </a:extLst>
          </p:cNvPr>
          <p:cNvSpPr>
            <a:spLocks noGrp="1"/>
          </p:cNvSpPr>
          <p:nvPr>
            <p:ph type="sldNum" sz="quarter" idx="12"/>
          </p:nvPr>
        </p:nvSpPr>
        <p:spPr/>
        <p:txBody>
          <a:bodyPr/>
          <a:lstStyle/>
          <a:p>
            <a:fld id="{25B1F674-9259-4FA1-81B1-184F31EFCC32}" type="slidenum">
              <a:rPr lang="es-MX" smtClean="0"/>
              <a:t>‹Nº›</a:t>
            </a:fld>
            <a:endParaRPr lang="es-MX"/>
          </a:p>
        </p:txBody>
      </p:sp>
    </p:spTree>
    <p:extLst>
      <p:ext uri="{BB962C8B-B14F-4D97-AF65-F5344CB8AC3E}">
        <p14:creationId xmlns:p14="http://schemas.microsoft.com/office/powerpoint/2010/main" val="515871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7CAD4B-DD30-EEA8-B3A0-E6FFD0728FC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93D8B7A-46E8-ACF4-3AD1-BBBF79483E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CDDF27C3-CD65-F6BD-F91B-BF2DC1ED2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4D655B6-CBAA-0415-C73D-5585C8405B44}"/>
              </a:ext>
            </a:extLst>
          </p:cNvPr>
          <p:cNvSpPr>
            <a:spLocks noGrp="1"/>
          </p:cNvSpPr>
          <p:nvPr>
            <p:ph type="dt" sz="half" idx="10"/>
          </p:nvPr>
        </p:nvSpPr>
        <p:spPr/>
        <p:txBody>
          <a:bodyPr/>
          <a:lstStyle/>
          <a:p>
            <a:fld id="{CCDD0B88-448F-4CB0-B3AD-1890ED610B16}" type="datetimeFigureOut">
              <a:rPr lang="es-MX" smtClean="0"/>
              <a:t>30/05/2026</a:t>
            </a:fld>
            <a:endParaRPr lang="es-MX"/>
          </a:p>
        </p:txBody>
      </p:sp>
      <p:sp>
        <p:nvSpPr>
          <p:cNvPr id="6" name="Marcador de pie de página 5">
            <a:extLst>
              <a:ext uri="{FF2B5EF4-FFF2-40B4-BE49-F238E27FC236}">
                <a16:creationId xmlns:a16="http://schemas.microsoft.com/office/drawing/2014/main" id="{43BD97D6-F71F-ED9B-2A3E-30B60C04C29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9085FDA-E97B-552F-041E-43330C7AF75B}"/>
              </a:ext>
            </a:extLst>
          </p:cNvPr>
          <p:cNvSpPr>
            <a:spLocks noGrp="1"/>
          </p:cNvSpPr>
          <p:nvPr>
            <p:ph type="sldNum" sz="quarter" idx="12"/>
          </p:nvPr>
        </p:nvSpPr>
        <p:spPr/>
        <p:txBody>
          <a:bodyPr/>
          <a:lstStyle/>
          <a:p>
            <a:fld id="{25B1F674-9259-4FA1-81B1-184F31EFCC32}" type="slidenum">
              <a:rPr lang="es-MX" smtClean="0"/>
              <a:t>‹Nº›</a:t>
            </a:fld>
            <a:endParaRPr lang="es-MX"/>
          </a:p>
        </p:txBody>
      </p:sp>
    </p:spTree>
    <p:extLst>
      <p:ext uri="{BB962C8B-B14F-4D97-AF65-F5344CB8AC3E}">
        <p14:creationId xmlns:p14="http://schemas.microsoft.com/office/powerpoint/2010/main" val="1343797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BC9903-7574-3407-ADFA-0E3895C9F3D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E8536011-C217-3543-C885-9FA5233600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2648598D-DD91-1CA3-71B4-71BCCA88C0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93E5D91-DA2A-0482-557E-6685C641A04A}"/>
              </a:ext>
            </a:extLst>
          </p:cNvPr>
          <p:cNvSpPr>
            <a:spLocks noGrp="1"/>
          </p:cNvSpPr>
          <p:nvPr>
            <p:ph type="dt" sz="half" idx="10"/>
          </p:nvPr>
        </p:nvSpPr>
        <p:spPr/>
        <p:txBody>
          <a:bodyPr/>
          <a:lstStyle/>
          <a:p>
            <a:fld id="{CCDD0B88-448F-4CB0-B3AD-1890ED610B16}" type="datetimeFigureOut">
              <a:rPr lang="es-MX" smtClean="0"/>
              <a:t>30/05/2026</a:t>
            </a:fld>
            <a:endParaRPr lang="es-MX"/>
          </a:p>
        </p:txBody>
      </p:sp>
      <p:sp>
        <p:nvSpPr>
          <p:cNvPr id="6" name="Marcador de pie de página 5">
            <a:extLst>
              <a:ext uri="{FF2B5EF4-FFF2-40B4-BE49-F238E27FC236}">
                <a16:creationId xmlns:a16="http://schemas.microsoft.com/office/drawing/2014/main" id="{28131CE2-8291-7933-0228-6BDE0F88FD5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E55DCB1-6200-FBB5-9B12-9E83C22426EE}"/>
              </a:ext>
            </a:extLst>
          </p:cNvPr>
          <p:cNvSpPr>
            <a:spLocks noGrp="1"/>
          </p:cNvSpPr>
          <p:nvPr>
            <p:ph type="sldNum" sz="quarter" idx="12"/>
          </p:nvPr>
        </p:nvSpPr>
        <p:spPr/>
        <p:txBody>
          <a:bodyPr/>
          <a:lstStyle/>
          <a:p>
            <a:fld id="{25B1F674-9259-4FA1-81B1-184F31EFCC32}" type="slidenum">
              <a:rPr lang="es-MX" smtClean="0"/>
              <a:t>‹Nº›</a:t>
            </a:fld>
            <a:endParaRPr lang="es-MX"/>
          </a:p>
        </p:txBody>
      </p:sp>
    </p:spTree>
    <p:extLst>
      <p:ext uri="{BB962C8B-B14F-4D97-AF65-F5344CB8AC3E}">
        <p14:creationId xmlns:p14="http://schemas.microsoft.com/office/powerpoint/2010/main" val="2557372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C76069-2ADB-1E81-B8BD-AE8FC1F009A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E80ED98-33F7-2FB5-9978-386E2BC27AD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C83BC5A-D7E7-6F2C-3B3B-28C0A8DB97E9}"/>
              </a:ext>
            </a:extLst>
          </p:cNvPr>
          <p:cNvSpPr>
            <a:spLocks noGrp="1"/>
          </p:cNvSpPr>
          <p:nvPr>
            <p:ph type="dt" sz="half" idx="10"/>
          </p:nvPr>
        </p:nvSpPr>
        <p:spPr/>
        <p:txBody>
          <a:bodyPr/>
          <a:lstStyle/>
          <a:p>
            <a:fld id="{CCDD0B88-448F-4CB0-B3AD-1890ED610B16}" type="datetimeFigureOut">
              <a:rPr lang="es-MX" smtClean="0"/>
              <a:t>30/05/2026</a:t>
            </a:fld>
            <a:endParaRPr lang="es-MX"/>
          </a:p>
        </p:txBody>
      </p:sp>
      <p:sp>
        <p:nvSpPr>
          <p:cNvPr id="5" name="Marcador de pie de página 4">
            <a:extLst>
              <a:ext uri="{FF2B5EF4-FFF2-40B4-BE49-F238E27FC236}">
                <a16:creationId xmlns:a16="http://schemas.microsoft.com/office/drawing/2014/main" id="{1B75AB60-C7EB-B91F-7D29-7879EEB63C3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CB57D48-DD9D-0C06-68AF-6920CDA68A40}"/>
              </a:ext>
            </a:extLst>
          </p:cNvPr>
          <p:cNvSpPr>
            <a:spLocks noGrp="1"/>
          </p:cNvSpPr>
          <p:nvPr>
            <p:ph type="sldNum" sz="quarter" idx="12"/>
          </p:nvPr>
        </p:nvSpPr>
        <p:spPr/>
        <p:txBody>
          <a:bodyPr/>
          <a:lstStyle/>
          <a:p>
            <a:fld id="{25B1F674-9259-4FA1-81B1-184F31EFCC32}" type="slidenum">
              <a:rPr lang="es-MX" smtClean="0"/>
              <a:t>‹Nº›</a:t>
            </a:fld>
            <a:endParaRPr lang="es-MX"/>
          </a:p>
        </p:txBody>
      </p:sp>
    </p:spTree>
    <p:extLst>
      <p:ext uri="{BB962C8B-B14F-4D97-AF65-F5344CB8AC3E}">
        <p14:creationId xmlns:p14="http://schemas.microsoft.com/office/powerpoint/2010/main" val="906504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4AABE78-2757-611F-A087-DDD5F5C5734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39BCFB9-26C3-C1FF-F45F-C3B4F1282A6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07A1E5A-9539-82BC-D165-C580F94950EC}"/>
              </a:ext>
            </a:extLst>
          </p:cNvPr>
          <p:cNvSpPr>
            <a:spLocks noGrp="1"/>
          </p:cNvSpPr>
          <p:nvPr>
            <p:ph type="dt" sz="half" idx="10"/>
          </p:nvPr>
        </p:nvSpPr>
        <p:spPr/>
        <p:txBody>
          <a:bodyPr/>
          <a:lstStyle/>
          <a:p>
            <a:fld id="{CCDD0B88-448F-4CB0-B3AD-1890ED610B16}" type="datetimeFigureOut">
              <a:rPr lang="es-MX" smtClean="0"/>
              <a:t>30/05/2026</a:t>
            </a:fld>
            <a:endParaRPr lang="es-MX"/>
          </a:p>
        </p:txBody>
      </p:sp>
      <p:sp>
        <p:nvSpPr>
          <p:cNvPr id="5" name="Marcador de pie de página 4">
            <a:extLst>
              <a:ext uri="{FF2B5EF4-FFF2-40B4-BE49-F238E27FC236}">
                <a16:creationId xmlns:a16="http://schemas.microsoft.com/office/drawing/2014/main" id="{9746CCDC-0F6B-A655-FD4B-DCACE6CA6DF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B259D5E-B360-B10B-F57E-21C7CD796D11}"/>
              </a:ext>
            </a:extLst>
          </p:cNvPr>
          <p:cNvSpPr>
            <a:spLocks noGrp="1"/>
          </p:cNvSpPr>
          <p:nvPr>
            <p:ph type="sldNum" sz="quarter" idx="12"/>
          </p:nvPr>
        </p:nvSpPr>
        <p:spPr/>
        <p:txBody>
          <a:bodyPr/>
          <a:lstStyle/>
          <a:p>
            <a:fld id="{25B1F674-9259-4FA1-81B1-184F31EFCC32}" type="slidenum">
              <a:rPr lang="es-MX" smtClean="0"/>
              <a:t>‹Nº›</a:t>
            </a:fld>
            <a:endParaRPr lang="es-MX"/>
          </a:p>
        </p:txBody>
      </p:sp>
    </p:spTree>
    <p:extLst>
      <p:ext uri="{BB962C8B-B14F-4D97-AF65-F5344CB8AC3E}">
        <p14:creationId xmlns:p14="http://schemas.microsoft.com/office/powerpoint/2010/main" val="1789275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111FA86-A661-5FDE-E64D-BDE033146E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051B2C1-BE57-5388-1F74-D0E4EA76DD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35F53FB-B37B-235C-585C-67871DAD44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DD0B88-448F-4CB0-B3AD-1890ED610B16}" type="datetimeFigureOut">
              <a:rPr lang="es-MX" smtClean="0"/>
              <a:t>30/05/2026</a:t>
            </a:fld>
            <a:endParaRPr lang="es-MX"/>
          </a:p>
        </p:txBody>
      </p:sp>
      <p:sp>
        <p:nvSpPr>
          <p:cNvPr id="5" name="Marcador de pie de página 4">
            <a:extLst>
              <a:ext uri="{FF2B5EF4-FFF2-40B4-BE49-F238E27FC236}">
                <a16:creationId xmlns:a16="http://schemas.microsoft.com/office/drawing/2014/main" id="{4487F9EB-FCD4-4B6F-FBE6-4E371895E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786F30E1-21C0-29DA-9974-E8C66FD8C2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B1F674-9259-4FA1-81B1-184F31EFCC32}" type="slidenum">
              <a:rPr lang="es-MX" smtClean="0"/>
              <a:t>‹Nº›</a:t>
            </a:fld>
            <a:endParaRPr lang="es-MX"/>
          </a:p>
        </p:txBody>
      </p:sp>
    </p:spTree>
    <p:extLst>
      <p:ext uri="{BB962C8B-B14F-4D97-AF65-F5344CB8AC3E}">
        <p14:creationId xmlns:p14="http://schemas.microsoft.com/office/powerpoint/2010/main" val="580312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F2A412E3-6BEC-18B2-1B45-D7274A3066C7}"/>
              </a:ext>
            </a:extLst>
          </p:cNvPr>
          <p:cNvSpPr txBox="1"/>
          <p:nvPr/>
        </p:nvSpPr>
        <p:spPr>
          <a:xfrm>
            <a:off x="2374586" y="2011396"/>
            <a:ext cx="7644625" cy="4678204"/>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Administración</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4.2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24 de Mayo del 2026</a:t>
            </a:r>
          </a:p>
        </p:txBody>
      </p:sp>
      <p:sp>
        <p:nvSpPr>
          <p:cNvPr id="5" name="TextBox 8">
            <a:extLst>
              <a:ext uri="{FF2B5EF4-FFF2-40B4-BE49-F238E27FC236}">
                <a16:creationId xmlns:a16="http://schemas.microsoft.com/office/drawing/2014/main" id="{6A588329-8E0F-836C-CF1F-8C55AA03F375}"/>
              </a:ext>
            </a:extLst>
          </p:cNvPr>
          <p:cNvSpPr txBox="1"/>
          <p:nvPr/>
        </p:nvSpPr>
        <p:spPr>
          <a:xfrm>
            <a:off x="2018662" y="1127967"/>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42454839-18B2-909A-CD8D-DA438A50D266}"/>
              </a:ext>
            </a:extLst>
          </p:cNvPr>
          <p:cNvGrpSpPr/>
          <p:nvPr/>
        </p:nvGrpSpPr>
        <p:grpSpPr>
          <a:xfrm>
            <a:off x="900094" y="85695"/>
            <a:ext cx="1833537" cy="1054536"/>
            <a:chOff x="0" y="0"/>
            <a:chExt cx="3073400" cy="1308100"/>
          </a:xfrm>
        </p:grpSpPr>
        <p:sp>
          <p:nvSpPr>
            <p:cNvPr id="7" name="Freeform 3">
              <a:extLst>
                <a:ext uri="{FF2B5EF4-FFF2-40B4-BE49-F238E27FC236}">
                  <a16:creationId xmlns:a16="http://schemas.microsoft.com/office/drawing/2014/main" id="{C0545159-6849-656B-D1A9-04E5767DC82A}"/>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94080276-FC47-F7A9-92C3-24E5206DAD45}"/>
              </a:ext>
            </a:extLst>
          </p:cNvPr>
          <p:cNvGrpSpPr/>
          <p:nvPr/>
        </p:nvGrpSpPr>
        <p:grpSpPr>
          <a:xfrm>
            <a:off x="10101943" y="167651"/>
            <a:ext cx="1517156" cy="890624"/>
            <a:chOff x="0" y="0"/>
            <a:chExt cx="1981200" cy="1625600"/>
          </a:xfrm>
        </p:grpSpPr>
        <p:sp>
          <p:nvSpPr>
            <p:cNvPr id="9" name="Freeform 5">
              <a:extLst>
                <a:ext uri="{FF2B5EF4-FFF2-40B4-BE49-F238E27FC236}">
                  <a16:creationId xmlns:a16="http://schemas.microsoft.com/office/drawing/2014/main" id="{C7804C48-2CA1-0B0A-DB16-3B708B4F2BA6}"/>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B8094DC6-605C-144E-88B7-E8A8B085DF49}"/>
              </a:ext>
            </a:extLst>
          </p:cNvPr>
          <p:cNvGrpSpPr/>
          <p:nvPr/>
        </p:nvGrpSpPr>
        <p:grpSpPr>
          <a:xfrm>
            <a:off x="4853273" y="255009"/>
            <a:ext cx="2687249" cy="587136"/>
            <a:chOff x="0" y="0"/>
            <a:chExt cx="4343400" cy="901700"/>
          </a:xfrm>
        </p:grpSpPr>
        <p:sp>
          <p:nvSpPr>
            <p:cNvPr id="11" name="Freeform 7">
              <a:extLst>
                <a:ext uri="{FF2B5EF4-FFF2-40B4-BE49-F238E27FC236}">
                  <a16:creationId xmlns:a16="http://schemas.microsoft.com/office/drawing/2014/main" id="{831B6C43-5136-1484-52DB-027FDC92DFE6}"/>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2152504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B37674-14B3-EA6D-49CB-9F05B5855683}"/>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1AD9F875-DDD8-6B48-9CF8-79DE09B40F4C}"/>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En el desarrollo de aplicaciones basadas en microservicios es fundamental contar con mecanismos que permitan monitorear y registrar las operaciones que realiza el sistema. Los logs constituyen una herramienta esencial para el seguimiento de eventos, la detección de errores y la supervisión del comportamiento de los servicios durante su ejecución.</a:t>
            </a:r>
          </a:p>
          <a:p>
            <a:pPr marL="0" indent="0" algn="just">
              <a:buNone/>
            </a:pPr>
            <a:r>
              <a:rPr lang="es-MX" sz="2000" dirty="0">
                <a:latin typeface="Arial" panose="020B0604020202020204" pitchFamily="34" charset="0"/>
                <a:cs typeface="Arial" panose="020B0604020202020204" pitchFamily="34" charset="0"/>
              </a:rPr>
              <a:t>En la presente práctica se implementó el uso de registros de eventos (logs) en un microservicio desarrollado con Spring </a:t>
            </a:r>
            <a:r>
              <a:rPr lang="es-MX" sz="2000" dirty="0" err="1">
                <a:latin typeface="Arial" panose="020B0604020202020204" pitchFamily="34" charset="0"/>
                <a:cs typeface="Arial" panose="020B0604020202020204" pitchFamily="34" charset="0"/>
              </a:rPr>
              <a:t>Boot</a:t>
            </a:r>
            <a:r>
              <a:rPr lang="es-MX" sz="2000" dirty="0">
                <a:latin typeface="Arial" panose="020B0604020202020204" pitchFamily="34" charset="0"/>
                <a:cs typeface="Arial" panose="020B0604020202020204" pitchFamily="34" charset="0"/>
              </a:rPr>
              <a:t>, utilizando la librería SLF4J. Se agregaron mensajes informativos en diferentes operaciones del sistema, tales como consultas, inserciones de datos y comunicación entre microservicios. Asimismo, se realizaron pruebas mediante herramientas como Bruno, Eureka Server y </a:t>
            </a:r>
            <a:r>
              <a:rPr lang="es-MX" sz="2000" dirty="0" err="1">
                <a:latin typeface="Arial" panose="020B0604020202020204" pitchFamily="34" charset="0"/>
                <a:cs typeface="Arial" panose="020B0604020202020204" pitchFamily="34" charset="0"/>
              </a:rPr>
              <a:t>DBeaver</a:t>
            </a:r>
            <a:r>
              <a:rPr lang="es-MX" sz="2000" dirty="0">
                <a:latin typeface="Arial" panose="020B0604020202020204" pitchFamily="34" charset="0"/>
                <a:cs typeface="Arial" panose="020B0604020202020204" pitchFamily="34" charset="0"/>
              </a:rPr>
              <a:t> para verificar el correcto funcionamiento de los registros generados y validar la información almacenada en la base de datos.</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745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B8D595-BF1F-D42F-3F23-7A1964B76ADA}"/>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839A97B0-7128-D8C2-4618-B8E53DAD656F}"/>
              </a:ext>
            </a:extLst>
          </p:cNvPr>
          <p:cNvSpPr>
            <a:spLocks noGrp="1"/>
          </p:cNvSpPr>
          <p:nvPr>
            <p:ph idx="1"/>
          </p:nvPr>
        </p:nvSpPr>
        <p:spPr/>
        <p:txBody>
          <a:bodyPr>
            <a:normAutofit/>
          </a:bodyPr>
          <a:lstStyle/>
          <a:p>
            <a:pPr marL="0" indent="0" algn="just">
              <a:buNone/>
            </a:pPr>
            <a:r>
              <a:rPr lang="es-MX" sz="2000" dirty="0"/>
              <a:t>La implementación de logs en aplicaciones distribuidas permite conocer de manera detallada las actividades que realiza cada microservicio, facilitando la administración, monitoreo y mantenimiento del sistema. Además, los registros ayudan a identificar errores, verificar la correcta ejecución de procesos y mejorar las tareas de depuración durante el desarrollo de software.</a:t>
            </a:r>
          </a:p>
          <a:p>
            <a:pPr marL="0" indent="0" algn="just">
              <a:buNone/>
            </a:pPr>
            <a:r>
              <a:rPr lang="es-MX" sz="2000" dirty="0"/>
              <a:t>Esta práctica se llevó a cabo con el propósito de comprender la importancia de los logs dentro de una arquitectura de microservicios, así como aprender a registrar eventos relevantes mediante herramientas proporcionadas por Spring </a:t>
            </a:r>
            <a:r>
              <a:rPr lang="es-MX" sz="2000" dirty="0" err="1"/>
              <a:t>Boot</a:t>
            </a:r>
            <a:r>
              <a:rPr lang="es-MX" sz="2000" dirty="0"/>
              <a:t>. La aplicación de estas técnicas contribuye a fortalecer las habilidades necesarias para el desarrollo de sistemas empresariales más seguros, confiables y fáciles de mantener.</a:t>
            </a:r>
          </a:p>
          <a:p>
            <a:pPr marL="0" indent="0" algn="just">
              <a:buNone/>
            </a:pPr>
            <a:endParaRPr lang="es-MX" sz="2000" dirty="0"/>
          </a:p>
        </p:txBody>
      </p:sp>
    </p:spTree>
    <p:extLst>
      <p:ext uri="{BB962C8B-B14F-4D97-AF65-F5344CB8AC3E}">
        <p14:creationId xmlns:p14="http://schemas.microsoft.com/office/powerpoint/2010/main" val="2737763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F2CC6E-0ADA-BB03-6C09-AC2D7467B94A}"/>
              </a:ext>
            </a:extLst>
          </p:cNvPr>
          <p:cNvSpPr>
            <a:spLocks noGrp="1"/>
          </p:cNvSpPr>
          <p:nvPr>
            <p:ph type="title"/>
          </p:nvPr>
        </p:nvSpPr>
        <p:spPr>
          <a:xfrm>
            <a:off x="1257300" y="136526"/>
            <a:ext cx="10185400" cy="537170"/>
          </a:xfrm>
        </p:spPr>
        <p:txBody>
          <a:bodyPr>
            <a:normAutofit fontScale="90000"/>
          </a:bodyPr>
          <a:lstStyle/>
          <a:p>
            <a:r>
              <a:rPr lang="es-MX" dirty="0"/>
              <a:t>Configuración del controlador y del </a:t>
            </a:r>
            <a:r>
              <a:rPr lang="es-MX" dirty="0" err="1"/>
              <a:t>Logger</a:t>
            </a:r>
            <a:endParaRPr lang="es-MX" dirty="0"/>
          </a:p>
        </p:txBody>
      </p:sp>
      <p:sp>
        <p:nvSpPr>
          <p:cNvPr id="3" name="Marcador de contenido 2">
            <a:extLst>
              <a:ext uri="{FF2B5EF4-FFF2-40B4-BE49-F238E27FC236}">
                <a16:creationId xmlns:a16="http://schemas.microsoft.com/office/drawing/2014/main" id="{EFA9139B-C740-8BCC-1B29-B91F7A905F63}"/>
              </a:ext>
            </a:extLst>
          </p:cNvPr>
          <p:cNvSpPr>
            <a:spLocks noGrp="1"/>
          </p:cNvSpPr>
          <p:nvPr>
            <p:ph idx="1"/>
          </p:nvPr>
        </p:nvSpPr>
        <p:spPr>
          <a:xfrm>
            <a:off x="241300" y="785429"/>
            <a:ext cx="11772900" cy="357571"/>
          </a:xfrm>
        </p:spPr>
        <p:txBody>
          <a:bodyPr>
            <a:normAutofit fontScale="92500" lnSpcReduction="20000"/>
          </a:bodyPr>
          <a:lstStyle/>
          <a:p>
            <a:pPr marL="0" indent="0">
              <a:buNone/>
            </a:pPr>
            <a:r>
              <a:rPr lang="es-MX" sz="2400" b="1" dirty="0">
                <a:solidFill>
                  <a:schemeClr val="tx2"/>
                </a:solidFill>
              </a:rPr>
              <a:t>Implementación del controlador </a:t>
            </a:r>
            <a:r>
              <a:rPr lang="es-MX" sz="2400" b="1" dirty="0" err="1">
                <a:solidFill>
                  <a:schemeClr val="tx2"/>
                </a:solidFill>
              </a:rPr>
              <a:t>StudentController</a:t>
            </a:r>
            <a:r>
              <a:rPr lang="es-MX" sz="2400" b="1" dirty="0">
                <a:solidFill>
                  <a:schemeClr val="tx2"/>
                </a:solidFill>
              </a:rPr>
              <a:t> y configuración del sistema de logs.</a:t>
            </a:r>
          </a:p>
        </p:txBody>
      </p:sp>
      <p:sp>
        <p:nvSpPr>
          <p:cNvPr id="4" name="Rectangle 1">
            <a:extLst>
              <a:ext uri="{FF2B5EF4-FFF2-40B4-BE49-F238E27FC236}">
                <a16:creationId xmlns:a16="http://schemas.microsoft.com/office/drawing/2014/main" id="{A1677339-C872-B9CA-66F7-464AD3193779}"/>
              </a:ext>
            </a:extLst>
          </p:cNvPr>
          <p:cNvSpPr>
            <a:spLocks noChangeArrowheads="1"/>
          </p:cNvSpPr>
          <p:nvPr/>
        </p:nvSpPr>
        <p:spPr bwMode="auto">
          <a:xfrm>
            <a:off x="271660" y="1242380"/>
            <a:ext cx="470535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dirty="0"/>
              <a:t>En esta sección se muestra la creación de la clase </a:t>
            </a:r>
            <a:r>
              <a:rPr lang="es-MX" altLang="es-MX" dirty="0" err="1"/>
              <a:t>StudentController</a:t>
            </a:r>
            <a:r>
              <a:rPr lang="es-MX" altLang="es-MX" dirty="0"/>
              <a:t>, encargada de gestionar las peticiones HTTP relacionadas con los estudiantes dentro del microservicio. </a:t>
            </a:r>
          </a:p>
        </p:txBody>
      </p:sp>
      <p:pic>
        <p:nvPicPr>
          <p:cNvPr id="6" name="Imagen 5">
            <a:extLst>
              <a:ext uri="{FF2B5EF4-FFF2-40B4-BE49-F238E27FC236}">
                <a16:creationId xmlns:a16="http://schemas.microsoft.com/office/drawing/2014/main" id="{C70B40D8-F49F-BE31-9255-8337AE144EF2}"/>
              </a:ext>
            </a:extLst>
          </p:cNvPr>
          <p:cNvPicPr>
            <a:picLocks noChangeAspect="1"/>
          </p:cNvPicPr>
          <p:nvPr/>
        </p:nvPicPr>
        <p:blipFill>
          <a:blip r:embed="rId2"/>
          <a:stretch>
            <a:fillRect/>
          </a:stretch>
        </p:blipFill>
        <p:spPr>
          <a:xfrm>
            <a:off x="332679" y="2504985"/>
            <a:ext cx="4583311" cy="2207591"/>
          </a:xfrm>
          <a:prstGeom prst="rect">
            <a:avLst/>
          </a:prstGeom>
        </p:spPr>
      </p:pic>
      <p:sp>
        <p:nvSpPr>
          <p:cNvPr id="7" name="Rectangle 2">
            <a:extLst>
              <a:ext uri="{FF2B5EF4-FFF2-40B4-BE49-F238E27FC236}">
                <a16:creationId xmlns:a16="http://schemas.microsoft.com/office/drawing/2014/main" id="{1FD998B3-6806-2E88-FECF-E1F75D113EBE}"/>
              </a:ext>
            </a:extLst>
          </p:cNvPr>
          <p:cNvSpPr>
            <a:spLocks noChangeArrowheads="1"/>
          </p:cNvSpPr>
          <p:nvPr/>
        </p:nvSpPr>
        <p:spPr bwMode="auto">
          <a:xfrm>
            <a:off x="260349" y="4774853"/>
            <a:ext cx="485001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dirty="0"/>
              <a:t>La anotación @RestController indica que esta clase funcionará como un controlador REST, permitiendo exponer </a:t>
            </a:r>
            <a:r>
              <a:rPr lang="es-MX" altLang="es-MX" dirty="0" err="1"/>
              <a:t>endpoints</a:t>
            </a:r>
            <a:r>
              <a:rPr lang="es-MX" altLang="es-MX" dirty="0"/>
              <a:t> para recibir y responder solicitudes HTTP como GET y POST. </a:t>
            </a:r>
          </a:p>
        </p:txBody>
      </p:sp>
      <p:sp>
        <p:nvSpPr>
          <p:cNvPr id="9" name="CuadroTexto 8">
            <a:extLst>
              <a:ext uri="{FF2B5EF4-FFF2-40B4-BE49-F238E27FC236}">
                <a16:creationId xmlns:a16="http://schemas.microsoft.com/office/drawing/2014/main" id="{BAE592C3-32E0-095E-7F6C-8BFD3BB035AB}"/>
              </a:ext>
            </a:extLst>
          </p:cNvPr>
          <p:cNvSpPr txBox="1"/>
          <p:nvPr/>
        </p:nvSpPr>
        <p:spPr>
          <a:xfrm>
            <a:off x="5374852" y="1217177"/>
            <a:ext cx="6096000" cy="646331"/>
          </a:xfrm>
          <a:prstGeom prst="rect">
            <a:avLst/>
          </a:prstGeom>
          <a:noFill/>
        </p:spPr>
        <p:txBody>
          <a:bodyPr wrap="square">
            <a:spAutoFit/>
          </a:bodyPr>
          <a:lstStyle/>
          <a:p>
            <a:r>
              <a:rPr lang="es-MX" dirty="0"/>
              <a:t>Posteriormente se implementa la configuración del sistema de registros mediante la librería SLF4J:</a:t>
            </a:r>
          </a:p>
        </p:txBody>
      </p:sp>
      <p:pic>
        <p:nvPicPr>
          <p:cNvPr id="11" name="Imagen 10">
            <a:extLst>
              <a:ext uri="{FF2B5EF4-FFF2-40B4-BE49-F238E27FC236}">
                <a16:creationId xmlns:a16="http://schemas.microsoft.com/office/drawing/2014/main" id="{F4D9A78E-B8C8-4F5D-83A7-FA56FBC1720D}"/>
              </a:ext>
            </a:extLst>
          </p:cNvPr>
          <p:cNvPicPr>
            <a:picLocks noChangeAspect="1"/>
          </p:cNvPicPr>
          <p:nvPr/>
        </p:nvPicPr>
        <p:blipFill>
          <a:blip r:embed="rId3"/>
          <a:stretch>
            <a:fillRect/>
          </a:stretch>
        </p:blipFill>
        <p:spPr>
          <a:xfrm>
            <a:off x="5403006" y="1901064"/>
            <a:ext cx="6039693" cy="876422"/>
          </a:xfrm>
          <a:prstGeom prst="rect">
            <a:avLst/>
          </a:prstGeom>
        </p:spPr>
      </p:pic>
      <p:sp>
        <p:nvSpPr>
          <p:cNvPr id="14" name="Rectangle 3">
            <a:extLst>
              <a:ext uri="{FF2B5EF4-FFF2-40B4-BE49-F238E27FC236}">
                <a16:creationId xmlns:a16="http://schemas.microsoft.com/office/drawing/2014/main" id="{B32CDEA9-E32C-D775-49CA-C4FA538C0C34}"/>
              </a:ext>
            </a:extLst>
          </p:cNvPr>
          <p:cNvSpPr>
            <a:spLocks noChangeArrowheads="1"/>
          </p:cNvSpPr>
          <p:nvPr/>
        </p:nvSpPr>
        <p:spPr bwMode="auto">
          <a:xfrm>
            <a:off x="5374852" y="2815042"/>
            <a:ext cx="61860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dirty="0"/>
              <a:t>Esta instrucción crea una instancia de tipo </a:t>
            </a:r>
            <a:r>
              <a:rPr lang="es-MX" altLang="es-MX" dirty="0" err="1"/>
              <a:t>Logger</a:t>
            </a:r>
            <a:r>
              <a:rPr lang="es-MX" altLang="es-MX" dirty="0"/>
              <a:t>, la cual permitirá registrar mensajes informativos durante la ejecución de la aplicación. </a:t>
            </a:r>
          </a:p>
        </p:txBody>
      </p:sp>
      <p:sp>
        <p:nvSpPr>
          <p:cNvPr id="16" name="CuadroTexto 15">
            <a:extLst>
              <a:ext uri="{FF2B5EF4-FFF2-40B4-BE49-F238E27FC236}">
                <a16:creationId xmlns:a16="http://schemas.microsoft.com/office/drawing/2014/main" id="{2CCB6983-35E7-C789-0A76-65636909190B}"/>
              </a:ext>
            </a:extLst>
          </p:cNvPr>
          <p:cNvSpPr txBox="1"/>
          <p:nvPr/>
        </p:nvSpPr>
        <p:spPr>
          <a:xfrm>
            <a:off x="5403006" y="3932989"/>
            <a:ext cx="6096000" cy="2031325"/>
          </a:xfrm>
          <a:prstGeom prst="rect">
            <a:avLst/>
          </a:prstGeom>
          <a:noFill/>
        </p:spPr>
        <p:txBody>
          <a:bodyPr wrap="square">
            <a:spAutoFit/>
          </a:bodyPr>
          <a:lstStyle/>
          <a:p>
            <a:r>
              <a:rPr lang="es-MX" dirty="0"/>
              <a:t>El uso de logs resulta importante porque permite:</a:t>
            </a:r>
          </a:p>
          <a:p>
            <a:pPr marL="285750" indent="-285750">
              <a:buFont typeface="Arial" panose="020B0604020202020204" pitchFamily="34" charset="0"/>
              <a:buChar char="•"/>
            </a:pPr>
            <a:r>
              <a:rPr lang="es-MX" dirty="0"/>
              <a:t>Monitorear el funcionamiento del microservicio.</a:t>
            </a:r>
          </a:p>
          <a:p>
            <a:pPr marL="285750" indent="-285750">
              <a:buFont typeface="Arial" panose="020B0604020202020204" pitchFamily="34" charset="0"/>
              <a:buChar char="•"/>
            </a:pPr>
            <a:r>
              <a:rPr lang="es-MX" dirty="0"/>
              <a:t>Registrar eventos importantes.</a:t>
            </a:r>
          </a:p>
          <a:p>
            <a:pPr marL="285750" indent="-285750">
              <a:buFont typeface="Arial" panose="020B0604020202020204" pitchFamily="34" charset="0"/>
              <a:buChar char="•"/>
            </a:pPr>
            <a:r>
              <a:rPr lang="es-MX" dirty="0"/>
              <a:t>Detectar errores durante la ejecución.</a:t>
            </a:r>
          </a:p>
          <a:p>
            <a:pPr marL="285750" indent="-285750">
              <a:buFont typeface="Arial" panose="020B0604020202020204" pitchFamily="34" charset="0"/>
              <a:buChar char="•"/>
            </a:pPr>
            <a:r>
              <a:rPr lang="es-MX" dirty="0"/>
              <a:t>Facilitar tareas de mantenimiento y depuración.</a:t>
            </a:r>
          </a:p>
          <a:p>
            <a:pPr marL="285750" indent="-285750">
              <a:buFont typeface="Arial" panose="020B0604020202020204" pitchFamily="34" charset="0"/>
              <a:buChar char="•"/>
            </a:pPr>
            <a:r>
              <a:rPr lang="es-MX" dirty="0"/>
              <a:t>Dar seguimiento a las solicitudes realizadas por los usuarios.</a:t>
            </a:r>
          </a:p>
        </p:txBody>
      </p:sp>
    </p:spTree>
    <p:extLst>
      <p:ext uri="{BB962C8B-B14F-4D97-AF65-F5344CB8AC3E}">
        <p14:creationId xmlns:p14="http://schemas.microsoft.com/office/powerpoint/2010/main" val="1757362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E24ED6C-C5B0-E841-0DD4-7F6BC5E240D0}"/>
              </a:ext>
            </a:extLst>
          </p:cNvPr>
          <p:cNvSpPr txBox="1"/>
          <p:nvPr/>
        </p:nvSpPr>
        <p:spPr>
          <a:xfrm>
            <a:off x="31729" y="194697"/>
            <a:ext cx="4432300" cy="923330"/>
          </a:xfrm>
          <a:prstGeom prst="rect">
            <a:avLst/>
          </a:prstGeom>
          <a:noFill/>
        </p:spPr>
        <p:txBody>
          <a:bodyPr wrap="square">
            <a:spAutoFit/>
          </a:bodyPr>
          <a:lstStyle/>
          <a:p>
            <a:pPr algn="just"/>
            <a:r>
              <a:rPr lang="es-MX" dirty="0"/>
              <a:t>Además, dentro del controlador se inyectan las dependencias necesarias mediante @Autowired.</a:t>
            </a:r>
          </a:p>
        </p:txBody>
      </p:sp>
      <p:pic>
        <p:nvPicPr>
          <p:cNvPr id="7" name="Imagen 6">
            <a:extLst>
              <a:ext uri="{FF2B5EF4-FFF2-40B4-BE49-F238E27FC236}">
                <a16:creationId xmlns:a16="http://schemas.microsoft.com/office/drawing/2014/main" id="{47B6CA29-6405-BC49-B5B4-6DB28F654F12}"/>
              </a:ext>
            </a:extLst>
          </p:cNvPr>
          <p:cNvPicPr>
            <a:picLocks noChangeAspect="1"/>
          </p:cNvPicPr>
          <p:nvPr/>
        </p:nvPicPr>
        <p:blipFill>
          <a:blip r:embed="rId2"/>
          <a:stretch>
            <a:fillRect/>
          </a:stretch>
        </p:blipFill>
        <p:spPr>
          <a:xfrm>
            <a:off x="104455" y="1106663"/>
            <a:ext cx="4286848" cy="600159"/>
          </a:xfrm>
          <a:prstGeom prst="rect">
            <a:avLst/>
          </a:prstGeom>
        </p:spPr>
      </p:pic>
      <p:sp>
        <p:nvSpPr>
          <p:cNvPr id="9" name="CuadroTexto 8">
            <a:extLst>
              <a:ext uri="{FF2B5EF4-FFF2-40B4-BE49-F238E27FC236}">
                <a16:creationId xmlns:a16="http://schemas.microsoft.com/office/drawing/2014/main" id="{BB26B0E1-8E00-C3F7-B1FB-2E39F49F2559}"/>
              </a:ext>
            </a:extLst>
          </p:cNvPr>
          <p:cNvSpPr txBox="1"/>
          <p:nvPr/>
        </p:nvSpPr>
        <p:spPr>
          <a:xfrm>
            <a:off x="4536755" y="149748"/>
            <a:ext cx="3982006" cy="923330"/>
          </a:xfrm>
          <a:prstGeom prst="rect">
            <a:avLst/>
          </a:prstGeom>
          <a:noFill/>
        </p:spPr>
        <p:txBody>
          <a:bodyPr wrap="square">
            <a:spAutoFit/>
          </a:bodyPr>
          <a:lstStyle/>
          <a:p>
            <a:pPr algn="just"/>
            <a:r>
              <a:rPr lang="es-MX" dirty="0"/>
              <a:t>Permite acceder a la base de datos para realizar operaciones CRUD sobre los estudiantes.</a:t>
            </a:r>
          </a:p>
        </p:txBody>
      </p:sp>
      <p:pic>
        <p:nvPicPr>
          <p:cNvPr id="11" name="Imagen 10">
            <a:extLst>
              <a:ext uri="{FF2B5EF4-FFF2-40B4-BE49-F238E27FC236}">
                <a16:creationId xmlns:a16="http://schemas.microsoft.com/office/drawing/2014/main" id="{F7A63EE5-286D-E3DA-FF84-9494AA2BCBC1}"/>
              </a:ext>
            </a:extLst>
          </p:cNvPr>
          <p:cNvPicPr>
            <a:picLocks noChangeAspect="1"/>
          </p:cNvPicPr>
          <p:nvPr/>
        </p:nvPicPr>
        <p:blipFill>
          <a:blip r:embed="rId3"/>
          <a:stretch>
            <a:fillRect/>
          </a:stretch>
        </p:blipFill>
        <p:spPr>
          <a:xfrm>
            <a:off x="4536755" y="1120262"/>
            <a:ext cx="3982006" cy="676369"/>
          </a:xfrm>
          <a:prstGeom prst="rect">
            <a:avLst/>
          </a:prstGeom>
        </p:spPr>
      </p:pic>
      <p:sp>
        <p:nvSpPr>
          <p:cNvPr id="13" name="CuadroTexto 12">
            <a:extLst>
              <a:ext uri="{FF2B5EF4-FFF2-40B4-BE49-F238E27FC236}">
                <a16:creationId xmlns:a16="http://schemas.microsoft.com/office/drawing/2014/main" id="{AA90A01D-D314-8656-0383-39E673D7188F}"/>
              </a:ext>
            </a:extLst>
          </p:cNvPr>
          <p:cNvSpPr txBox="1"/>
          <p:nvPr/>
        </p:nvSpPr>
        <p:spPr>
          <a:xfrm>
            <a:off x="8623216" y="145946"/>
            <a:ext cx="3568784" cy="923330"/>
          </a:xfrm>
          <a:prstGeom prst="rect">
            <a:avLst/>
          </a:prstGeom>
          <a:noFill/>
        </p:spPr>
        <p:txBody>
          <a:bodyPr wrap="square">
            <a:spAutoFit/>
          </a:bodyPr>
          <a:lstStyle/>
          <a:p>
            <a:pPr algn="just"/>
            <a:r>
              <a:rPr lang="es-MX" dirty="0"/>
              <a:t>Permite establecer comunicación con otros microservicios dentro de la arquitectura implementada.</a:t>
            </a:r>
          </a:p>
        </p:txBody>
      </p:sp>
      <p:sp>
        <p:nvSpPr>
          <p:cNvPr id="15" name="CuadroTexto 14">
            <a:extLst>
              <a:ext uri="{FF2B5EF4-FFF2-40B4-BE49-F238E27FC236}">
                <a16:creationId xmlns:a16="http://schemas.microsoft.com/office/drawing/2014/main" id="{23ABD179-C5BF-6DAD-1E3B-AE819447F208}"/>
              </a:ext>
            </a:extLst>
          </p:cNvPr>
          <p:cNvSpPr txBox="1"/>
          <p:nvPr/>
        </p:nvSpPr>
        <p:spPr>
          <a:xfrm>
            <a:off x="0" y="1720582"/>
            <a:ext cx="12192000" cy="646331"/>
          </a:xfrm>
          <a:prstGeom prst="rect">
            <a:avLst/>
          </a:prstGeom>
          <a:noFill/>
        </p:spPr>
        <p:txBody>
          <a:bodyPr wrap="square">
            <a:spAutoFit/>
          </a:bodyPr>
          <a:lstStyle/>
          <a:p>
            <a:pPr algn="just"/>
            <a:r>
              <a:rPr lang="es-MX" dirty="0"/>
              <a:t>Al ejecutar el microservicio, el sistema queda preparado para generar registros informativos cada vez que se realice una consulta, inserción o comunicación con otros servicios.</a:t>
            </a:r>
          </a:p>
        </p:txBody>
      </p:sp>
      <p:sp>
        <p:nvSpPr>
          <p:cNvPr id="17" name="CuadroTexto 16">
            <a:extLst>
              <a:ext uri="{FF2B5EF4-FFF2-40B4-BE49-F238E27FC236}">
                <a16:creationId xmlns:a16="http://schemas.microsoft.com/office/drawing/2014/main" id="{C2DEB464-57B6-0E41-9570-F834DE135A3E}"/>
              </a:ext>
            </a:extLst>
          </p:cNvPr>
          <p:cNvSpPr txBox="1"/>
          <p:nvPr/>
        </p:nvSpPr>
        <p:spPr>
          <a:xfrm>
            <a:off x="1755577" y="2315064"/>
            <a:ext cx="9039545" cy="523220"/>
          </a:xfrm>
          <a:prstGeom prst="rect">
            <a:avLst/>
          </a:prstGeom>
          <a:noFill/>
        </p:spPr>
        <p:txBody>
          <a:bodyPr wrap="square">
            <a:spAutoFit/>
          </a:bodyPr>
          <a:lstStyle/>
          <a:p>
            <a:r>
              <a:rPr lang="es-MX" sz="2800" dirty="0">
                <a:solidFill>
                  <a:schemeClr val="tx2"/>
                </a:solidFill>
              </a:rPr>
              <a:t>Registro de eventos durante la consulta de estudiantes</a:t>
            </a:r>
          </a:p>
        </p:txBody>
      </p:sp>
      <p:sp>
        <p:nvSpPr>
          <p:cNvPr id="21" name="CuadroTexto 20">
            <a:extLst>
              <a:ext uri="{FF2B5EF4-FFF2-40B4-BE49-F238E27FC236}">
                <a16:creationId xmlns:a16="http://schemas.microsoft.com/office/drawing/2014/main" id="{EB45BC8A-2340-4CF3-3D22-415D18A17FE5}"/>
              </a:ext>
            </a:extLst>
          </p:cNvPr>
          <p:cNvSpPr txBox="1"/>
          <p:nvPr/>
        </p:nvSpPr>
        <p:spPr>
          <a:xfrm>
            <a:off x="308692" y="2875108"/>
            <a:ext cx="4785129" cy="923330"/>
          </a:xfrm>
          <a:prstGeom prst="rect">
            <a:avLst/>
          </a:prstGeom>
          <a:noFill/>
        </p:spPr>
        <p:txBody>
          <a:bodyPr wrap="square">
            <a:spAutoFit/>
          </a:bodyPr>
          <a:lstStyle/>
          <a:p>
            <a:pPr algn="just"/>
            <a:r>
              <a:rPr lang="es-MX" dirty="0"/>
              <a:t>En esta sección se implementa el </a:t>
            </a:r>
            <a:r>
              <a:rPr lang="es-MX" dirty="0" err="1"/>
              <a:t>endpoint</a:t>
            </a:r>
            <a:r>
              <a:rPr lang="es-MX" dirty="0"/>
              <a:t> encargado de obtener la lista completa de estudiantes almacenados en la base de datos.</a:t>
            </a:r>
          </a:p>
        </p:txBody>
      </p:sp>
      <p:pic>
        <p:nvPicPr>
          <p:cNvPr id="23" name="Imagen 22">
            <a:extLst>
              <a:ext uri="{FF2B5EF4-FFF2-40B4-BE49-F238E27FC236}">
                <a16:creationId xmlns:a16="http://schemas.microsoft.com/office/drawing/2014/main" id="{71C00069-5402-D840-001C-4B7FB1B896DE}"/>
              </a:ext>
            </a:extLst>
          </p:cNvPr>
          <p:cNvPicPr>
            <a:picLocks noChangeAspect="1"/>
          </p:cNvPicPr>
          <p:nvPr/>
        </p:nvPicPr>
        <p:blipFill>
          <a:blip r:embed="rId4"/>
          <a:stretch>
            <a:fillRect/>
          </a:stretch>
        </p:blipFill>
        <p:spPr>
          <a:xfrm>
            <a:off x="553068" y="3949395"/>
            <a:ext cx="4296375" cy="714475"/>
          </a:xfrm>
          <a:prstGeom prst="rect">
            <a:avLst/>
          </a:prstGeom>
        </p:spPr>
      </p:pic>
      <p:sp>
        <p:nvSpPr>
          <p:cNvPr id="25" name="CuadroTexto 24">
            <a:extLst>
              <a:ext uri="{FF2B5EF4-FFF2-40B4-BE49-F238E27FC236}">
                <a16:creationId xmlns:a16="http://schemas.microsoft.com/office/drawing/2014/main" id="{2F0ABB5B-235D-59D3-2DE1-A9067648EB48}"/>
              </a:ext>
            </a:extLst>
          </p:cNvPr>
          <p:cNvSpPr txBox="1"/>
          <p:nvPr/>
        </p:nvSpPr>
        <p:spPr>
          <a:xfrm>
            <a:off x="104455" y="4814827"/>
            <a:ext cx="5397521" cy="1754326"/>
          </a:xfrm>
          <a:prstGeom prst="rect">
            <a:avLst/>
          </a:prstGeom>
          <a:noFill/>
        </p:spPr>
        <p:txBody>
          <a:bodyPr wrap="square">
            <a:spAutoFit/>
          </a:bodyPr>
          <a:lstStyle/>
          <a:p>
            <a:pPr algn="just"/>
            <a:r>
              <a:rPr lang="es-MX" dirty="0"/>
              <a:t>La anotación @GetMapping("/students") indica que el método responderá a solicitudes HTTP de tipo GET realizadas a la ruta /</a:t>
            </a:r>
            <a:r>
              <a:rPr lang="es-MX" dirty="0" err="1"/>
              <a:t>students.Cuando</a:t>
            </a:r>
            <a:r>
              <a:rPr lang="es-MX" dirty="0"/>
              <a:t> un usuario o aplicación realiza una petición a esta dirección, el sistema ejecuta automáticamente el método </a:t>
            </a:r>
            <a:r>
              <a:rPr lang="es-MX" dirty="0" err="1"/>
              <a:t>getStudents</a:t>
            </a:r>
            <a:r>
              <a:rPr lang="es-MX" dirty="0"/>
              <a:t>().</a:t>
            </a:r>
          </a:p>
        </p:txBody>
      </p:sp>
      <p:pic>
        <p:nvPicPr>
          <p:cNvPr id="27" name="Imagen 26">
            <a:extLst>
              <a:ext uri="{FF2B5EF4-FFF2-40B4-BE49-F238E27FC236}">
                <a16:creationId xmlns:a16="http://schemas.microsoft.com/office/drawing/2014/main" id="{C382A6F9-2F02-0473-969D-9B3EA4D8197E}"/>
              </a:ext>
            </a:extLst>
          </p:cNvPr>
          <p:cNvPicPr>
            <a:picLocks noChangeAspect="1"/>
          </p:cNvPicPr>
          <p:nvPr/>
        </p:nvPicPr>
        <p:blipFill>
          <a:blip r:embed="rId5"/>
          <a:stretch>
            <a:fillRect/>
          </a:stretch>
        </p:blipFill>
        <p:spPr>
          <a:xfrm>
            <a:off x="5846924" y="3437062"/>
            <a:ext cx="5792008" cy="571580"/>
          </a:xfrm>
          <a:prstGeom prst="rect">
            <a:avLst/>
          </a:prstGeom>
        </p:spPr>
      </p:pic>
      <p:sp>
        <p:nvSpPr>
          <p:cNvPr id="29" name="CuadroTexto 28">
            <a:extLst>
              <a:ext uri="{FF2B5EF4-FFF2-40B4-BE49-F238E27FC236}">
                <a16:creationId xmlns:a16="http://schemas.microsoft.com/office/drawing/2014/main" id="{C6D164CB-C3D9-A3DE-B1A0-9B53C7F71F65}"/>
              </a:ext>
            </a:extLst>
          </p:cNvPr>
          <p:cNvSpPr txBox="1"/>
          <p:nvPr/>
        </p:nvSpPr>
        <p:spPr>
          <a:xfrm>
            <a:off x="6018083" y="2773267"/>
            <a:ext cx="5449685" cy="646331"/>
          </a:xfrm>
          <a:prstGeom prst="rect">
            <a:avLst/>
          </a:prstGeom>
          <a:noFill/>
        </p:spPr>
        <p:txBody>
          <a:bodyPr wrap="square">
            <a:spAutoFit/>
          </a:bodyPr>
          <a:lstStyle/>
          <a:p>
            <a:pPr algn="just"/>
            <a:r>
              <a:rPr lang="es-MX" dirty="0"/>
              <a:t>Antes de consultar la información, se registra un mensaje informativo mediante el sistema de logs:</a:t>
            </a:r>
          </a:p>
        </p:txBody>
      </p:sp>
      <p:sp>
        <p:nvSpPr>
          <p:cNvPr id="31" name="CuadroTexto 30">
            <a:extLst>
              <a:ext uri="{FF2B5EF4-FFF2-40B4-BE49-F238E27FC236}">
                <a16:creationId xmlns:a16="http://schemas.microsoft.com/office/drawing/2014/main" id="{AB9F291C-AB54-8689-AFCE-92D22319E01F}"/>
              </a:ext>
            </a:extLst>
          </p:cNvPr>
          <p:cNvSpPr txBox="1"/>
          <p:nvPr/>
        </p:nvSpPr>
        <p:spPr>
          <a:xfrm>
            <a:off x="5520645" y="3984557"/>
            <a:ext cx="6444559" cy="1477328"/>
          </a:xfrm>
          <a:prstGeom prst="rect">
            <a:avLst/>
          </a:prstGeom>
          <a:noFill/>
        </p:spPr>
        <p:txBody>
          <a:bodyPr wrap="square">
            <a:spAutoFit/>
          </a:bodyPr>
          <a:lstStyle/>
          <a:p>
            <a:pPr algn="just"/>
            <a:r>
              <a:rPr lang="es-MX" dirty="0"/>
              <a:t>Este registro permite identificar en la consola el momento exacto en que se solicita la información de los estudiantes, facilitando el monitoreo de la actividad del </a:t>
            </a:r>
            <a:r>
              <a:rPr lang="es-MX" dirty="0" err="1"/>
              <a:t>microservicio.Posteriormente</a:t>
            </a:r>
            <a:r>
              <a:rPr lang="es-MX" dirty="0"/>
              <a:t> se ejecuta la consulta a la base de datos:</a:t>
            </a:r>
          </a:p>
        </p:txBody>
      </p:sp>
      <p:pic>
        <p:nvPicPr>
          <p:cNvPr id="33" name="Imagen 32">
            <a:extLst>
              <a:ext uri="{FF2B5EF4-FFF2-40B4-BE49-F238E27FC236}">
                <a16:creationId xmlns:a16="http://schemas.microsoft.com/office/drawing/2014/main" id="{11226ED0-05D7-A355-AE53-32783A4E9B98}"/>
              </a:ext>
            </a:extLst>
          </p:cNvPr>
          <p:cNvPicPr>
            <a:picLocks noChangeAspect="1"/>
          </p:cNvPicPr>
          <p:nvPr/>
        </p:nvPicPr>
        <p:blipFill>
          <a:blip r:embed="rId6"/>
          <a:stretch>
            <a:fillRect/>
          </a:stretch>
        </p:blipFill>
        <p:spPr>
          <a:xfrm>
            <a:off x="6898853" y="5214200"/>
            <a:ext cx="3896269" cy="495369"/>
          </a:xfrm>
          <a:prstGeom prst="rect">
            <a:avLst/>
          </a:prstGeom>
        </p:spPr>
      </p:pic>
      <p:sp>
        <p:nvSpPr>
          <p:cNvPr id="35" name="CuadroTexto 34">
            <a:extLst>
              <a:ext uri="{FF2B5EF4-FFF2-40B4-BE49-F238E27FC236}">
                <a16:creationId xmlns:a16="http://schemas.microsoft.com/office/drawing/2014/main" id="{34ECA7F0-F8FC-04FA-E068-2BC640399BBF}"/>
              </a:ext>
            </a:extLst>
          </p:cNvPr>
          <p:cNvSpPr txBox="1"/>
          <p:nvPr/>
        </p:nvSpPr>
        <p:spPr>
          <a:xfrm>
            <a:off x="5501976" y="5796780"/>
            <a:ext cx="6690024" cy="923330"/>
          </a:xfrm>
          <a:prstGeom prst="rect">
            <a:avLst/>
          </a:prstGeom>
          <a:noFill/>
        </p:spPr>
        <p:txBody>
          <a:bodyPr wrap="square">
            <a:spAutoFit/>
          </a:bodyPr>
          <a:lstStyle/>
          <a:p>
            <a:r>
              <a:rPr lang="es-MX" dirty="0"/>
              <a:t>El método </a:t>
            </a:r>
            <a:r>
              <a:rPr lang="es-MX" dirty="0" err="1"/>
              <a:t>findAll</a:t>
            </a:r>
            <a:r>
              <a:rPr lang="es-MX" dirty="0"/>
              <a:t>() pertenece al repositorio </a:t>
            </a:r>
            <a:r>
              <a:rPr lang="es-MX" dirty="0" err="1"/>
              <a:t>StudentRepository</a:t>
            </a:r>
            <a:r>
              <a:rPr lang="es-MX" dirty="0"/>
              <a:t> y tiene como función recuperar todos los registros almacenados en la tabla de estudiantes.</a:t>
            </a:r>
          </a:p>
        </p:txBody>
      </p:sp>
    </p:spTree>
    <p:extLst>
      <p:ext uri="{BB962C8B-B14F-4D97-AF65-F5344CB8AC3E}">
        <p14:creationId xmlns:p14="http://schemas.microsoft.com/office/powerpoint/2010/main" val="799337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90A6119-0D5B-BCAB-E12D-3AF6B80AE38E}"/>
              </a:ext>
            </a:extLst>
          </p:cNvPr>
          <p:cNvPicPr>
            <a:picLocks noChangeAspect="1"/>
          </p:cNvPicPr>
          <p:nvPr/>
        </p:nvPicPr>
        <p:blipFill>
          <a:blip r:embed="rId2"/>
          <a:stretch>
            <a:fillRect/>
          </a:stretch>
        </p:blipFill>
        <p:spPr>
          <a:xfrm>
            <a:off x="239168" y="72660"/>
            <a:ext cx="5056732" cy="1426258"/>
          </a:xfrm>
          <a:prstGeom prst="rect">
            <a:avLst/>
          </a:prstGeom>
        </p:spPr>
      </p:pic>
      <p:sp>
        <p:nvSpPr>
          <p:cNvPr id="7" name="CuadroTexto 6">
            <a:extLst>
              <a:ext uri="{FF2B5EF4-FFF2-40B4-BE49-F238E27FC236}">
                <a16:creationId xmlns:a16="http://schemas.microsoft.com/office/drawing/2014/main" id="{B7ACCA7F-5E92-77E6-DFEB-79D59F759AF7}"/>
              </a:ext>
            </a:extLst>
          </p:cNvPr>
          <p:cNvSpPr txBox="1"/>
          <p:nvPr/>
        </p:nvSpPr>
        <p:spPr>
          <a:xfrm>
            <a:off x="239168" y="1531174"/>
            <a:ext cx="5056732" cy="646331"/>
          </a:xfrm>
          <a:prstGeom prst="rect">
            <a:avLst/>
          </a:prstGeom>
          <a:noFill/>
        </p:spPr>
        <p:txBody>
          <a:bodyPr wrap="square">
            <a:spAutoFit/>
          </a:bodyPr>
          <a:lstStyle/>
          <a:p>
            <a:r>
              <a:rPr lang="es-MX" dirty="0"/>
              <a:t>La información obtenida es enviada como respuesta al cliente en formato JSON.</a:t>
            </a:r>
          </a:p>
        </p:txBody>
      </p:sp>
      <p:sp>
        <p:nvSpPr>
          <p:cNvPr id="10" name="Rectangle 1">
            <a:extLst>
              <a:ext uri="{FF2B5EF4-FFF2-40B4-BE49-F238E27FC236}">
                <a16:creationId xmlns:a16="http://schemas.microsoft.com/office/drawing/2014/main" id="{BBB32A74-0579-314B-F5D7-21ED840A78D7}"/>
              </a:ext>
            </a:extLst>
          </p:cNvPr>
          <p:cNvSpPr>
            <a:spLocks noChangeArrowheads="1"/>
          </p:cNvSpPr>
          <p:nvPr/>
        </p:nvSpPr>
        <p:spPr bwMode="auto">
          <a:xfrm>
            <a:off x="182018" y="2177505"/>
            <a:ext cx="517103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Función de los logs en este proceso</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El mensaje registrado mediante log.info() permite: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Verificar que la solicitud fue recibida correctamente.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Confirmar que el </a:t>
            </a:r>
            <a:r>
              <a:rPr lang="es-MX" altLang="es-MX" dirty="0" err="1"/>
              <a:t>endpoint</a:t>
            </a:r>
            <a:r>
              <a:rPr lang="es-MX" altLang="es-MX" dirty="0"/>
              <a:t> fue ejecutado.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Facilitar el seguimiento de consultas realizadas por los usuarios.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Ayudar en la detección de posibles errores durante la ejecución.</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p:txBody>
      </p:sp>
      <p:sp>
        <p:nvSpPr>
          <p:cNvPr id="12" name="CuadroTexto 11">
            <a:extLst>
              <a:ext uri="{FF2B5EF4-FFF2-40B4-BE49-F238E27FC236}">
                <a16:creationId xmlns:a16="http://schemas.microsoft.com/office/drawing/2014/main" id="{D2840770-7014-ED4D-7163-2F6B492B983C}"/>
              </a:ext>
            </a:extLst>
          </p:cNvPr>
          <p:cNvSpPr txBox="1"/>
          <p:nvPr/>
        </p:nvSpPr>
        <p:spPr>
          <a:xfrm>
            <a:off x="182018" y="4748250"/>
            <a:ext cx="6096000" cy="369332"/>
          </a:xfrm>
          <a:prstGeom prst="rect">
            <a:avLst/>
          </a:prstGeom>
          <a:noFill/>
        </p:spPr>
        <p:txBody>
          <a:bodyPr wrap="square">
            <a:spAutoFit/>
          </a:bodyPr>
          <a:lstStyle/>
          <a:p>
            <a:r>
              <a:rPr lang="es-MX" dirty="0"/>
              <a:t>Al realizar una petición GET a la ruta:</a:t>
            </a:r>
          </a:p>
        </p:txBody>
      </p:sp>
      <p:pic>
        <p:nvPicPr>
          <p:cNvPr id="14" name="Imagen 13">
            <a:extLst>
              <a:ext uri="{FF2B5EF4-FFF2-40B4-BE49-F238E27FC236}">
                <a16:creationId xmlns:a16="http://schemas.microsoft.com/office/drawing/2014/main" id="{218F3041-03CD-7F1F-2C2B-9560577BD8A0}"/>
              </a:ext>
            </a:extLst>
          </p:cNvPr>
          <p:cNvPicPr>
            <a:picLocks noChangeAspect="1"/>
          </p:cNvPicPr>
          <p:nvPr/>
        </p:nvPicPr>
        <p:blipFill>
          <a:blip r:embed="rId3"/>
          <a:srcRect l="28854" t="82965" r="15208" b="7003"/>
          <a:stretch/>
        </p:blipFill>
        <p:spPr>
          <a:xfrm>
            <a:off x="182018" y="6104467"/>
            <a:ext cx="6096000" cy="622300"/>
          </a:xfrm>
          <a:prstGeom prst="rect">
            <a:avLst/>
          </a:prstGeom>
        </p:spPr>
      </p:pic>
      <p:sp>
        <p:nvSpPr>
          <p:cNvPr id="16" name="CuadroTexto 15">
            <a:extLst>
              <a:ext uri="{FF2B5EF4-FFF2-40B4-BE49-F238E27FC236}">
                <a16:creationId xmlns:a16="http://schemas.microsoft.com/office/drawing/2014/main" id="{7C1ED1CA-249D-0173-7C23-7B70CD648602}"/>
              </a:ext>
            </a:extLst>
          </p:cNvPr>
          <p:cNvSpPr txBox="1"/>
          <p:nvPr/>
        </p:nvSpPr>
        <p:spPr>
          <a:xfrm>
            <a:off x="508272" y="5117582"/>
            <a:ext cx="4419600" cy="369332"/>
          </a:xfrm>
          <a:prstGeom prst="rect">
            <a:avLst/>
          </a:prstGeom>
          <a:noFill/>
        </p:spPr>
        <p:txBody>
          <a:bodyPr wrap="square">
            <a:spAutoFit/>
          </a:bodyPr>
          <a:lstStyle/>
          <a:p>
            <a:r>
              <a:rPr lang="es-MX" dirty="0">
                <a:solidFill>
                  <a:schemeClr val="accent1"/>
                </a:solidFill>
              </a:rPr>
              <a:t>http://localhost:8082/students</a:t>
            </a:r>
          </a:p>
        </p:txBody>
      </p:sp>
      <p:sp>
        <p:nvSpPr>
          <p:cNvPr id="18" name="CuadroTexto 17">
            <a:extLst>
              <a:ext uri="{FF2B5EF4-FFF2-40B4-BE49-F238E27FC236}">
                <a16:creationId xmlns:a16="http://schemas.microsoft.com/office/drawing/2014/main" id="{82212385-9D34-A6A1-374B-6775FC952989}"/>
              </a:ext>
            </a:extLst>
          </p:cNvPr>
          <p:cNvSpPr txBox="1"/>
          <p:nvPr/>
        </p:nvSpPr>
        <p:spPr>
          <a:xfrm>
            <a:off x="182018" y="5425880"/>
            <a:ext cx="6096000" cy="646331"/>
          </a:xfrm>
          <a:prstGeom prst="rect">
            <a:avLst/>
          </a:prstGeom>
          <a:noFill/>
        </p:spPr>
        <p:txBody>
          <a:bodyPr wrap="square">
            <a:spAutoFit/>
          </a:bodyPr>
          <a:lstStyle/>
          <a:p>
            <a:r>
              <a:rPr lang="es-MX" dirty="0"/>
              <a:t>el sistema mostrará en consola un mensaje similar al siguiente:</a:t>
            </a:r>
          </a:p>
        </p:txBody>
      </p:sp>
      <p:sp>
        <p:nvSpPr>
          <p:cNvPr id="20" name="CuadroTexto 19">
            <a:extLst>
              <a:ext uri="{FF2B5EF4-FFF2-40B4-BE49-F238E27FC236}">
                <a16:creationId xmlns:a16="http://schemas.microsoft.com/office/drawing/2014/main" id="{CE3F03C2-C6DF-52EB-EDC4-9248BD99D18B}"/>
              </a:ext>
            </a:extLst>
          </p:cNvPr>
          <p:cNvSpPr txBox="1"/>
          <p:nvPr/>
        </p:nvSpPr>
        <p:spPr>
          <a:xfrm>
            <a:off x="6278018" y="131233"/>
            <a:ext cx="6096000" cy="954107"/>
          </a:xfrm>
          <a:prstGeom prst="rect">
            <a:avLst/>
          </a:prstGeom>
          <a:noFill/>
        </p:spPr>
        <p:txBody>
          <a:bodyPr wrap="square">
            <a:spAutoFit/>
          </a:bodyPr>
          <a:lstStyle/>
          <a:p>
            <a:r>
              <a:rPr lang="es-MX" sz="2800" dirty="0">
                <a:solidFill>
                  <a:schemeClr val="accent1"/>
                </a:solidFill>
              </a:rPr>
              <a:t>Registro de eventos durante el almacenamiento de estudiantes</a:t>
            </a:r>
          </a:p>
        </p:txBody>
      </p:sp>
      <p:sp>
        <p:nvSpPr>
          <p:cNvPr id="22" name="CuadroTexto 21">
            <a:extLst>
              <a:ext uri="{FF2B5EF4-FFF2-40B4-BE49-F238E27FC236}">
                <a16:creationId xmlns:a16="http://schemas.microsoft.com/office/drawing/2014/main" id="{F4B1B544-E89A-4859-28FB-D218ED0541E6}"/>
              </a:ext>
            </a:extLst>
          </p:cNvPr>
          <p:cNvSpPr txBox="1"/>
          <p:nvPr/>
        </p:nvSpPr>
        <p:spPr>
          <a:xfrm>
            <a:off x="6003472" y="3140328"/>
            <a:ext cx="6188528" cy="2031325"/>
          </a:xfrm>
          <a:prstGeom prst="rect">
            <a:avLst/>
          </a:prstGeom>
          <a:noFill/>
        </p:spPr>
        <p:txBody>
          <a:bodyPr wrap="square">
            <a:spAutoFit/>
          </a:bodyPr>
          <a:lstStyle/>
          <a:p>
            <a:pPr algn="just"/>
            <a:r>
              <a:rPr lang="es-MX" dirty="0"/>
              <a:t>La captura muestra el método utilizado para registrar estudiantes en la base de datos. Durante el proceso se generan mensajes de log que permiten identificar cuándo se inicia el registro de un estudiante y cuándo la operación se completa exitosamente, incluyendo el ID generado para el nuevo registro. Esto facilita el seguimiento y control de las operaciones realizadas por el sistema.</a:t>
            </a:r>
          </a:p>
        </p:txBody>
      </p:sp>
      <p:pic>
        <p:nvPicPr>
          <p:cNvPr id="24" name="Imagen 23">
            <a:extLst>
              <a:ext uri="{FF2B5EF4-FFF2-40B4-BE49-F238E27FC236}">
                <a16:creationId xmlns:a16="http://schemas.microsoft.com/office/drawing/2014/main" id="{511D94D6-6749-0E73-6AC5-1BBDA36576A5}"/>
              </a:ext>
            </a:extLst>
          </p:cNvPr>
          <p:cNvPicPr>
            <a:picLocks noChangeAspect="1"/>
          </p:cNvPicPr>
          <p:nvPr/>
        </p:nvPicPr>
        <p:blipFill>
          <a:blip r:embed="rId4"/>
          <a:stretch>
            <a:fillRect/>
          </a:stretch>
        </p:blipFill>
        <p:spPr>
          <a:xfrm>
            <a:off x="6366270" y="1214681"/>
            <a:ext cx="5098896" cy="1925647"/>
          </a:xfrm>
          <a:prstGeom prst="rect">
            <a:avLst/>
          </a:prstGeom>
        </p:spPr>
      </p:pic>
      <p:pic>
        <p:nvPicPr>
          <p:cNvPr id="25" name="Imagen 24">
            <a:extLst>
              <a:ext uri="{FF2B5EF4-FFF2-40B4-BE49-F238E27FC236}">
                <a16:creationId xmlns:a16="http://schemas.microsoft.com/office/drawing/2014/main" id="{BA2B9F6A-2902-9ACC-8B7F-CB127659BC6C}"/>
              </a:ext>
            </a:extLst>
          </p:cNvPr>
          <p:cNvPicPr>
            <a:picLocks noChangeAspect="1"/>
          </p:cNvPicPr>
          <p:nvPr/>
        </p:nvPicPr>
        <p:blipFill>
          <a:blip r:embed="rId3"/>
          <a:srcRect l="28854" t="56898" r="15208" b="29024"/>
          <a:stretch/>
        </p:blipFill>
        <p:spPr>
          <a:xfrm>
            <a:off x="6003472" y="5191604"/>
            <a:ext cx="6096000" cy="873293"/>
          </a:xfrm>
          <a:prstGeom prst="rect">
            <a:avLst/>
          </a:prstGeom>
        </p:spPr>
      </p:pic>
    </p:spTree>
    <p:extLst>
      <p:ext uri="{BB962C8B-B14F-4D97-AF65-F5344CB8AC3E}">
        <p14:creationId xmlns:p14="http://schemas.microsoft.com/office/powerpoint/2010/main" val="9223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DBB57DD-B47E-1C74-8ABD-0FFF157644D8}"/>
              </a:ext>
            </a:extLst>
          </p:cNvPr>
          <p:cNvPicPr>
            <a:picLocks noChangeAspect="1"/>
          </p:cNvPicPr>
          <p:nvPr/>
        </p:nvPicPr>
        <p:blipFill>
          <a:blip r:embed="rId2"/>
          <a:stretch>
            <a:fillRect/>
          </a:stretch>
        </p:blipFill>
        <p:spPr>
          <a:xfrm>
            <a:off x="184185" y="346789"/>
            <a:ext cx="5300723" cy="3082211"/>
          </a:xfrm>
          <a:prstGeom prst="rect">
            <a:avLst/>
          </a:prstGeom>
        </p:spPr>
      </p:pic>
      <p:sp>
        <p:nvSpPr>
          <p:cNvPr id="7" name="CuadroTexto 6">
            <a:extLst>
              <a:ext uri="{FF2B5EF4-FFF2-40B4-BE49-F238E27FC236}">
                <a16:creationId xmlns:a16="http://schemas.microsoft.com/office/drawing/2014/main" id="{1D770F3E-1AB0-A489-6177-8808CD3355D2}"/>
              </a:ext>
            </a:extLst>
          </p:cNvPr>
          <p:cNvSpPr txBox="1"/>
          <p:nvPr/>
        </p:nvSpPr>
        <p:spPr>
          <a:xfrm>
            <a:off x="501688" y="3667878"/>
            <a:ext cx="4819612" cy="2462213"/>
          </a:xfrm>
          <a:prstGeom prst="rect">
            <a:avLst/>
          </a:prstGeom>
          <a:noFill/>
        </p:spPr>
        <p:txBody>
          <a:bodyPr wrap="square">
            <a:spAutoFit/>
          </a:bodyPr>
          <a:lstStyle/>
          <a:p>
            <a:pPr algn="just"/>
            <a:r>
              <a:rPr lang="es-MX" sz="1400" dirty="0"/>
              <a:t>Se muestra el método encargado de consumir información del microservicio </a:t>
            </a:r>
            <a:r>
              <a:rPr lang="es-MX" sz="1400" dirty="0" err="1"/>
              <a:t>courses-service</a:t>
            </a:r>
            <a:r>
              <a:rPr lang="es-MX" sz="1400" dirty="0"/>
              <a:t> mediante el uso de </a:t>
            </a:r>
            <a:r>
              <a:rPr lang="es-MX" sz="1400" dirty="0" err="1"/>
              <a:t>RestTemplate</a:t>
            </a:r>
            <a:r>
              <a:rPr lang="es-MX" sz="1400" dirty="0"/>
              <a:t>. Antes de realizar la petición, se genera un mensaje de log indicando que se está consultando la información de cursos. Posteriormente, se realiza la solicitud al servicio utilizando su nombre registrado en Eureka (COURSES-SERVICE) y, al recibir la respuesta, se genera un segundo log que confirma que la comunicación fue realizada correctamente. Estos registros permiten monitorear y verificar la interacción entre microservicios dentro de la arquitectura implementada.</a:t>
            </a:r>
          </a:p>
        </p:txBody>
      </p:sp>
      <p:pic>
        <p:nvPicPr>
          <p:cNvPr id="8" name="Imagen 7">
            <a:extLst>
              <a:ext uri="{FF2B5EF4-FFF2-40B4-BE49-F238E27FC236}">
                <a16:creationId xmlns:a16="http://schemas.microsoft.com/office/drawing/2014/main" id="{43FB1DEC-E59B-4648-3AA7-DA9E57066935}"/>
              </a:ext>
            </a:extLst>
          </p:cNvPr>
          <p:cNvPicPr>
            <a:picLocks noChangeAspect="1"/>
          </p:cNvPicPr>
          <p:nvPr/>
        </p:nvPicPr>
        <p:blipFill>
          <a:blip r:embed="rId3"/>
          <a:stretch>
            <a:fillRect/>
          </a:stretch>
        </p:blipFill>
        <p:spPr>
          <a:xfrm>
            <a:off x="5810803" y="3073400"/>
            <a:ext cx="5881441" cy="2959099"/>
          </a:xfrm>
          <a:prstGeom prst="rect">
            <a:avLst/>
          </a:prstGeom>
        </p:spPr>
      </p:pic>
      <p:sp>
        <p:nvSpPr>
          <p:cNvPr id="10" name="CuadroTexto 9">
            <a:extLst>
              <a:ext uri="{FF2B5EF4-FFF2-40B4-BE49-F238E27FC236}">
                <a16:creationId xmlns:a16="http://schemas.microsoft.com/office/drawing/2014/main" id="{92DEC4B8-B7AD-780F-EB33-1DE6756209EC}"/>
              </a:ext>
            </a:extLst>
          </p:cNvPr>
          <p:cNvSpPr txBox="1"/>
          <p:nvPr/>
        </p:nvSpPr>
        <p:spPr>
          <a:xfrm>
            <a:off x="5695915" y="346789"/>
            <a:ext cx="6096000" cy="2554545"/>
          </a:xfrm>
          <a:prstGeom prst="rect">
            <a:avLst/>
          </a:prstGeom>
          <a:noFill/>
        </p:spPr>
        <p:txBody>
          <a:bodyPr wrap="square">
            <a:spAutoFit/>
          </a:bodyPr>
          <a:lstStyle/>
          <a:p>
            <a:pPr algn="just"/>
            <a:r>
              <a:rPr lang="es-MX" sz="1600" dirty="0"/>
              <a:t>el panel de administración de Eureka Server, donde se visualizan los microservicios registrados dentro de la arquitectura implementada. Entre ellos se encuentran CONFIG-SERVER, GATEWAY-SERVICE y STUDENTS-SERVICE, todos con estado UP, indicando que se encuentran activos y disponibles. Eureka actúa como servidor de descubrimiento de servicios, permitiendo que los microservicios se localicen y comuniquen entre sí de manera dinámica sin necesidad de configurar manualmente sus direcciones de red. Esta funcionalidad facilita la integración y escalabilidad del sistema basado en microservicios.</a:t>
            </a:r>
          </a:p>
        </p:txBody>
      </p:sp>
    </p:spTree>
    <p:extLst>
      <p:ext uri="{BB962C8B-B14F-4D97-AF65-F5344CB8AC3E}">
        <p14:creationId xmlns:p14="http://schemas.microsoft.com/office/powerpoint/2010/main" val="2262872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DEC7553-0279-F4AA-550A-E262859DA070}"/>
              </a:ext>
            </a:extLst>
          </p:cNvPr>
          <p:cNvPicPr>
            <a:picLocks noChangeAspect="1"/>
          </p:cNvPicPr>
          <p:nvPr/>
        </p:nvPicPr>
        <p:blipFill>
          <a:blip r:embed="rId2"/>
          <a:stretch>
            <a:fillRect/>
          </a:stretch>
        </p:blipFill>
        <p:spPr>
          <a:xfrm>
            <a:off x="1282700" y="1664410"/>
            <a:ext cx="9258300" cy="4738070"/>
          </a:xfrm>
          <a:prstGeom prst="rect">
            <a:avLst/>
          </a:prstGeom>
        </p:spPr>
      </p:pic>
      <p:sp>
        <p:nvSpPr>
          <p:cNvPr id="7" name="CuadroTexto 6">
            <a:extLst>
              <a:ext uri="{FF2B5EF4-FFF2-40B4-BE49-F238E27FC236}">
                <a16:creationId xmlns:a16="http://schemas.microsoft.com/office/drawing/2014/main" id="{0584961C-75AB-E5A9-2553-ED27DECF54A2}"/>
              </a:ext>
            </a:extLst>
          </p:cNvPr>
          <p:cNvSpPr txBox="1"/>
          <p:nvPr/>
        </p:nvSpPr>
        <p:spPr>
          <a:xfrm>
            <a:off x="482600" y="204738"/>
            <a:ext cx="11493500" cy="1200329"/>
          </a:xfrm>
          <a:prstGeom prst="rect">
            <a:avLst/>
          </a:prstGeom>
          <a:noFill/>
        </p:spPr>
        <p:txBody>
          <a:bodyPr wrap="square">
            <a:spAutoFit/>
          </a:bodyPr>
          <a:lstStyle/>
          <a:p>
            <a:pPr algn="just"/>
            <a:r>
              <a:rPr lang="es-MX" dirty="0"/>
              <a:t>La captura muestra el archivo students-service.log, donde se almacenan los eventos generados durante la ejecución del microservicio. En este archivo se registran procesos de arranque, configuración, conexión con servicios externos y mensajes relacionados con la operación de la aplicación. El uso de archivos de log permite conservar un historial de eventos para tareas de monitoreo, auditoría y detección de errores.</a:t>
            </a:r>
          </a:p>
        </p:txBody>
      </p:sp>
    </p:spTree>
    <p:extLst>
      <p:ext uri="{BB962C8B-B14F-4D97-AF65-F5344CB8AC3E}">
        <p14:creationId xmlns:p14="http://schemas.microsoft.com/office/powerpoint/2010/main" val="3680268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287307-F2ED-8117-06B7-D53A275391F7}"/>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867AC27F-2CBB-776B-70D9-C0221B652588}"/>
              </a:ext>
            </a:extLst>
          </p:cNvPr>
          <p:cNvSpPr>
            <a:spLocks noGrp="1"/>
          </p:cNvSpPr>
          <p:nvPr>
            <p:ph idx="1"/>
          </p:nvPr>
        </p:nvSpPr>
        <p:spPr/>
        <p:txBody>
          <a:bodyPr>
            <a:normAutofit/>
          </a:bodyPr>
          <a:lstStyle/>
          <a:p>
            <a:pPr marL="0" indent="0" algn="just">
              <a:buNone/>
            </a:pPr>
            <a:r>
              <a:rPr lang="es-MX" sz="2000" dirty="0"/>
              <a:t>Durante el desarrollo de la práctica se implementó un sistema de registros (logs) dentro del microservicio de estudiantes utilizando la librería SLF4J en Spring </a:t>
            </a:r>
            <a:r>
              <a:rPr lang="es-MX" sz="2000" dirty="0" err="1"/>
              <a:t>Boot</a:t>
            </a:r>
            <a:r>
              <a:rPr lang="es-MX" sz="2000" dirty="0"/>
              <a:t>. Se configuraron mensajes de seguimiento para las operaciones de consulta, registro de estudiantes y comunicación entre microservicios, permitiendo monitorear el comportamiento de la aplicación en tiempo real</a:t>
            </a:r>
          </a:p>
        </p:txBody>
      </p:sp>
    </p:spTree>
    <p:extLst>
      <p:ext uri="{BB962C8B-B14F-4D97-AF65-F5344CB8AC3E}">
        <p14:creationId xmlns:p14="http://schemas.microsoft.com/office/powerpoint/2010/main" val="355427626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1174</Words>
  <Application>Microsoft Office PowerPoint</Application>
  <PresentationFormat>Panorámica</PresentationFormat>
  <Paragraphs>66</Paragraphs>
  <Slides>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Aptos</vt:lpstr>
      <vt:lpstr>Aptos Display</vt:lpstr>
      <vt:lpstr>Arial</vt:lpstr>
      <vt:lpstr>Century Gothic</vt:lpstr>
      <vt:lpstr>Tema de Office</vt:lpstr>
      <vt:lpstr>Presentación de PowerPoint</vt:lpstr>
      <vt:lpstr>Introducción </vt:lpstr>
      <vt:lpstr>Justificación </vt:lpstr>
      <vt:lpstr>Configuración del controlador y del Logger</vt:lpstr>
      <vt:lpstr>Presentación de PowerPoint</vt:lpstr>
      <vt:lpstr>Presentación de PowerPoint</vt:lpstr>
      <vt:lpstr>Presentación de PowerPoint</vt:lpstr>
      <vt:lpstr>Presentación de PowerPoint</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1</cp:revision>
  <dcterms:created xsi:type="dcterms:W3CDTF">2026-05-30T16:06:53Z</dcterms:created>
  <dcterms:modified xsi:type="dcterms:W3CDTF">2026-05-30T17:53:54Z</dcterms:modified>
</cp:coreProperties>
</file>