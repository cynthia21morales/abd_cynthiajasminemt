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69" r:id="rId2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59" d="100"/>
          <a:sy n="59" d="100"/>
        </p:scale>
        <p:origin x="836" y="52"/>
      </p:cViewPr>
      <p:guideLst/>
    </p:cSldViewPr>
  </p:slideViewPr>
  <p:notesTextViewPr>
    <p:cViewPr>
      <p:scale>
        <a:sx n="300" d="100"/>
        <a:sy n="3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56FF98-71BC-5EA6-6FA1-E9B1AC2CC11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43F03914-28CD-49A1-6474-0DF37F2EE9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61CBB2EF-E3DF-F918-0C2D-1291A40D7A26}"/>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5" name="Marcador de pie de página 4">
            <a:extLst>
              <a:ext uri="{FF2B5EF4-FFF2-40B4-BE49-F238E27FC236}">
                <a16:creationId xmlns:a16="http://schemas.microsoft.com/office/drawing/2014/main" id="{ABF3AD09-961A-8975-B622-0402AA5D3F1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9B5C248-C95C-993F-30F3-FC060772A34D}"/>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2572205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F3CED-985D-C72F-2CA7-EAE21BE4853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BFEED3F-C2CB-77BC-6F42-FD8D6C28C30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104B92E-F44C-638B-69EE-FE1FFD4B66AD}"/>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5" name="Marcador de pie de página 4">
            <a:extLst>
              <a:ext uri="{FF2B5EF4-FFF2-40B4-BE49-F238E27FC236}">
                <a16:creationId xmlns:a16="http://schemas.microsoft.com/office/drawing/2014/main" id="{7CA682AD-F361-43C1-5D6E-6C97965B3CC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3C2A94-D482-6AFD-9086-1B381A0A8A50}"/>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296835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82D6D8-33BF-D8BA-0E63-592B54687E2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22B290B-05A7-1BE9-468B-D16D237B70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40F2AEC-D325-2260-4301-725E7624115A}"/>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5" name="Marcador de pie de página 4">
            <a:extLst>
              <a:ext uri="{FF2B5EF4-FFF2-40B4-BE49-F238E27FC236}">
                <a16:creationId xmlns:a16="http://schemas.microsoft.com/office/drawing/2014/main" id="{2BCF9C14-8ECF-88FA-A5E9-5540BF008FC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4DA9885-3449-9E50-2152-1638ED454629}"/>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2081054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0820AA-B9ED-8AAE-0499-DD02B10189C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E410C05-648F-F258-FC3C-32C8F718928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FDC279D-035E-4FF5-3496-88FB7C910C6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5EDAB1F2-C9AB-9FDD-47EC-164121EA186D}"/>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6" name="Marcador de pie de página 5">
            <a:extLst>
              <a:ext uri="{FF2B5EF4-FFF2-40B4-BE49-F238E27FC236}">
                <a16:creationId xmlns:a16="http://schemas.microsoft.com/office/drawing/2014/main" id="{0B04CC54-8B87-17ED-C2AC-8B250E0CD0B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5F0B47C-BF44-BB20-C0D4-F7EA2FE374A3}"/>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100507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443339-A219-326C-30AB-805193324CF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852793D-995E-6BE5-6270-BF43763593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9210498-025F-2E67-3963-2DBC265CF91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289E0B7-1F7E-1C15-868A-24ED59BC30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87EE718-D006-7D15-7661-28C6B92FCCC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0ED2FFB6-4CE1-DE12-992B-1D6ABEA0E3C2}"/>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8" name="Marcador de pie de página 7">
            <a:extLst>
              <a:ext uri="{FF2B5EF4-FFF2-40B4-BE49-F238E27FC236}">
                <a16:creationId xmlns:a16="http://schemas.microsoft.com/office/drawing/2014/main" id="{311C13F8-629F-4073-78DE-788F81FAE937}"/>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94E985AF-9D5E-1E5B-627A-870B4F6C0E36}"/>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670633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F1819A-F157-E75C-CFC4-E199886FFCF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D0C215D4-DE18-517B-D183-881C13496882}"/>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4" name="Marcador de pie de página 3">
            <a:extLst>
              <a:ext uri="{FF2B5EF4-FFF2-40B4-BE49-F238E27FC236}">
                <a16:creationId xmlns:a16="http://schemas.microsoft.com/office/drawing/2014/main" id="{B5D55D19-40AA-2CDD-273B-EBEC45F4B91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6DBE2BD-6507-BDA0-82D0-17EF3F4310A9}"/>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228946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4D4312B-B1D6-8A44-DBE7-5CB9E4BA5E41}"/>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3" name="Marcador de pie de página 2">
            <a:extLst>
              <a:ext uri="{FF2B5EF4-FFF2-40B4-BE49-F238E27FC236}">
                <a16:creationId xmlns:a16="http://schemas.microsoft.com/office/drawing/2014/main" id="{46BADCCC-E176-11AA-C9AE-FA3AE52FE7DE}"/>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DC83DA90-3954-8780-4B31-03763662BDC8}"/>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4100533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D9633D-A043-8ECA-D6F7-9225969DEEB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5957961-E208-D151-8672-61EFF64F33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9AC65D6-9F02-4402-B4F3-9C895A510F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693B8C4-F95E-3D0D-97BD-4758F9D27CB9}"/>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6" name="Marcador de pie de página 5">
            <a:extLst>
              <a:ext uri="{FF2B5EF4-FFF2-40B4-BE49-F238E27FC236}">
                <a16:creationId xmlns:a16="http://schemas.microsoft.com/office/drawing/2014/main" id="{9ACA3BC2-A3DD-0132-CD1D-CDDBE4E04B3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0AA2925-7098-13B6-6167-F47EA5784122}"/>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364103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EB7DD4-42EE-F7BA-2EF0-A942229C587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3E50740-CD4E-FFB8-47DE-FCA74078F4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9FB2866-91E0-C4A6-B193-62E8A5C1D9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2F77069-9A77-979C-21A8-DC8205031C9D}"/>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6" name="Marcador de pie de página 5">
            <a:extLst>
              <a:ext uri="{FF2B5EF4-FFF2-40B4-BE49-F238E27FC236}">
                <a16:creationId xmlns:a16="http://schemas.microsoft.com/office/drawing/2014/main" id="{4D5503AC-153B-527F-80FD-0DAA8306CF9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EB6C041-BCF7-40DE-7BB7-B5CB52C87C96}"/>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2367698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B53963-AD29-2518-53EE-7F262FD3F81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AAC0D35-F2B5-4E6B-BDB8-B708783E8B3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353F3D8-1B89-A103-A98C-FCFFCBD01CA3}"/>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5" name="Marcador de pie de página 4">
            <a:extLst>
              <a:ext uri="{FF2B5EF4-FFF2-40B4-BE49-F238E27FC236}">
                <a16:creationId xmlns:a16="http://schemas.microsoft.com/office/drawing/2014/main" id="{E0EA4D10-EFB6-B615-BDB1-7F753FCD88A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4D37D6A-528C-3A2D-0A78-3118CA8BC0BC}"/>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54998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0D7FF2E-6B74-7F10-DE88-0799EF6D57D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9F71464-4D2C-A9EE-E1DA-4C6E5B645F3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72BAF5B-6A04-86C8-FE64-B553406F7C52}"/>
              </a:ext>
            </a:extLst>
          </p:cNvPr>
          <p:cNvSpPr>
            <a:spLocks noGrp="1"/>
          </p:cNvSpPr>
          <p:nvPr>
            <p:ph type="dt" sz="half" idx="10"/>
          </p:nvPr>
        </p:nvSpPr>
        <p:spPr/>
        <p:txBody>
          <a:bodyPr/>
          <a:lstStyle/>
          <a:p>
            <a:fld id="{8A0A06B9-A82B-4BAC-BCA4-4660661F0AA5}" type="datetimeFigureOut">
              <a:rPr lang="es-MX" smtClean="0"/>
              <a:t>30/05/2026</a:t>
            </a:fld>
            <a:endParaRPr lang="es-MX"/>
          </a:p>
        </p:txBody>
      </p:sp>
      <p:sp>
        <p:nvSpPr>
          <p:cNvPr id="5" name="Marcador de pie de página 4">
            <a:extLst>
              <a:ext uri="{FF2B5EF4-FFF2-40B4-BE49-F238E27FC236}">
                <a16:creationId xmlns:a16="http://schemas.microsoft.com/office/drawing/2014/main" id="{75547CA6-469F-4631-1353-F8142884D6C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B62682F-0F11-5455-72B6-A0C0D78AADFB}"/>
              </a:ext>
            </a:extLst>
          </p:cNvPr>
          <p:cNvSpPr>
            <a:spLocks noGrp="1"/>
          </p:cNvSpPr>
          <p:nvPr>
            <p:ph type="sldNum" sz="quarter" idx="12"/>
          </p:nvPr>
        </p:nvSpPr>
        <p:spPr/>
        <p:txBody>
          <a:bodyPr/>
          <a:lstStyle/>
          <a:p>
            <a:fld id="{26BC1D2D-2E55-4B07-B912-AC40D2714432}" type="slidenum">
              <a:rPr lang="es-MX" smtClean="0"/>
              <a:t>‹Nº›</a:t>
            </a:fld>
            <a:endParaRPr lang="es-MX"/>
          </a:p>
        </p:txBody>
      </p:sp>
    </p:spTree>
    <p:extLst>
      <p:ext uri="{BB962C8B-B14F-4D97-AF65-F5344CB8AC3E}">
        <p14:creationId xmlns:p14="http://schemas.microsoft.com/office/powerpoint/2010/main" val="136431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E2070A1-5074-FA20-4B8D-7D9C0E819F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0DFA3C4-09A1-B7B1-2A8D-D39678D901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5E2EC1-952F-B77E-CEF2-4C4CDC43FE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0A06B9-A82B-4BAC-BCA4-4660661F0AA5}" type="datetimeFigureOut">
              <a:rPr lang="es-MX" smtClean="0"/>
              <a:t>30/05/2026</a:t>
            </a:fld>
            <a:endParaRPr lang="es-MX"/>
          </a:p>
        </p:txBody>
      </p:sp>
      <p:sp>
        <p:nvSpPr>
          <p:cNvPr id="5" name="Marcador de pie de página 4">
            <a:extLst>
              <a:ext uri="{FF2B5EF4-FFF2-40B4-BE49-F238E27FC236}">
                <a16:creationId xmlns:a16="http://schemas.microsoft.com/office/drawing/2014/main" id="{DEE961F3-1BDC-0AC5-A320-B3A8EEE025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7441776B-93A7-9CE3-7278-62F0F8A12C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BC1D2D-2E55-4B07-B912-AC40D2714432}" type="slidenum">
              <a:rPr lang="es-MX" smtClean="0"/>
              <a:t>‹Nº›</a:t>
            </a:fld>
            <a:endParaRPr lang="es-MX"/>
          </a:p>
        </p:txBody>
      </p:sp>
    </p:spTree>
    <p:extLst>
      <p:ext uri="{BB962C8B-B14F-4D97-AF65-F5344CB8AC3E}">
        <p14:creationId xmlns:p14="http://schemas.microsoft.com/office/powerpoint/2010/main" val="3708060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53ADD9B7-B2ED-8E5E-732C-C51E829282EB}"/>
              </a:ext>
            </a:extLst>
          </p:cNvPr>
          <p:cNvSpPr txBox="1"/>
          <p:nvPr/>
        </p:nvSpPr>
        <p:spPr>
          <a:xfrm>
            <a:off x="2374586" y="2011396"/>
            <a:ext cx="7644625" cy="4678204"/>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Administración</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2.2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03 de Mayo del 2026</a:t>
            </a:r>
          </a:p>
        </p:txBody>
      </p:sp>
      <p:sp>
        <p:nvSpPr>
          <p:cNvPr id="5" name="TextBox 8">
            <a:extLst>
              <a:ext uri="{FF2B5EF4-FFF2-40B4-BE49-F238E27FC236}">
                <a16:creationId xmlns:a16="http://schemas.microsoft.com/office/drawing/2014/main" id="{FBD2C762-7F79-EBDC-0425-BF2A85A9C911}"/>
              </a:ext>
            </a:extLst>
          </p:cNvPr>
          <p:cNvSpPr txBox="1"/>
          <p:nvPr/>
        </p:nvSpPr>
        <p:spPr>
          <a:xfrm>
            <a:off x="2018662" y="1127967"/>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79052A7C-B8B9-00C4-886D-2E83B8EA0B43}"/>
              </a:ext>
            </a:extLst>
          </p:cNvPr>
          <p:cNvGrpSpPr/>
          <p:nvPr/>
        </p:nvGrpSpPr>
        <p:grpSpPr>
          <a:xfrm>
            <a:off x="900094" y="85695"/>
            <a:ext cx="1833537" cy="1054536"/>
            <a:chOff x="0" y="0"/>
            <a:chExt cx="3073400" cy="1308100"/>
          </a:xfrm>
        </p:grpSpPr>
        <p:sp>
          <p:nvSpPr>
            <p:cNvPr id="7" name="Freeform 3">
              <a:extLst>
                <a:ext uri="{FF2B5EF4-FFF2-40B4-BE49-F238E27FC236}">
                  <a16:creationId xmlns:a16="http://schemas.microsoft.com/office/drawing/2014/main" id="{C1588CC4-8F70-A5D8-75B6-0EA42DE60A50}"/>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08687818-9786-9EEE-CC26-F6CCF278D0FB}"/>
              </a:ext>
            </a:extLst>
          </p:cNvPr>
          <p:cNvGrpSpPr/>
          <p:nvPr/>
        </p:nvGrpSpPr>
        <p:grpSpPr>
          <a:xfrm>
            <a:off x="10101943" y="167651"/>
            <a:ext cx="1517156" cy="890624"/>
            <a:chOff x="0" y="0"/>
            <a:chExt cx="1981200" cy="1625600"/>
          </a:xfrm>
        </p:grpSpPr>
        <p:sp>
          <p:nvSpPr>
            <p:cNvPr id="9" name="Freeform 5">
              <a:extLst>
                <a:ext uri="{FF2B5EF4-FFF2-40B4-BE49-F238E27FC236}">
                  <a16:creationId xmlns:a16="http://schemas.microsoft.com/office/drawing/2014/main" id="{DD9A74DA-A71B-DEE2-638B-BB1101C31731}"/>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95D61CFC-72D2-2846-A4FE-1DFD2968E2AF}"/>
              </a:ext>
            </a:extLst>
          </p:cNvPr>
          <p:cNvGrpSpPr/>
          <p:nvPr/>
        </p:nvGrpSpPr>
        <p:grpSpPr>
          <a:xfrm>
            <a:off x="4853273" y="255009"/>
            <a:ext cx="2687249" cy="587136"/>
            <a:chOff x="0" y="0"/>
            <a:chExt cx="4343400" cy="901700"/>
          </a:xfrm>
        </p:grpSpPr>
        <p:sp>
          <p:nvSpPr>
            <p:cNvPr id="11" name="Freeform 7">
              <a:extLst>
                <a:ext uri="{FF2B5EF4-FFF2-40B4-BE49-F238E27FC236}">
                  <a16:creationId xmlns:a16="http://schemas.microsoft.com/office/drawing/2014/main" id="{3C7F3500-D317-16D5-C328-72C2B457ED16}"/>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4071434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AE23F9-36F2-D4E2-BEC6-13A681E00806}"/>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CD79B136-9CEE-BE6F-D2D5-5AFEA55720B4}"/>
              </a:ext>
            </a:extLst>
          </p:cNvPr>
          <p:cNvSpPr>
            <a:spLocks noGrp="1"/>
          </p:cNvSpPr>
          <p:nvPr>
            <p:ph idx="1"/>
          </p:nvPr>
        </p:nvSpPr>
        <p:spPr/>
        <p:txBody>
          <a:bodyPr>
            <a:normAutofit fontScale="70000" lnSpcReduction="20000"/>
          </a:bodyPr>
          <a:lstStyle/>
          <a:p>
            <a:pPr marL="0" indent="0" algn="just">
              <a:lnSpc>
                <a:spcPct val="120000"/>
              </a:lnSpc>
              <a:buNone/>
            </a:pPr>
            <a:r>
              <a:rPr lang="es-MX" dirty="0">
                <a:latin typeface="Arial" panose="020B0604020202020204" pitchFamily="34" charset="0"/>
                <a:cs typeface="Arial" panose="020B0604020202020204" pitchFamily="34" charset="0"/>
              </a:rPr>
              <a:t>En el desarrollo de software moderno, las arquitecturas basadas en microservicios se han convertido en una solución eficiente para construir aplicaciones escalables, flexibles y fáciles de mantener. A diferencia de una arquitectura monolítica, donde toda la aplicación se encuentra integrada en un solo bloque, los microservicios permiten dividir el sistema en pequeños servicios independientes que se comunican entre sí.</a:t>
            </a:r>
          </a:p>
          <a:p>
            <a:pPr marL="0" indent="0" algn="just">
              <a:lnSpc>
                <a:spcPct val="120000"/>
              </a:lnSpc>
              <a:buNone/>
            </a:pPr>
            <a:r>
              <a:rPr lang="es-MX" dirty="0">
                <a:latin typeface="Arial" panose="020B0604020202020204" pitchFamily="34" charset="0"/>
                <a:cs typeface="Arial" panose="020B0604020202020204" pitchFamily="34" charset="0"/>
              </a:rPr>
              <a:t>Durante esta práctica se implementó un ecosistema de microservicios utilizando tecnologías del entorno Spring </a:t>
            </a:r>
            <a:r>
              <a:rPr lang="es-MX" dirty="0" err="1">
                <a:latin typeface="Arial" panose="020B0604020202020204" pitchFamily="34" charset="0"/>
                <a:cs typeface="Arial" panose="020B0604020202020204" pitchFamily="34" charset="0"/>
              </a:rPr>
              <a:t>Boot</a:t>
            </a:r>
            <a:r>
              <a:rPr lang="es-MX" dirty="0">
                <a:latin typeface="Arial" panose="020B0604020202020204" pitchFamily="34" charset="0"/>
                <a:cs typeface="Arial" panose="020B0604020202020204" pitchFamily="34" charset="0"/>
              </a:rPr>
              <a:t> y Spring Cloud. El sistema fue desarrollado en Ubuntu Linux y se integraron herramientas como Eureka Server, </a:t>
            </a:r>
            <a:r>
              <a:rPr lang="es-MX" dirty="0" err="1">
                <a:latin typeface="Arial" panose="020B0604020202020204" pitchFamily="34" charset="0"/>
                <a:cs typeface="Arial" panose="020B0604020202020204" pitchFamily="34" charset="0"/>
              </a:rPr>
              <a:t>Config</a:t>
            </a:r>
            <a:r>
              <a:rPr lang="es-MX" dirty="0">
                <a:latin typeface="Arial" panose="020B0604020202020204" pitchFamily="34" charset="0"/>
                <a:cs typeface="Arial" panose="020B0604020202020204" pitchFamily="34" charset="0"/>
              </a:rPr>
              <a:t> Server, API Gateway, Docker, </a:t>
            </a:r>
            <a:r>
              <a:rPr lang="es-MX" dirty="0" err="1">
                <a:latin typeface="Arial" panose="020B0604020202020204" pitchFamily="34" charset="0"/>
                <a:cs typeface="Arial" panose="020B0604020202020204" pitchFamily="34" charset="0"/>
              </a:rPr>
              <a:t>Postman</a:t>
            </a:r>
            <a:r>
              <a:rPr lang="es-MX" dirty="0">
                <a:latin typeface="Arial" panose="020B0604020202020204" pitchFamily="34" charset="0"/>
                <a:cs typeface="Arial" panose="020B0604020202020204" pitchFamily="34" charset="0"/>
              </a:rPr>
              <a:t> y </a:t>
            </a:r>
            <a:r>
              <a:rPr lang="es-MX" dirty="0" err="1">
                <a:latin typeface="Arial" panose="020B0604020202020204" pitchFamily="34" charset="0"/>
                <a:cs typeface="Arial" panose="020B0604020202020204" pitchFamily="34" charset="0"/>
              </a:rPr>
              <a:t>DBeaver</a:t>
            </a:r>
            <a:r>
              <a:rPr lang="es-MX" dirty="0">
                <a:latin typeface="Arial" panose="020B0604020202020204" pitchFamily="34" charset="0"/>
                <a:cs typeface="Arial" panose="020B0604020202020204" pitchFamily="34" charset="0"/>
              </a:rPr>
              <a:t>.</a:t>
            </a:r>
          </a:p>
          <a:p>
            <a:pPr marL="0" indent="0" algn="just">
              <a:lnSpc>
                <a:spcPct val="120000"/>
              </a:lnSpc>
              <a:buNone/>
            </a:pPr>
            <a:r>
              <a:rPr lang="es-MX" dirty="0">
                <a:latin typeface="Arial" panose="020B0604020202020204" pitchFamily="34" charset="0"/>
                <a:cs typeface="Arial" panose="020B0604020202020204" pitchFamily="34" charset="0"/>
              </a:rPr>
              <a:t>El objetivo principal de esta práctica fue comprender el funcionamiento de una arquitectura distribuida, así como la comunicación entre microservicios, el manejo centralizado de configuraciones y la persistencia de datos mediante MySQL.</a:t>
            </a:r>
          </a:p>
          <a:p>
            <a:pPr marL="0" indent="0" algn="just">
              <a:lnSpc>
                <a:spcPct val="120000"/>
              </a:lnSpc>
              <a:buNone/>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2394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8F0C6C-DF96-4DA7-7BB2-8ACC9DE94283}"/>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F95362DE-39D3-EE69-054B-F8B94ED39268}"/>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La implementación de arquitecturas basadas en microservicios se ha convertido en una necesidad dentro del desarrollo de software moderno debido a la facilidad que ofrecen para escalar, mantener y distribuir aplicaciones. A diferencia de los sistemas monolíticos, los microservicios permiten dividir un sistema en componentes independientes capaces de trabajar de manera autónoma.</a:t>
            </a:r>
          </a:p>
          <a:p>
            <a:pPr marL="0" indent="0" algn="just">
              <a:buNone/>
            </a:pPr>
            <a:r>
              <a:rPr lang="es-MX" sz="2000" dirty="0">
                <a:latin typeface="Arial" panose="020B0604020202020204" pitchFamily="34" charset="0"/>
                <a:cs typeface="Arial" panose="020B0604020202020204" pitchFamily="34" charset="0"/>
              </a:rPr>
              <a:t>La realización de esta práctica permitió comprender cómo interactúan diferentes servicios dentro de un entorno distribuido utilizando herramientas profesionales del ecosistema Spring Cloud. Además, se fortalecieron conocimientos relacionados con </a:t>
            </a:r>
            <a:r>
              <a:rPr lang="es-MX" sz="2000" dirty="0" err="1">
                <a:latin typeface="Arial" panose="020B0604020202020204" pitchFamily="34" charset="0"/>
                <a:cs typeface="Arial" panose="020B0604020202020204" pitchFamily="34" charset="0"/>
              </a:rPr>
              <a:t>APIs</a:t>
            </a:r>
            <a:r>
              <a:rPr lang="es-MX" sz="2000" dirty="0">
                <a:latin typeface="Arial" panose="020B0604020202020204" pitchFamily="34" charset="0"/>
                <a:cs typeface="Arial" panose="020B0604020202020204" pitchFamily="34" charset="0"/>
              </a:rPr>
              <a:t> REST, comunicación entre servicios, configuración centralizada y persistencia de datos.</a:t>
            </a:r>
          </a:p>
          <a:p>
            <a:pPr marL="0" indent="0" algn="just">
              <a:buNone/>
            </a:pPr>
            <a:r>
              <a:rPr lang="es-MX" sz="2000" dirty="0">
                <a:latin typeface="Arial" panose="020B0604020202020204" pitchFamily="34" charset="0"/>
                <a:cs typeface="Arial" panose="020B0604020202020204" pitchFamily="34" charset="0"/>
              </a:rPr>
              <a:t>También fue importante trabajar con herramientas como Docker, GitHub, </a:t>
            </a:r>
            <a:r>
              <a:rPr lang="es-MX" sz="2000" dirty="0" err="1">
                <a:latin typeface="Arial" panose="020B0604020202020204" pitchFamily="34" charset="0"/>
                <a:cs typeface="Arial" panose="020B0604020202020204" pitchFamily="34" charset="0"/>
              </a:rPr>
              <a:t>Postman</a:t>
            </a:r>
            <a:r>
              <a:rPr lang="es-MX" sz="2000" dirty="0">
                <a:latin typeface="Arial" panose="020B0604020202020204" pitchFamily="34" charset="0"/>
                <a:cs typeface="Arial" panose="020B0604020202020204" pitchFamily="34" charset="0"/>
              </a:rPr>
              <a:t> y </a:t>
            </a:r>
            <a:r>
              <a:rPr lang="es-MX" sz="2000" dirty="0" err="1">
                <a:latin typeface="Arial" panose="020B0604020202020204" pitchFamily="34" charset="0"/>
                <a:cs typeface="Arial" panose="020B0604020202020204" pitchFamily="34" charset="0"/>
              </a:rPr>
              <a:t>DBeaver</a:t>
            </a:r>
            <a:r>
              <a:rPr lang="es-MX" sz="2000" dirty="0">
                <a:latin typeface="Arial" panose="020B0604020202020204" pitchFamily="34" charset="0"/>
                <a:cs typeface="Arial" panose="020B0604020202020204" pitchFamily="34" charset="0"/>
              </a:rPr>
              <a:t>, ya que son ampliamente utilizadas en entornos reales de desarrollo </a:t>
            </a:r>
            <a:r>
              <a:rPr lang="es-MX" sz="2000" dirty="0" err="1">
                <a:latin typeface="Arial" panose="020B0604020202020204" pitchFamily="34" charset="0"/>
                <a:cs typeface="Arial" panose="020B0604020202020204" pitchFamily="34" charset="0"/>
              </a:rPr>
              <a:t>backend</a:t>
            </a:r>
            <a:r>
              <a:rPr lang="es-MX" sz="2000" dirty="0">
                <a:latin typeface="Arial" panose="020B0604020202020204" pitchFamily="34" charset="0"/>
                <a:cs typeface="Arial" panose="020B0604020202020204" pitchFamily="34" charset="0"/>
              </a:rPr>
              <a:t>.</a:t>
            </a:r>
          </a:p>
          <a:p>
            <a:pPr marL="0" indent="0" algn="just">
              <a:buNone/>
            </a:pPr>
            <a:r>
              <a:rPr lang="es-MX" sz="2000" dirty="0">
                <a:latin typeface="Arial" panose="020B0604020202020204" pitchFamily="34" charset="0"/>
                <a:cs typeface="Arial" panose="020B0604020202020204" pitchFamily="34" charset="0"/>
              </a:rPr>
              <a:t>Esta práctica contribuye al desarrollo de habilidades técnicas necesarias para la creación de sistemas modernos, escalables y organizados.</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3092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559014-D075-DDA5-0CAF-0095FD158F8A}"/>
              </a:ext>
            </a:extLst>
          </p:cNvPr>
          <p:cNvSpPr>
            <a:spLocks noGrp="1"/>
          </p:cNvSpPr>
          <p:nvPr>
            <p:ph type="title"/>
          </p:nvPr>
        </p:nvSpPr>
        <p:spPr/>
        <p:txBody>
          <a:bodyPr/>
          <a:lstStyle/>
          <a:p>
            <a:r>
              <a:rPr lang="es-MX" dirty="0"/>
              <a:t>Objetivo general </a:t>
            </a:r>
          </a:p>
        </p:txBody>
      </p:sp>
      <p:sp>
        <p:nvSpPr>
          <p:cNvPr id="3" name="Marcador de contenido 2">
            <a:extLst>
              <a:ext uri="{FF2B5EF4-FFF2-40B4-BE49-F238E27FC236}">
                <a16:creationId xmlns:a16="http://schemas.microsoft.com/office/drawing/2014/main" id="{3F2C4A12-8B58-F923-EA84-07E4989A2B63}"/>
              </a:ext>
            </a:extLst>
          </p:cNvPr>
          <p:cNvSpPr>
            <a:spLocks noGrp="1"/>
          </p:cNvSpPr>
          <p:nvPr>
            <p:ph idx="1"/>
          </p:nvPr>
        </p:nvSpPr>
        <p:spPr>
          <a:xfrm>
            <a:off x="838200" y="1641814"/>
            <a:ext cx="10515600" cy="1124404"/>
          </a:xfrm>
        </p:spPr>
        <p:txBody>
          <a:bodyPr>
            <a:normAutofit lnSpcReduction="10000"/>
          </a:bodyPr>
          <a:lstStyle/>
          <a:p>
            <a:pPr marL="0" indent="0" algn="just">
              <a:buNone/>
            </a:pPr>
            <a:r>
              <a:rPr lang="es-MX" sz="2000" dirty="0">
                <a:latin typeface="Arial" panose="020B0604020202020204" pitchFamily="34" charset="0"/>
                <a:cs typeface="Arial" panose="020B0604020202020204" pitchFamily="34" charset="0"/>
              </a:rPr>
              <a:t>Desarrollar e implementar un sistema basado en microservicios utilizando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 y Spring Cloud, permitiendo la comunicación entre servicios, el registro dinámico mediante Eureka, la configuración centralizada con </a:t>
            </a:r>
            <a:r>
              <a:rPr lang="es-MX" sz="2000" dirty="0" err="1">
                <a:latin typeface="Arial" panose="020B0604020202020204" pitchFamily="34" charset="0"/>
                <a:cs typeface="Arial" panose="020B0604020202020204" pitchFamily="34" charset="0"/>
              </a:rPr>
              <a:t>Config</a:t>
            </a:r>
            <a:r>
              <a:rPr lang="es-MX" sz="2000" dirty="0">
                <a:latin typeface="Arial" panose="020B0604020202020204" pitchFamily="34" charset="0"/>
                <a:cs typeface="Arial" panose="020B0604020202020204" pitchFamily="34" charset="0"/>
              </a:rPr>
              <a:t> Server y el almacenamiento de información en una base de datos MySQL.</a:t>
            </a:r>
          </a:p>
        </p:txBody>
      </p:sp>
      <p:sp>
        <p:nvSpPr>
          <p:cNvPr id="4" name="Título 1">
            <a:extLst>
              <a:ext uri="{FF2B5EF4-FFF2-40B4-BE49-F238E27FC236}">
                <a16:creationId xmlns:a16="http://schemas.microsoft.com/office/drawing/2014/main" id="{DA28C517-7361-0FCB-C9C0-628762D4F407}"/>
              </a:ext>
            </a:extLst>
          </p:cNvPr>
          <p:cNvSpPr txBox="1">
            <a:spLocks/>
          </p:cNvSpPr>
          <p:nvPr/>
        </p:nvSpPr>
        <p:spPr>
          <a:xfrm>
            <a:off x="839832" y="265327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600" dirty="0"/>
              <a:t>Objetivos específicos </a:t>
            </a:r>
          </a:p>
        </p:txBody>
      </p:sp>
      <p:sp>
        <p:nvSpPr>
          <p:cNvPr id="5" name="Rectangle 1">
            <a:extLst>
              <a:ext uri="{FF2B5EF4-FFF2-40B4-BE49-F238E27FC236}">
                <a16:creationId xmlns:a16="http://schemas.microsoft.com/office/drawing/2014/main" id="{F2CDBDEF-F637-A74F-24BF-FB816E2D3F9C}"/>
              </a:ext>
            </a:extLst>
          </p:cNvPr>
          <p:cNvSpPr txBox="1">
            <a:spLocks noChangeArrowheads="1"/>
          </p:cNvSpPr>
          <p:nvPr/>
        </p:nvSpPr>
        <p:spPr bwMode="auto">
          <a:xfrm>
            <a:off x="718457" y="3841748"/>
            <a:ext cx="866339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0" fontAlgn="base" hangingPunct="0">
              <a:lnSpc>
                <a:spcPct val="100000"/>
              </a:lnSpc>
              <a:spcBef>
                <a:spcPct val="0"/>
              </a:spcBef>
              <a:spcAft>
                <a:spcPct val="0"/>
              </a:spcAft>
            </a:pPr>
            <a:r>
              <a:rPr lang="es-MX" altLang="es-MX" sz="2000" dirty="0">
                <a:latin typeface="Arial" panose="020B0604020202020204" pitchFamily="34" charset="0"/>
                <a:cs typeface="Arial" panose="020B0604020202020204" pitchFamily="34" charset="0"/>
              </a:rPr>
              <a:t>Configurar un entorno de desarrollo de microservicios en Ubuntu Linux.</a:t>
            </a:r>
          </a:p>
          <a:p>
            <a:pPr algn="just" eaLnBrk="0" fontAlgn="base" hangingPunct="0">
              <a:lnSpc>
                <a:spcPct val="100000"/>
              </a:lnSpc>
              <a:spcBef>
                <a:spcPct val="0"/>
              </a:spcBef>
              <a:spcAft>
                <a:spcPct val="0"/>
              </a:spcAft>
            </a:pPr>
            <a:r>
              <a:rPr lang="es-MX" altLang="es-MX" sz="2000" dirty="0">
                <a:latin typeface="Arial" panose="020B0604020202020204" pitchFamily="34" charset="0"/>
                <a:cs typeface="Arial" panose="020B0604020202020204" pitchFamily="34" charset="0"/>
              </a:rPr>
              <a:t>Implementar Eureka Server para el descubrimiento de servicios.</a:t>
            </a:r>
          </a:p>
          <a:p>
            <a:pPr algn="just" eaLnBrk="0" fontAlgn="base" hangingPunct="0">
              <a:lnSpc>
                <a:spcPct val="100000"/>
              </a:lnSpc>
              <a:spcBef>
                <a:spcPct val="0"/>
              </a:spcBef>
              <a:spcAft>
                <a:spcPct val="0"/>
              </a:spcAft>
            </a:pPr>
            <a:r>
              <a:rPr lang="es-MX" altLang="es-MX" sz="2000" dirty="0">
                <a:latin typeface="Arial" panose="020B0604020202020204" pitchFamily="34" charset="0"/>
                <a:cs typeface="Arial" panose="020B0604020202020204" pitchFamily="34" charset="0"/>
              </a:rPr>
              <a:t>Configurar un </a:t>
            </a:r>
            <a:r>
              <a:rPr lang="es-MX" altLang="es-MX" sz="2000" dirty="0" err="1">
                <a:latin typeface="Arial" panose="020B0604020202020204" pitchFamily="34" charset="0"/>
                <a:cs typeface="Arial" panose="020B0604020202020204" pitchFamily="34" charset="0"/>
              </a:rPr>
              <a:t>Config</a:t>
            </a:r>
            <a:r>
              <a:rPr lang="es-MX" altLang="es-MX" sz="2000" dirty="0">
                <a:latin typeface="Arial" panose="020B0604020202020204" pitchFamily="34" charset="0"/>
                <a:cs typeface="Arial" panose="020B0604020202020204" pitchFamily="34" charset="0"/>
              </a:rPr>
              <a:t> Server conectado a un repositorio GitHub.</a:t>
            </a:r>
          </a:p>
          <a:p>
            <a:pPr algn="just" eaLnBrk="0" fontAlgn="base" hangingPunct="0">
              <a:lnSpc>
                <a:spcPct val="100000"/>
              </a:lnSpc>
              <a:spcBef>
                <a:spcPct val="0"/>
              </a:spcBef>
              <a:spcAft>
                <a:spcPct val="0"/>
              </a:spcAft>
            </a:pPr>
            <a:r>
              <a:rPr lang="es-MX" altLang="es-MX" sz="2000" dirty="0">
                <a:latin typeface="Arial" panose="020B0604020202020204" pitchFamily="34" charset="0"/>
                <a:cs typeface="Arial" panose="020B0604020202020204" pitchFamily="34" charset="0"/>
              </a:rPr>
              <a:t>Desarrollar los microservicios </a:t>
            </a:r>
            <a:r>
              <a:rPr lang="es-MX" altLang="es-MX" sz="2000" dirty="0" err="1">
                <a:latin typeface="Arial" panose="020B0604020202020204" pitchFamily="34" charset="0"/>
                <a:cs typeface="Arial" panose="020B0604020202020204" pitchFamily="34" charset="0"/>
              </a:rPr>
              <a:t>Students</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Service</a:t>
            </a:r>
            <a:r>
              <a:rPr lang="es-MX" altLang="es-MX" sz="2000" dirty="0">
                <a:latin typeface="Arial" panose="020B0604020202020204" pitchFamily="34" charset="0"/>
                <a:cs typeface="Arial" panose="020B0604020202020204" pitchFamily="34" charset="0"/>
              </a:rPr>
              <a:t> y </a:t>
            </a:r>
            <a:r>
              <a:rPr lang="es-MX" altLang="es-MX" sz="2000" dirty="0" err="1">
                <a:latin typeface="Arial" panose="020B0604020202020204" pitchFamily="34" charset="0"/>
                <a:cs typeface="Arial" panose="020B0604020202020204" pitchFamily="34" charset="0"/>
              </a:rPr>
              <a:t>Courses</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Service</a:t>
            </a:r>
            <a:r>
              <a:rPr lang="es-MX" altLang="es-MX" sz="2000" dirty="0">
                <a:latin typeface="Arial" panose="020B0604020202020204" pitchFamily="34" charset="0"/>
                <a:cs typeface="Arial" panose="020B0604020202020204" pitchFamily="34" charset="0"/>
              </a:rPr>
              <a:t>.</a:t>
            </a:r>
          </a:p>
          <a:p>
            <a:pPr algn="just" eaLnBrk="0" fontAlgn="base" hangingPunct="0">
              <a:lnSpc>
                <a:spcPct val="100000"/>
              </a:lnSpc>
              <a:spcBef>
                <a:spcPct val="0"/>
              </a:spcBef>
              <a:spcAft>
                <a:spcPct val="0"/>
              </a:spcAft>
            </a:pPr>
            <a:r>
              <a:rPr lang="es-MX" altLang="es-MX" sz="2000" dirty="0">
                <a:latin typeface="Arial" panose="020B0604020202020204" pitchFamily="34" charset="0"/>
                <a:cs typeface="Arial" panose="020B0604020202020204" pitchFamily="34" charset="0"/>
              </a:rPr>
              <a:t>Implementar comunicación entre microservicios mediante </a:t>
            </a:r>
            <a:r>
              <a:rPr lang="es-MX" altLang="es-MX" sz="2000" dirty="0" err="1">
                <a:latin typeface="Arial" panose="020B0604020202020204" pitchFamily="34" charset="0"/>
                <a:cs typeface="Arial" panose="020B0604020202020204" pitchFamily="34" charset="0"/>
              </a:rPr>
              <a:t>RestTemplate</a:t>
            </a:r>
            <a:r>
              <a:rPr lang="es-MX" altLang="es-MX" sz="2000" dirty="0">
                <a:latin typeface="Arial" panose="020B0604020202020204" pitchFamily="34" charset="0"/>
                <a:cs typeface="Arial" panose="020B0604020202020204" pitchFamily="34" charset="0"/>
              </a:rPr>
              <a:t>.</a:t>
            </a:r>
          </a:p>
          <a:p>
            <a:pPr algn="just" eaLnBrk="0" fontAlgn="base" hangingPunct="0">
              <a:lnSpc>
                <a:spcPct val="100000"/>
              </a:lnSpc>
              <a:spcBef>
                <a:spcPct val="0"/>
              </a:spcBef>
              <a:spcAft>
                <a:spcPct val="0"/>
              </a:spcAft>
            </a:pPr>
            <a:r>
              <a:rPr lang="es-MX" altLang="es-MX" sz="2000" dirty="0">
                <a:latin typeface="Arial" panose="020B0604020202020204" pitchFamily="34" charset="0"/>
                <a:cs typeface="Arial" panose="020B0604020202020204" pitchFamily="34" charset="0"/>
              </a:rPr>
              <a:t>Configurar un API Gateway como punto único de acceso.</a:t>
            </a:r>
          </a:p>
          <a:p>
            <a:pPr algn="just" eaLnBrk="0" fontAlgn="base" hangingPunct="0">
              <a:lnSpc>
                <a:spcPct val="100000"/>
              </a:lnSpc>
              <a:spcBef>
                <a:spcPct val="0"/>
              </a:spcBef>
              <a:spcAft>
                <a:spcPct val="0"/>
              </a:spcAft>
            </a:pPr>
            <a:r>
              <a:rPr lang="es-MX" altLang="es-MX" sz="2000" dirty="0">
                <a:latin typeface="Arial" panose="020B0604020202020204" pitchFamily="34" charset="0"/>
                <a:cs typeface="Arial" panose="020B0604020202020204" pitchFamily="34" charset="0"/>
              </a:rPr>
              <a:t>Integrar MySQL utilizando Docker.</a:t>
            </a:r>
          </a:p>
          <a:p>
            <a:pPr algn="just" eaLnBrk="0" fontAlgn="base" hangingPunct="0">
              <a:lnSpc>
                <a:spcPct val="100000"/>
              </a:lnSpc>
              <a:spcBef>
                <a:spcPct val="0"/>
              </a:spcBef>
              <a:spcAft>
                <a:spcPct val="0"/>
              </a:spcAft>
            </a:pPr>
            <a:r>
              <a:rPr lang="es-MX" altLang="es-MX" sz="2000" dirty="0">
                <a:latin typeface="Arial" panose="020B0604020202020204" pitchFamily="34" charset="0"/>
                <a:cs typeface="Arial" panose="020B0604020202020204" pitchFamily="34" charset="0"/>
              </a:rPr>
              <a:t>Realizar pruebas funcionales mediante </a:t>
            </a:r>
            <a:r>
              <a:rPr lang="es-MX" altLang="es-MX" sz="2000" dirty="0" err="1">
                <a:latin typeface="Arial" panose="020B0604020202020204" pitchFamily="34" charset="0"/>
                <a:cs typeface="Arial" panose="020B0604020202020204" pitchFamily="34" charset="0"/>
              </a:rPr>
              <a:t>Postman</a:t>
            </a:r>
            <a:r>
              <a:rPr lang="es-MX" altLang="es-MX" sz="2000" dirty="0">
                <a:latin typeface="Arial" panose="020B0604020202020204" pitchFamily="34" charset="0"/>
                <a:cs typeface="Arial" panose="020B0604020202020204" pitchFamily="34" charset="0"/>
              </a:rPr>
              <a:t> y </a:t>
            </a:r>
            <a:r>
              <a:rPr lang="es-MX" altLang="es-MX" sz="2000" dirty="0" err="1">
                <a:latin typeface="Arial" panose="020B0604020202020204" pitchFamily="34" charset="0"/>
                <a:cs typeface="Arial" panose="020B0604020202020204" pitchFamily="34" charset="0"/>
              </a:rPr>
              <a:t>DBeaver</a:t>
            </a:r>
            <a:r>
              <a:rPr lang="es-MX" altLang="es-MX"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434031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C4E5C4-8D85-2151-E376-3C2A44F96D4F}"/>
              </a:ext>
            </a:extLst>
          </p:cNvPr>
          <p:cNvSpPr>
            <a:spLocks noGrp="1"/>
          </p:cNvSpPr>
          <p:nvPr>
            <p:ph type="title"/>
          </p:nvPr>
        </p:nvSpPr>
        <p:spPr>
          <a:xfrm>
            <a:off x="1055914" y="0"/>
            <a:ext cx="10515600" cy="1325563"/>
          </a:xfrm>
        </p:spPr>
        <p:txBody>
          <a:bodyPr/>
          <a:lstStyle/>
          <a:p>
            <a:r>
              <a:rPr lang="es-MX" dirty="0"/>
              <a:t>Herramientas utilizadas </a:t>
            </a:r>
          </a:p>
        </p:txBody>
      </p:sp>
      <p:graphicFrame>
        <p:nvGraphicFramePr>
          <p:cNvPr id="5" name="Marcador de contenido 4">
            <a:extLst>
              <a:ext uri="{FF2B5EF4-FFF2-40B4-BE49-F238E27FC236}">
                <a16:creationId xmlns:a16="http://schemas.microsoft.com/office/drawing/2014/main" id="{6109A25F-AFAF-C9B0-BA45-CA1D7147DDF0}"/>
              </a:ext>
            </a:extLst>
          </p:cNvPr>
          <p:cNvGraphicFramePr>
            <a:graphicFrameLocks noGrp="1"/>
          </p:cNvGraphicFramePr>
          <p:nvPr>
            <p:ph idx="1"/>
            <p:extLst>
              <p:ext uri="{D42A27DB-BD31-4B8C-83A1-F6EECF244321}">
                <p14:modId xmlns:p14="http://schemas.microsoft.com/office/powerpoint/2010/main" val="3057134665"/>
              </p:ext>
            </p:extLst>
          </p:nvPr>
        </p:nvGraphicFramePr>
        <p:xfrm>
          <a:off x="1197428" y="1589313"/>
          <a:ext cx="9100457" cy="4778829"/>
        </p:xfrm>
        <a:graphic>
          <a:graphicData uri="http://schemas.openxmlformats.org/drawingml/2006/table">
            <a:tbl>
              <a:tblPr>
                <a:tableStyleId>{ED083AE6-46FA-4A59-8FB0-9F97EB10719F}</a:tableStyleId>
              </a:tblPr>
              <a:tblGrid>
                <a:gridCol w="3657600">
                  <a:extLst>
                    <a:ext uri="{9D8B030D-6E8A-4147-A177-3AD203B41FA5}">
                      <a16:colId xmlns:a16="http://schemas.microsoft.com/office/drawing/2014/main" val="913974827"/>
                    </a:ext>
                  </a:extLst>
                </a:gridCol>
                <a:gridCol w="5442857">
                  <a:extLst>
                    <a:ext uri="{9D8B030D-6E8A-4147-A177-3AD203B41FA5}">
                      <a16:colId xmlns:a16="http://schemas.microsoft.com/office/drawing/2014/main" val="1546727184"/>
                    </a:ext>
                  </a:extLst>
                </a:gridCol>
              </a:tblGrid>
              <a:tr h="327219">
                <a:tc>
                  <a:txBody>
                    <a:bodyPr/>
                    <a:lstStyle/>
                    <a:p>
                      <a:r>
                        <a:rPr lang="es-MX" sz="2000"/>
                        <a:t>Herramienta</a:t>
                      </a:r>
                    </a:p>
                  </a:txBody>
                  <a:tcPr marL="13593" marR="13593" marT="6796" marB="6796" anchor="ctr"/>
                </a:tc>
                <a:tc>
                  <a:txBody>
                    <a:bodyPr/>
                    <a:lstStyle/>
                    <a:p>
                      <a:r>
                        <a:rPr lang="es-MX" sz="2000" dirty="0"/>
                        <a:t>Función</a:t>
                      </a:r>
                    </a:p>
                  </a:txBody>
                  <a:tcPr marL="13593" marR="13593" marT="6796" marB="6796" anchor="ctr"/>
                </a:tc>
                <a:extLst>
                  <a:ext uri="{0D108BD9-81ED-4DB2-BD59-A6C34878D82A}">
                    <a16:rowId xmlns:a16="http://schemas.microsoft.com/office/drawing/2014/main" val="1130492895"/>
                  </a:ext>
                </a:extLst>
              </a:tr>
              <a:tr h="489210">
                <a:tc>
                  <a:txBody>
                    <a:bodyPr/>
                    <a:lstStyle/>
                    <a:p>
                      <a:r>
                        <a:rPr lang="es-MX" sz="2000"/>
                        <a:t>Spring Boot</a:t>
                      </a:r>
                    </a:p>
                  </a:txBody>
                  <a:tcPr marL="13593" marR="13593" marT="6796" marB="6796" anchor="ctr"/>
                </a:tc>
                <a:tc>
                  <a:txBody>
                    <a:bodyPr/>
                    <a:lstStyle/>
                    <a:p>
                      <a:r>
                        <a:rPr lang="es-MX" sz="2000"/>
                        <a:t>Desarrollo de microservicios</a:t>
                      </a:r>
                    </a:p>
                  </a:txBody>
                  <a:tcPr marL="13593" marR="13593" marT="6796" marB="6796" anchor="ctr"/>
                </a:tc>
                <a:extLst>
                  <a:ext uri="{0D108BD9-81ED-4DB2-BD59-A6C34878D82A}">
                    <a16:rowId xmlns:a16="http://schemas.microsoft.com/office/drawing/2014/main" val="2545967019"/>
                  </a:ext>
                </a:extLst>
              </a:tr>
              <a:tr h="511628">
                <a:tc>
                  <a:txBody>
                    <a:bodyPr/>
                    <a:lstStyle/>
                    <a:p>
                      <a:r>
                        <a:rPr lang="es-MX" sz="2000" dirty="0"/>
                        <a:t>Spring Cloud</a:t>
                      </a:r>
                    </a:p>
                  </a:txBody>
                  <a:tcPr marL="13593" marR="13593" marT="6796" marB="6796" anchor="ctr"/>
                </a:tc>
                <a:tc>
                  <a:txBody>
                    <a:bodyPr/>
                    <a:lstStyle/>
                    <a:p>
                      <a:r>
                        <a:rPr lang="es-MX" sz="2000"/>
                        <a:t>Implementación de componentes distribuidos</a:t>
                      </a:r>
                    </a:p>
                  </a:txBody>
                  <a:tcPr marL="13593" marR="13593" marT="6796" marB="6796" anchor="ctr"/>
                </a:tc>
                <a:extLst>
                  <a:ext uri="{0D108BD9-81ED-4DB2-BD59-A6C34878D82A}">
                    <a16:rowId xmlns:a16="http://schemas.microsoft.com/office/drawing/2014/main" val="2014626100"/>
                  </a:ext>
                </a:extLst>
              </a:tr>
              <a:tr h="402772">
                <a:tc>
                  <a:txBody>
                    <a:bodyPr/>
                    <a:lstStyle/>
                    <a:p>
                      <a:r>
                        <a:rPr lang="es-MX" sz="2000"/>
                        <a:t>Eureka Server</a:t>
                      </a:r>
                    </a:p>
                  </a:txBody>
                  <a:tcPr marL="13593" marR="13593" marT="6796" marB="6796" anchor="ctr"/>
                </a:tc>
                <a:tc>
                  <a:txBody>
                    <a:bodyPr/>
                    <a:lstStyle/>
                    <a:p>
                      <a:r>
                        <a:rPr lang="es-MX" sz="2000"/>
                        <a:t>Registro y descubrimiento de servicios</a:t>
                      </a:r>
                    </a:p>
                  </a:txBody>
                  <a:tcPr marL="13593" marR="13593" marT="6796" marB="6796" anchor="ctr"/>
                </a:tc>
                <a:extLst>
                  <a:ext uri="{0D108BD9-81ED-4DB2-BD59-A6C34878D82A}">
                    <a16:rowId xmlns:a16="http://schemas.microsoft.com/office/drawing/2014/main" val="1234783854"/>
                  </a:ext>
                </a:extLst>
              </a:tr>
              <a:tr h="337457">
                <a:tc>
                  <a:txBody>
                    <a:bodyPr/>
                    <a:lstStyle/>
                    <a:p>
                      <a:r>
                        <a:rPr lang="es-MX" sz="2000"/>
                        <a:t>Config Server</a:t>
                      </a:r>
                    </a:p>
                  </a:txBody>
                  <a:tcPr marL="13593" marR="13593" marT="6796" marB="6796" anchor="ctr"/>
                </a:tc>
                <a:tc>
                  <a:txBody>
                    <a:bodyPr/>
                    <a:lstStyle/>
                    <a:p>
                      <a:r>
                        <a:rPr lang="es-MX" sz="2000"/>
                        <a:t>Configuración centralizada</a:t>
                      </a:r>
                    </a:p>
                  </a:txBody>
                  <a:tcPr marL="13593" marR="13593" marT="6796" marB="6796" anchor="ctr"/>
                </a:tc>
                <a:extLst>
                  <a:ext uri="{0D108BD9-81ED-4DB2-BD59-A6C34878D82A}">
                    <a16:rowId xmlns:a16="http://schemas.microsoft.com/office/drawing/2014/main" val="4151694489"/>
                  </a:ext>
                </a:extLst>
              </a:tr>
              <a:tr h="381000">
                <a:tc>
                  <a:txBody>
                    <a:bodyPr/>
                    <a:lstStyle/>
                    <a:p>
                      <a:r>
                        <a:rPr lang="es-MX" sz="2000"/>
                        <a:t>API Gateway</a:t>
                      </a:r>
                    </a:p>
                  </a:txBody>
                  <a:tcPr marL="13593" marR="13593" marT="6796" marB="6796" anchor="ctr"/>
                </a:tc>
                <a:tc>
                  <a:txBody>
                    <a:bodyPr/>
                    <a:lstStyle/>
                    <a:p>
                      <a:r>
                        <a:rPr lang="es-MX" sz="2000"/>
                        <a:t>Punto único de entrada</a:t>
                      </a:r>
                    </a:p>
                  </a:txBody>
                  <a:tcPr marL="13593" marR="13593" marT="6796" marB="6796" anchor="ctr"/>
                </a:tc>
                <a:extLst>
                  <a:ext uri="{0D108BD9-81ED-4DB2-BD59-A6C34878D82A}">
                    <a16:rowId xmlns:a16="http://schemas.microsoft.com/office/drawing/2014/main" val="3230208178"/>
                  </a:ext>
                </a:extLst>
              </a:tr>
              <a:tr h="370114">
                <a:tc>
                  <a:txBody>
                    <a:bodyPr/>
                    <a:lstStyle/>
                    <a:p>
                      <a:r>
                        <a:rPr lang="es-MX" sz="2000"/>
                        <a:t>Docker Desktop</a:t>
                      </a:r>
                    </a:p>
                  </a:txBody>
                  <a:tcPr marL="13593" marR="13593" marT="6796" marB="6796" anchor="ctr"/>
                </a:tc>
                <a:tc>
                  <a:txBody>
                    <a:bodyPr/>
                    <a:lstStyle/>
                    <a:p>
                      <a:r>
                        <a:rPr lang="es-MX" sz="2000"/>
                        <a:t>Ejecución de MySQL en contenedor</a:t>
                      </a:r>
                    </a:p>
                  </a:txBody>
                  <a:tcPr marL="13593" marR="13593" marT="6796" marB="6796" anchor="ctr"/>
                </a:tc>
                <a:extLst>
                  <a:ext uri="{0D108BD9-81ED-4DB2-BD59-A6C34878D82A}">
                    <a16:rowId xmlns:a16="http://schemas.microsoft.com/office/drawing/2014/main" val="3038190010"/>
                  </a:ext>
                </a:extLst>
              </a:tr>
              <a:tr h="391886">
                <a:tc>
                  <a:txBody>
                    <a:bodyPr/>
                    <a:lstStyle/>
                    <a:p>
                      <a:r>
                        <a:rPr lang="es-MX" sz="2000"/>
                        <a:t>MySQL</a:t>
                      </a:r>
                    </a:p>
                  </a:txBody>
                  <a:tcPr marL="13593" marR="13593" marT="6796" marB="6796" anchor="ctr"/>
                </a:tc>
                <a:tc>
                  <a:txBody>
                    <a:bodyPr/>
                    <a:lstStyle/>
                    <a:p>
                      <a:r>
                        <a:rPr lang="es-MX" sz="2000"/>
                        <a:t>Base de datos relacional</a:t>
                      </a:r>
                    </a:p>
                  </a:txBody>
                  <a:tcPr marL="13593" marR="13593" marT="6796" marB="6796" anchor="ctr"/>
                </a:tc>
                <a:extLst>
                  <a:ext uri="{0D108BD9-81ED-4DB2-BD59-A6C34878D82A}">
                    <a16:rowId xmlns:a16="http://schemas.microsoft.com/office/drawing/2014/main" val="2781739062"/>
                  </a:ext>
                </a:extLst>
              </a:tr>
              <a:tr h="413657">
                <a:tc>
                  <a:txBody>
                    <a:bodyPr/>
                    <a:lstStyle/>
                    <a:p>
                      <a:r>
                        <a:rPr lang="es-MX" sz="2000"/>
                        <a:t>Postman</a:t>
                      </a:r>
                    </a:p>
                  </a:txBody>
                  <a:tcPr marL="13593" marR="13593" marT="6796" marB="6796" anchor="ctr"/>
                </a:tc>
                <a:tc>
                  <a:txBody>
                    <a:bodyPr/>
                    <a:lstStyle/>
                    <a:p>
                      <a:r>
                        <a:rPr lang="es-MX" sz="2000"/>
                        <a:t>Pruebas de endpoints</a:t>
                      </a:r>
                    </a:p>
                  </a:txBody>
                  <a:tcPr marL="13593" marR="13593" marT="6796" marB="6796" anchor="ctr"/>
                </a:tc>
                <a:extLst>
                  <a:ext uri="{0D108BD9-81ED-4DB2-BD59-A6C34878D82A}">
                    <a16:rowId xmlns:a16="http://schemas.microsoft.com/office/drawing/2014/main" val="4194151974"/>
                  </a:ext>
                </a:extLst>
              </a:tr>
              <a:tr h="381000">
                <a:tc>
                  <a:txBody>
                    <a:bodyPr/>
                    <a:lstStyle/>
                    <a:p>
                      <a:r>
                        <a:rPr lang="es-MX" sz="2000"/>
                        <a:t>DBeaver</a:t>
                      </a:r>
                    </a:p>
                  </a:txBody>
                  <a:tcPr marL="13593" marR="13593" marT="6796" marB="6796" anchor="ctr"/>
                </a:tc>
                <a:tc>
                  <a:txBody>
                    <a:bodyPr/>
                    <a:lstStyle/>
                    <a:p>
                      <a:r>
                        <a:rPr lang="es-MX" sz="2000"/>
                        <a:t>Administración de base de datos</a:t>
                      </a:r>
                    </a:p>
                  </a:txBody>
                  <a:tcPr marL="13593" marR="13593" marT="6796" marB="6796" anchor="ctr"/>
                </a:tc>
                <a:extLst>
                  <a:ext uri="{0D108BD9-81ED-4DB2-BD59-A6C34878D82A}">
                    <a16:rowId xmlns:a16="http://schemas.microsoft.com/office/drawing/2014/main" val="3878244493"/>
                  </a:ext>
                </a:extLst>
              </a:tr>
              <a:tr h="370114">
                <a:tc>
                  <a:txBody>
                    <a:bodyPr/>
                    <a:lstStyle/>
                    <a:p>
                      <a:r>
                        <a:rPr lang="es-MX" sz="2000"/>
                        <a:t>GitHub</a:t>
                      </a:r>
                    </a:p>
                  </a:txBody>
                  <a:tcPr marL="13593" marR="13593" marT="6796" marB="6796" anchor="ctr"/>
                </a:tc>
                <a:tc>
                  <a:txBody>
                    <a:bodyPr/>
                    <a:lstStyle/>
                    <a:p>
                      <a:r>
                        <a:rPr lang="es-MX" sz="2000"/>
                        <a:t>Repositorio remoto de configuraciones</a:t>
                      </a:r>
                    </a:p>
                  </a:txBody>
                  <a:tcPr marL="13593" marR="13593" marT="6796" marB="6796" anchor="ctr"/>
                </a:tc>
                <a:extLst>
                  <a:ext uri="{0D108BD9-81ED-4DB2-BD59-A6C34878D82A}">
                    <a16:rowId xmlns:a16="http://schemas.microsoft.com/office/drawing/2014/main" val="4091492730"/>
                  </a:ext>
                </a:extLst>
              </a:tr>
              <a:tr h="402772">
                <a:tc>
                  <a:txBody>
                    <a:bodyPr/>
                    <a:lstStyle/>
                    <a:p>
                      <a:r>
                        <a:rPr lang="es-MX" sz="2000"/>
                        <a:t>Ubuntu Linux</a:t>
                      </a:r>
                    </a:p>
                  </a:txBody>
                  <a:tcPr marL="13593" marR="13593" marT="6796" marB="6796" anchor="ctr"/>
                </a:tc>
                <a:tc>
                  <a:txBody>
                    <a:bodyPr/>
                    <a:lstStyle/>
                    <a:p>
                      <a:r>
                        <a:rPr lang="es-MX" sz="2000" dirty="0"/>
                        <a:t>Sistema operativo utilizado</a:t>
                      </a:r>
                    </a:p>
                  </a:txBody>
                  <a:tcPr marL="13593" marR="13593" marT="6796" marB="6796" anchor="ctr"/>
                </a:tc>
                <a:extLst>
                  <a:ext uri="{0D108BD9-81ED-4DB2-BD59-A6C34878D82A}">
                    <a16:rowId xmlns:a16="http://schemas.microsoft.com/office/drawing/2014/main" val="3159721737"/>
                  </a:ext>
                </a:extLst>
              </a:tr>
            </a:tbl>
          </a:graphicData>
        </a:graphic>
      </p:graphicFrame>
      <p:sp>
        <p:nvSpPr>
          <p:cNvPr id="6" name="Rectangle 2">
            <a:extLst>
              <a:ext uri="{FF2B5EF4-FFF2-40B4-BE49-F238E27FC236}">
                <a16:creationId xmlns:a16="http://schemas.microsoft.com/office/drawing/2014/main" id="{0BED0098-D94C-F5FA-6744-3405434AEDFB}"/>
              </a:ext>
            </a:extLst>
          </p:cNvPr>
          <p:cNvSpPr>
            <a:spLocks noChangeArrowheads="1"/>
          </p:cNvSpPr>
          <p:nvPr/>
        </p:nvSpPr>
        <p:spPr bwMode="auto">
          <a:xfrm>
            <a:off x="1055914" y="1000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a:ln>
                  <a:noFill/>
                </a:ln>
                <a:solidFill>
                  <a:schemeClr val="tx1"/>
                </a:solidFill>
                <a:effectLst/>
                <a:latin typeface="Arial" panose="020B0604020202020204" pitchFamily="34" charset="0"/>
              </a:rPr>
              <a:t>Durante el desarrollo de la práctica se utilizaron diferentes herramientas y tecnologías:</a:t>
            </a:r>
          </a:p>
        </p:txBody>
      </p:sp>
    </p:spTree>
    <p:extLst>
      <p:ext uri="{BB962C8B-B14F-4D97-AF65-F5344CB8AC3E}">
        <p14:creationId xmlns:p14="http://schemas.microsoft.com/office/powerpoint/2010/main" val="4197559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5BEAEF-9B0B-AADD-0C7B-3BB4D0F71749}"/>
              </a:ext>
            </a:extLst>
          </p:cNvPr>
          <p:cNvSpPr>
            <a:spLocks noGrp="1"/>
          </p:cNvSpPr>
          <p:nvPr>
            <p:ph type="title"/>
          </p:nvPr>
        </p:nvSpPr>
        <p:spPr>
          <a:xfrm>
            <a:off x="1121229" y="92611"/>
            <a:ext cx="10515600" cy="830720"/>
          </a:xfrm>
        </p:spPr>
        <p:txBody>
          <a:bodyPr/>
          <a:lstStyle/>
          <a:p>
            <a:r>
              <a:rPr lang="es-MX" dirty="0"/>
              <a:t>Configuración de proyecto padre </a:t>
            </a:r>
          </a:p>
        </p:txBody>
      </p:sp>
      <p:sp>
        <p:nvSpPr>
          <p:cNvPr id="5" name="CuadroTexto 4">
            <a:extLst>
              <a:ext uri="{FF2B5EF4-FFF2-40B4-BE49-F238E27FC236}">
                <a16:creationId xmlns:a16="http://schemas.microsoft.com/office/drawing/2014/main" id="{DBDC00C3-8819-FEE3-072C-32CE4CD3B5C9}"/>
              </a:ext>
            </a:extLst>
          </p:cNvPr>
          <p:cNvSpPr txBox="1"/>
          <p:nvPr/>
        </p:nvSpPr>
        <p:spPr>
          <a:xfrm>
            <a:off x="250371" y="814194"/>
            <a:ext cx="4648200" cy="1200329"/>
          </a:xfrm>
          <a:prstGeom prst="rect">
            <a:avLst/>
          </a:prstGeom>
          <a:noFill/>
        </p:spPr>
        <p:txBody>
          <a:bodyPr wrap="square">
            <a:spAutoFit/>
          </a:bodyPr>
          <a:lstStyle/>
          <a:p>
            <a:pPr marL="0" indent="0" algn="just">
              <a:buNone/>
            </a:pPr>
            <a:r>
              <a:rPr lang="es-MX" dirty="0"/>
              <a:t>Inicialmente se creó un proyecto padre utilizando Maven, el cual permitió administrar las dependencias y versiones de todos los microservicios del sistema.</a:t>
            </a:r>
          </a:p>
        </p:txBody>
      </p:sp>
      <p:sp>
        <p:nvSpPr>
          <p:cNvPr id="7" name="CuadroTexto 6">
            <a:extLst>
              <a:ext uri="{FF2B5EF4-FFF2-40B4-BE49-F238E27FC236}">
                <a16:creationId xmlns:a16="http://schemas.microsoft.com/office/drawing/2014/main" id="{95599081-ACD5-7507-A091-DA6965DC6BCB}"/>
              </a:ext>
            </a:extLst>
          </p:cNvPr>
          <p:cNvSpPr txBox="1"/>
          <p:nvPr/>
        </p:nvSpPr>
        <p:spPr>
          <a:xfrm>
            <a:off x="5660571" y="5054531"/>
            <a:ext cx="6096000" cy="646331"/>
          </a:xfrm>
          <a:prstGeom prst="rect">
            <a:avLst/>
          </a:prstGeom>
          <a:noFill/>
        </p:spPr>
        <p:txBody>
          <a:bodyPr wrap="square">
            <a:spAutoFit/>
          </a:bodyPr>
          <a:lstStyle/>
          <a:p>
            <a:pPr marL="0" indent="0">
              <a:buNone/>
            </a:pPr>
            <a:r>
              <a:rPr lang="es-MX" dirty="0"/>
              <a:t>Se configuró Spring </a:t>
            </a:r>
            <a:r>
              <a:rPr lang="es-MX" dirty="0" err="1"/>
              <a:t>Boot</a:t>
            </a:r>
            <a:r>
              <a:rPr lang="es-MX" dirty="0"/>
              <a:t> 3.2.5 y Spring Cloud 2023.0.1 para garantizar compatibilidad entre componentes.</a:t>
            </a:r>
          </a:p>
        </p:txBody>
      </p:sp>
      <p:sp>
        <p:nvSpPr>
          <p:cNvPr id="9" name="CuadroTexto 8">
            <a:extLst>
              <a:ext uri="{FF2B5EF4-FFF2-40B4-BE49-F238E27FC236}">
                <a16:creationId xmlns:a16="http://schemas.microsoft.com/office/drawing/2014/main" id="{5301FAEF-14B7-CBF7-F1B6-1E968DB52FFD}"/>
              </a:ext>
            </a:extLst>
          </p:cNvPr>
          <p:cNvSpPr txBox="1"/>
          <p:nvPr/>
        </p:nvSpPr>
        <p:spPr>
          <a:xfrm>
            <a:off x="5540829" y="1157139"/>
            <a:ext cx="6096000" cy="646331"/>
          </a:xfrm>
          <a:prstGeom prst="rect">
            <a:avLst/>
          </a:prstGeom>
          <a:noFill/>
        </p:spPr>
        <p:txBody>
          <a:bodyPr wrap="square">
            <a:spAutoFit/>
          </a:bodyPr>
          <a:lstStyle/>
          <a:p>
            <a:pPr marL="0" indent="0">
              <a:buNone/>
            </a:pPr>
            <a:r>
              <a:rPr lang="es-MX" dirty="0"/>
              <a:t>Además, se estableció Java 17 como versión principal para el desarrollo del proyecto.</a:t>
            </a:r>
          </a:p>
        </p:txBody>
      </p:sp>
      <p:pic>
        <p:nvPicPr>
          <p:cNvPr id="12" name="Imagen 11">
            <a:extLst>
              <a:ext uri="{FF2B5EF4-FFF2-40B4-BE49-F238E27FC236}">
                <a16:creationId xmlns:a16="http://schemas.microsoft.com/office/drawing/2014/main" id="{96DB4409-EEF2-A41D-1F8B-21EFD211362F}"/>
              </a:ext>
            </a:extLst>
          </p:cNvPr>
          <p:cNvPicPr>
            <a:picLocks noChangeAspect="1"/>
          </p:cNvPicPr>
          <p:nvPr/>
        </p:nvPicPr>
        <p:blipFill>
          <a:blip r:embed="rId2">
            <a:extLst>
              <a:ext uri="{28A0092B-C50C-407E-A947-70E740481C1C}">
                <a14:useLocalDpi xmlns:a14="http://schemas.microsoft.com/office/drawing/2010/main" val="0"/>
              </a:ext>
            </a:extLst>
          </a:blip>
          <a:srcRect b="62276"/>
          <a:stretch/>
        </p:blipFill>
        <p:spPr>
          <a:xfrm>
            <a:off x="94790" y="5509795"/>
            <a:ext cx="5279774" cy="1120357"/>
          </a:xfrm>
          <a:prstGeom prst="rect">
            <a:avLst/>
          </a:prstGeom>
        </p:spPr>
      </p:pic>
      <p:pic>
        <p:nvPicPr>
          <p:cNvPr id="15" name="Imagen 14">
            <a:extLst>
              <a:ext uri="{FF2B5EF4-FFF2-40B4-BE49-F238E27FC236}">
                <a16:creationId xmlns:a16="http://schemas.microsoft.com/office/drawing/2014/main" id="{21EB5825-9792-447F-8B56-A6C6F2C78B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0056" y="2037278"/>
            <a:ext cx="4920343" cy="2767693"/>
          </a:xfrm>
          <a:prstGeom prst="rect">
            <a:avLst/>
          </a:prstGeom>
        </p:spPr>
      </p:pic>
      <p:pic>
        <p:nvPicPr>
          <p:cNvPr id="17" name="Imagen 16">
            <a:extLst>
              <a:ext uri="{FF2B5EF4-FFF2-40B4-BE49-F238E27FC236}">
                <a16:creationId xmlns:a16="http://schemas.microsoft.com/office/drawing/2014/main" id="{40F4290C-4A5A-6C2C-0D87-53AE2CD427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7933" y="2093770"/>
            <a:ext cx="3653075" cy="3140593"/>
          </a:xfrm>
          <a:prstGeom prst="rect">
            <a:avLst/>
          </a:prstGeom>
        </p:spPr>
      </p:pic>
    </p:spTree>
    <p:extLst>
      <p:ext uri="{BB962C8B-B14F-4D97-AF65-F5344CB8AC3E}">
        <p14:creationId xmlns:p14="http://schemas.microsoft.com/office/powerpoint/2010/main" val="1591259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8D624A-A5FE-0554-5358-30A803A810E1}"/>
              </a:ext>
            </a:extLst>
          </p:cNvPr>
          <p:cNvSpPr>
            <a:spLocks noGrp="1"/>
          </p:cNvSpPr>
          <p:nvPr>
            <p:ph type="title"/>
          </p:nvPr>
        </p:nvSpPr>
        <p:spPr>
          <a:xfrm>
            <a:off x="838200" y="33791"/>
            <a:ext cx="10352314" cy="647246"/>
          </a:xfrm>
        </p:spPr>
        <p:txBody>
          <a:bodyPr>
            <a:normAutofit fontScale="90000"/>
          </a:bodyPr>
          <a:lstStyle/>
          <a:p>
            <a:r>
              <a:rPr lang="es-MX" dirty="0"/>
              <a:t>Implementación de Eureka Server</a:t>
            </a:r>
          </a:p>
        </p:txBody>
      </p:sp>
      <p:sp>
        <p:nvSpPr>
          <p:cNvPr id="3" name="Marcador de contenido 2">
            <a:extLst>
              <a:ext uri="{FF2B5EF4-FFF2-40B4-BE49-F238E27FC236}">
                <a16:creationId xmlns:a16="http://schemas.microsoft.com/office/drawing/2014/main" id="{D4CDDCBC-2EB1-E010-FD78-2AB085F9B52B}"/>
              </a:ext>
            </a:extLst>
          </p:cNvPr>
          <p:cNvSpPr>
            <a:spLocks noGrp="1"/>
          </p:cNvSpPr>
          <p:nvPr>
            <p:ph idx="1"/>
          </p:nvPr>
        </p:nvSpPr>
        <p:spPr>
          <a:xfrm>
            <a:off x="299357" y="650194"/>
            <a:ext cx="11593286" cy="647246"/>
          </a:xfrm>
        </p:spPr>
        <p:txBody>
          <a:bodyPr>
            <a:normAutofit/>
          </a:bodyPr>
          <a:lstStyle/>
          <a:p>
            <a:pPr marL="0" indent="0">
              <a:buNone/>
            </a:pPr>
            <a:r>
              <a:rPr lang="es-MX" sz="2000" dirty="0">
                <a:latin typeface="Arial" panose="020B0604020202020204" pitchFamily="34" charset="0"/>
                <a:cs typeface="Arial" panose="020B0604020202020204" pitchFamily="34" charset="0"/>
              </a:rPr>
              <a:t>Posteriormente se implementó Eureka Server, cuya función principal es permitir que todos los microservicios puedan registrarse dinámicamente y descubrir otros servicios dentro del ecosistema.</a:t>
            </a:r>
          </a:p>
        </p:txBody>
      </p:sp>
      <p:pic>
        <p:nvPicPr>
          <p:cNvPr id="5" name="Imagen 4">
            <a:extLst>
              <a:ext uri="{FF2B5EF4-FFF2-40B4-BE49-F238E27FC236}">
                <a16:creationId xmlns:a16="http://schemas.microsoft.com/office/drawing/2014/main" id="{FD439EBF-2A87-C854-6AEC-35F682747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357" y="1362755"/>
            <a:ext cx="2901043" cy="2494062"/>
          </a:xfrm>
          <a:prstGeom prst="rect">
            <a:avLst/>
          </a:prstGeom>
        </p:spPr>
      </p:pic>
      <p:pic>
        <p:nvPicPr>
          <p:cNvPr id="7" name="Imagen 6">
            <a:extLst>
              <a:ext uri="{FF2B5EF4-FFF2-40B4-BE49-F238E27FC236}">
                <a16:creationId xmlns:a16="http://schemas.microsoft.com/office/drawing/2014/main" id="{3CAAC76B-E8B8-E471-5A1F-56C1B3667D60}"/>
              </a:ext>
            </a:extLst>
          </p:cNvPr>
          <p:cNvPicPr>
            <a:picLocks noChangeAspect="1"/>
          </p:cNvPicPr>
          <p:nvPr/>
        </p:nvPicPr>
        <p:blipFill>
          <a:blip r:embed="rId3">
            <a:extLst>
              <a:ext uri="{28A0092B-C50C-407E-A947-70E740481C1C}">
                <a14:useLocalDpi xmlns:a14="http://schemas.microsoft.com/office/drawing/2010/main" val="0"/>
              </a:ext>
            </a:extLst>
          </a:blip>
          <a:srcRect r="21578"/>
          <a:stretch/>
        </p:blipFill>
        <p:spPr>
          <a:xfrm>
            <a:off x="4170135" y="3992683"/>
            <a:ext cx="3414714" cy="2449286"/>
          </a:xfrm>
          <a:prstGeom prst="rect">
            <a:avLst/>
          </a:prstGeom>
        </p:spPr>
      </p:pic>
      <p:pic>
        <p:nvPicPr>
          <p:cNvPr id="9" name="Imagen 8">
            <a:extLst>
              <a:ext uri="{FF2B5EF4-FFF2-40B4-BE49-F238E27FC236}">
                <a16:creationId xmlns:a16="http://schemas.microsoft.com/office/drawing/2014/main" id="{EDAE8F55-D2DB-2F5E-9BA1-41CF24FF31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0563" y="1407531"/>
            <a:ext cx="4354286" cy="2449286"/>
          </a:xfrm>
          <a:prstGeom prst="rect">
            <a:avLst/>
          </a:prstGeom>
        </p:spPr>
      </p:pic>
      <p:pic>
        <p:nvPicPr>
          <p:cNvPr id="11" name="Imagen 10">
            <a:extLst>
              <a:ext uri="{FF2B5EF4-FFF2-40B4-BE49-F238E27FC236}">
                <a16:creationId xmlns:a16="http://schemas.microsoft.com/office/drawing/2014/main" id="{C4CFBF87-BC01-EB29-1B9E-D9EE71293D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4032" y="4049484"/>
            <a:ext cx="4254000" cy="2262596"/>
          </a:xfrm>
          <a:prstGeom prst="rect">
            <a:avLst/>
          </a:prstGeom>
        </p:spPr>
      </p:pic>
      <p:pic>
        <p:nvPicPr>
          <p:cNvPr id="13" name="Imagen 12">
            <a:extLst>
              <a:ext uri="{FF2B5EF4-FFF2-40B4-BE49-F238E27FC236}">
                <a16:creationId xmlns:a16="http://schemas.microsoft.com/office/drawing/2014/main" id="{4E1E42B9-ED85-6512-5DFB-178963B8D4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28397" y="1384528"/>
            <a:ext cx="4354286" cy="2449286"/>
          </a:xfrm>
          <a:prstGeom prst="rect">
            <a:avLst/>
          </a:prstGeom>
        </p:spPr>
      </p:pic>
      <p:sp>
        <p:nvSpPr>
          <p:cNvPr id="15" name="CuadroTexto 14">
            <a:extLst>
              <a:ext uri="{FF2B5EF4-FFF2-40B4-BE49-F238E27FC236}">
                <a16:creationId xmlns:a16="http://schemas.microsoft.com/office/drawing/2014/main" id="{73A2B70F-ECF4-B72C-80D8-0754228967F7}"/>
              </a:ext>
            </a:extLst>
          </p:cNvPr>
          <p:cNvSpPr txBox="1"/>
          <p:nvPr/>
        </p:nvSpPr>
        <p:spPr>
          <a:xfrm>
            <a:off x="-1" y="4049484"/>
            <a:ext cx="4354286" cy="2800767"/>
          </a:xfrm>
          <a:prstGeom prst="rect">
            <a:avLst/>
          </a:prstGeom>
          <a:noFill/>
        </p:spPr>
        <p:txBody>
          <a:bodyPr wrap="square">
            <a:spAutoFit/>
          </a:bodyPr>
          <a:lstStyle/>
          <a:p>
            <a:r>
              <a:rPr lang="es-MX" sz="1600" dirty="0">
                <a:latin typeface="Arial" panose="020B0604020202020204" pitchFamily="34" charset="0"/>
                <a:cs typeface="Arial" panose="020B0604020202020204" pitchFamily="34" charset="0"/>
              </a:rPr>
              <a:t>Características principales:</a:t>
            </a:r>
          </a:p>
          <a:p>
            <a:endParaRPr lang="es-MX"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s-MX" sz="1600" dirty="0">
                <a:latin typeface="Arial" panose="020B0604020202020204" pitchFamily="34" charset="0"/>
                <a:cs typeface="Arial" panose="020B0604020202020204" pitchFamily="34" charset="0"/>
              </a:rPr>
              <a:t>Puerto utilizado: 8761</a:t>
            </a:r>
          </a:p>
          <a:p>
            <a:pPr>
              <a:buFont typeface="Arial" panose="020B0604020202020204" pitchFamily="34" charset="0"/>
              <a:buChar char="•"/>
            </a:pPr>
            <a:r>
              <a:rPr lang="es-MX" sz="1600" dirty="0">
                <a:latin typeface="Arial" panose="020B0604020202020204" pitchFamily="34" charset="0"/>
                <a:cs typeface="Arial" panose="020B0604020202020204" pitchFamily="34" charset="0"/>
              </a:rPr>
              <a:t>Registro automático de servicios</a:t>
            </a:r>
          </a:p>
          <a:p>
            <a:pPr>
              <a:buFont typeface="Arial" panose="020B0604020202020204" pitchFamily="34" charset="0"/>
              <a:buChar char="•"/>
            </a:pPr>
            <a:r>
              <a:rPr lang="es-MX" sz="1600" dirty="0">
                <a:latin typeface="Arial" panose="020B0604020202020204" pitchFamily="34" charset="0"/>
                <a:cs typeface="Arial" panose="020B0604020202020204" pitchFamily="34" charset="0"/>
              </a:rPr>
              <a:t>Descubrimiento dinámico</a:t>
            </a:r>
          </a:p>
          <a:p>
            <a:pPr>
              <a:buFont typeface="Arial" panose="020B0604020202020204" pitchFamily="34" charset="0"/>
              <a:buChar char="•"/>
            </a:pPr>
            <a:r>
              <a:rPr lang="es-MX" sz="1600" dirty="0">
                <a:latin typeface="Arial" panose="020B0604020202020204" pitchFamily="34" charset="0"/>
                <a:cs typeface="Arial" panose="020B0604020202020204" pitchFamily="34" charset="0"/>
              </a:rPr>
              <a:t>Visualización de servicios activos</a:t>
            </a:r>
          </a:p>
          <a:p>
            <a:pPr>
              <a:buFont typeface="Arial" panose="020B0604020202020204" pitchFamily="34" charset="0"/>
              <a:buChar char="•"/>
            </a:pPr>
            <a:endParaRPr lang="es-MX" sz="1600" dirty="0">
              <a:latin typeface="Arial" panose="020B0604020202020204" pitchFamily="34" charset="0"/>
              <a:cs typeface="Arial" panose="020B0604020202020204" pitchFamily="34" charset="0"/>
            </a:endParaRPr>
          </a:p>
          <a:p>
            <a:r>
              <a:rPr lang="es-MX" sz="1600" dirty="0">
                <a:latin typeface="Arial" panose="020B0604020202020204" pitchFamily="34" charset="0"/>
                <a:cs typeface="Arial" panose="020B0604020202020204" pitchFamily="34" charset="0"/>
              </a:rPr>
              <a:t>Gracias a Eureka fue posible evitar el uso de direcciones físicas fijas, permitiendo que los servicios se comuniquen utilizando únicamente su nombre lógico.</a:t>
            </a:r>
          </a:p>
        </p:txBody>
      </p:sp>
    </p:spTree>
    <p:extLst>
      <p:ext uri="{BB962C8B-B14F-4D97-AF65-F5344CB8AC3E}">
        <p14:creationId xmlns:p14="http://schemas.microsoft.com/office/powerpoint/2010/main" val="3916114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6EB23F-4F6B-A624-3958-AE2B154376F7}"/>
              </a:ext>
            </a:extLst>
          </p:cNvPr>
          <p:cNvSpPr>
            <a:spLocks noGrp="1"/>
          </p:cNvSpPr>
          <p:nvPr>
            <p:ph type="title"/>
          </p:nvPr>
        </p:nvSpPr>
        <p:spPr>
          <a:xfrm>
            <a:off x="838200" y="0"/>
            <a:ext cx="10374086" cy="483961"/>
          </a:xfrm>
        </p:spPr>
        <p:txBody>
          <a:bodyPr>
            <a:normAutofit fontScale="90000"/>
          </a:bodyPr>
          <a:lstStyle/>
          <a:p>
            <a:r>
              <a:rPr lang="es-MX" dirty="0"/>
              <a:t>Implementación de </a:t>
            </a:r>
            <a:r>
              <a:rPr lang="es-MX" dirty="0" err="1"/>
              <a:t>Config</a:t>
            </a:r>
            <a:r>
              <a:rPr lang="es-MX" dirty="0"/>
              <a:t> Server</a:t>
            </a:r>
          </a:p>
        </p:txBody>
      </p:sp>
      <p:sp>
        <p:nvSpPr>
          <p:cNvPr id="3" name="Marcador de contenido 2">
            <a:extLst>
              <a:ext uri="{FF2B5EF4-FFF2-40B4-BE49-F238E27FC236}">
                <a16:creationId xmlns:a16="http://schemas.microsoft.com/office/drawing/2014/main" id="{68B8E668-1EEF-9F92-FEFB-CE1CF8DB6809}"/>
              </a:ext>
            </a:extLst>
          </p:cNvPr>
          <p:cNvSpPr>
            <a:spLocks noGrp="1"/>
          </p:cNvSpPr>
          <p:nvPr>
            <p:ph idx="1"/>
          </p:nvPr>
        </p:nvSpPr>
        <p:spPr>
          <a:xfrm>
            <a:off x="380999" y="628196"/>
            <a:ext cx="11680371" cy="623661"/>
          </a:xfrm>
        </p:spPr>
        <p:txBody>
          <a:bodyPr>
            <a:normAutofit lnSpcReduction="10000"/>
          </a:bodyPr>
          <a:lstStyle/>
          <a:p>
            <a:pPr marL="0" indent="0">
              <a:buNone/>
            </a:pPr>
            <a:r>
              <a:rPr lang="es-MX" sz="2000" dirty="0"/>
              <a:t>Se desarrolló un </a:t>
            </a:r>
            <a:r>
              <a:rPr lang="es-MX" sz="2000" dirty="0" err="1"/>
              <a:t>Config</a:t>
            </a:r>
            <a:r>
              <a:rPr lang="es-MX" sz="2000" dirty="0"/>
              <a:t> Server encargado de administrar la configuración de todos los microservicios desde un repositorio remoto de GitHub.</a:t>
            </a:r>
          </a:p>
        </p:txBody>
      </p:sp>
      <p:pic>
        <p:nvPicPr>
          <p:cNvPr id="5" name="Imagen 4">
            <a:extLst>
              <a:ext uri="{FF2B5EF4-FFF2-40B4-BE49-F238E27FC236}">
                <a16:creationId xmlns:a16="http://schemas.microsoft.com/office/drawing/2014/main" id="{B045FD2A-B51A-A42E-4F6E-2E89373996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9736" y="1323368"/>
            <a:ext cx="4396670" cy="2473127"/>
          </a:xfrm>
          <a:prstGeom prst="rect">
            <a:avLst/>
          </a:prstGeom>
        </p:spPr>
      </p:pic>
      <p:pic>
        <p:nvPicPr>
          <p:cNvPr id="7" name="Imagen 6">
            <a:extLst>
              <a:ext uri="{FF2B5EF4-FFF2-40B4-BE49-F238E27FC236}">
                <a16:creationId xmlns:a16="http://schemas.microsoft.com/office/drawing/2014/main" id="{B48F427E-1732-BC44-4B6E-064215BAD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0628" y="1300192"/>
            <a:ext cx="4310742" cy="2424792"/>
          </a:xfrm>
          <a:prstGeom prst="rect">
            <a:avLst/>
          </a:prstGeom>
        </p:spPr>
      </p:pic>
      <p:pic>
        <p:nvPicPr>
          <p:cNvPr id="11" name="Imagen 10">
            <a:extLst>
              <a:ext uri="{FF2B5EF4-FFF2-40B4-BE49-F238E27FC236}">
                <a16:creationId xmlns:a16="http://schemas.microsoft.com/office/drawing/2014/main" id="{B391E72E-0FAA-9FFD-7612-5300AC36C1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998" y="1283199"/>
            <a:ext cx="2797167" cy="2513296"/>
          </a:xfrm>
          <a:prstGeom prst="rect">
            <a:avLst/>
          </a:prstGeom>
        </p:spPr>
      </p:pic>
      <p:sp>
        <p:nvSpPr>
          <p:cNvPr id="12" name="Rectangle 1">
            <a:extLst>
              <a:ext uri="{FF2B5EF4-FFF2-40B4-BE49-F238E27FC236}">
                <a16:creationId xmlns:a16="http://schemas.microsoft.com/office/drawing/2014/main" id="{3F18BD83-F621-F205-503B-B141D794ECF6}"/>
              </a:ext>
            </a:extLst>
          </p:cNvPr>
          <p:cNvSpPr>
            <a:spLocks noChangeArrowheads="1"/>
          </p:cNvSpPr>
          <p:nvPr/>
        </p:nvSpPr>
        <p:spPr bwMode="auto">
          <a:xfrm>
            <a:off x="181833" y="4075839"/>
            <a:ext cx="299633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Características:</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Puerto utilizado: 8888</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Configuración centralizada</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Integración con GitHub</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Uso de archivos .</a:t>
            </a:r>
            <a:r>
              <a:rPr lang="es-MX" altLang="es-MX" dirty="0" err="1"/>
              <a:t>yml</a:t>
            </a: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p:txBody>
      </p:sp>
      <p:sp>
        <p:nvSpPr>
          <p:cNvPr id="14" name="CuadroTexto 13">
            <a:extLst>
              <a:ext uri="{FF2B5EF4-FFF2-40B4-BE49-F238E27FC236}">
                <a16:creationId xmlns:a16="http://schemas.microsoft.com/office/drawing/2014/main" id="{1E0DDB00-E34F-B3F7-1656-4D72B89B63EE}"/>
              </a:ext>
            </a:extLst>
          </p:cNvPr>
          <p:cNvSpPr txBox="1"/>
          <p:nvPr/>
        </p:nvSpPr>
        <p:spPr>
          <a:xfrm>
            <a:off x="7561593" y="3796495"/>
            <a:ext cx="4031693" cy="1200329"/>
          </a:xfrm>
          <a:prstGeom prst="rect">
            <a:avLst/>
          </a:prstGeom>
          <a:noFill/>
        </p:spPr>
        <p:txBody>
          <a:bodyPr wrap="square">
            <a:spAutoFit/>
          </a:bodyPr>
          <a:lstStyle/>
          <a:p>
            <a:r>
              <a:rPr lang="es-MX" dirty="0"/>
              <a:t>El </a:t>
            </a:r>
            <a:r>
              <a:rPr lang="es-MX" dirty="0" err="1"/>
              <a:t>Config</a:t>
            </a:r>
            <a:r>
              <a:rPr lang="es-MX" dirty="0"/>
              <a:t> Server permitió que cada microservicio cargara automáticamente sus propiedades al iniciar</a:t>
            </a:r>
          </a:p>
        </p:txBody>
      </p:sp>
      <p:pic>
        <p:nvPicPr>
          <p:cNvPr id="16" name="Imagen 15">
            <a:extLst>
              <a:ext uri="{FF2B5EF4-FFF2-40B4-BE49-F238E27FC236}">
                <a16:creationId xmlns:a16="http://schemas.microsoft.com/office/drawing/2014/main" id="{786892D6-A9DD-926A-D646-93CBF659154E}"/>
              </a:ext>
            </a:extLst>
          </p:cNvPr>
          <p:cNvPicPr>
            <a:picLocks noChangeAspect="1"/>
          </p:cNvPicPr>
          <p:nvPr/>
        </p:nvPicPr>
        <p:blipFill>
          <a:blip r:embed="rId5"/>
          <a:stretch>
            <a:fillRect/>
          </a:stretch>
        </p:blipFill>
        <p:spPr>
          <a:xfrm>
            <a:off x="3560351" y="3982640"/>
            <a:ext cx="3935059" cy="2312759"/>
          </a:xfrm>
          <a:prstGeom prst="rect">
            <a:avLst/>
          </a:prstGeom>
        </p:spPr>
      </p:pic>
    </p:spTree>
    <p:extLst>
      <p:ext uri="{BB962C8B-B14F-4D97-AF65-F5344CB8AC3E}">
        <p14:creationId xmlns:p14="http://schemas.microsoft.com/office/powerpoint/2010/main" val="653242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95D915-5CBF-42EF-1DC3-50B0D4091106}"/>
              </a:ext>
            </a:extLst>
          </p:cNvPr>
          <p:cNvSpPr>
            <a:spLocks noGrp="1"/>
          </p:cNvSpPr>
          <p:nvPr>
            <p:ph type="title"/>
          </p:nvPr>
        </p:nvSpPr>
        <p:spPr>
          <a:xfrm>
            <a:off x="620486" y="0"/>
            <a:ext cx="10733314" cy="756104"/>
          </a:xfrm>
        </p:spPr>
        <p:txBody>
          <a:bodyPr/>
          <a:lstStyle/>
          <a:p>
            <a:r>
              <a:rPr lang="es-MX" dirty="0"/>
              <a:t>Uso de Repositorio GitHub para Configuración</a:t>
            </a:r>
          </a:p>
        </p:txBody>
      </p:sp>
      <p:pic>
        <p:nvPicPr>
          <p:cNvPr id="4" name="Marcador de contenido 3">
            <a:extLst>
              <a:ext uri="{FF2B5EF4-FFF2-40B4-BE49-F238E27FC236}">
                <a16:creationId xmlns:a16="http://schemas.microsoft.com/office/drawing/2014/main" id="{D31211C2-2211-9FDE-C924-1B0B1F126D9E}"/>
              </a:ext>
            </a:extLst>
          </p:cNvPr>
          <p:cNvPicPr>
            <a:picLocks noGrp="1" noChangeAspect="1"/>
          </p:cNvPicPr>
          <p:nvPr>
            <p:ph idx="1"/>
          </p:nvPr>
        </p:nvPicPr>
        <p:blipFill>
          <a:blip r:embed="rId2"/>
          <a:stretch>
            <a:fillRect/>
          </a:stretch>
        </p:blipFill>
        <p:spPr>
          <a:xfrm>
            <a:off x="358897" y="1679434"/>
            <a:ext cx="5160492" cy="3032985"/>
          </a:xfrm>
          <a:prstGeom prst="rect">
            <a:avLst/>
          </a:prstGeom>
        </p:spPr>
      </p:pic>
      <p:sp>
        <p:nvSpPr>
          <p:cNvPr id="5" name="Rectangle 1">
            <a:extLst>
              <a:ext uri="{FF2B5EF4-FFF2-40B4-BE49-F238E27FC236}">
                <a16:creationId xmlns:a16="http://schemas.microsoft.com/office/drawing/2014/main" id="{FD9985DD-80AD-22A8-BE56-E9116E63DDDD}"/>
              </a:ext>
            </a:extLst>
          </p:cNvPr>
          <p:cNvSpPr>
            <a:spLocks noChangeArrowheads="1"/>
          </p:cNvSpPr>
          <p:nvPr/>
        </p:nvSpPr>
        <p:spPr bwMode="auto">
          <a:xfrm>
            <a:off x="358897" y="756104"/>
            <a:ext cx="516049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Se utilizó un repositorio remoto en GitHub llamado </a:t>
            </a:r>
            <a:r>
              <a:rPr lang="es-MX" altLang="es-MX" dirty="0" err="1"/>
              <a:t>config</a:t>
            </a:r>
            <a:r>
              <a:rPr lang="es-MX" altLang="es-MX" dirty="0"/>
              <a:t>-repo, el cual almacenó los archivos de configuración de cada microservicio. </a:t>
            </a:r>
          </a:p>
        </p:txBody>
      </p:sp>
      <p:sp>
        <p:nvSpPr>
          <p:cNvPr id="7" name="CuadroTexto 6">
            <a:extLst>
              <a:ext uri="{FF2B5EF4-FFF2-40B4-BE49-F238E27FC236}">
                <a16:creationId xmlns:a16="http://schemas.microsoft.com/office/drawing/2014/main" id="{052A1DA8-4686-A678-5D6D-6EEDC62CE626}"/>
              </a:ext>
            </a:extLst>
          </p:cNvPr>
          <p:cNvSpPr txBox="1"/>
          <p:nvPr/>
        </p:nvSpPr>
        <p:spPr>
          <a:xfrm>
            <a:off x="5693229" y="672273"/>
            <a:ext cx="6096000" cy="1754326"/>
          </a:xfrm>
          <a:prstGeom prst="rect">
            <a:avLst/>
          </a:prstGeom>
          <a:noFill/>
        </p:spPr>
        <p:txBody>
          <a:bodyPr wrap="square">
            <a:spAutoFit/>
          </a:bodyPr>
          <a:lstStyle/>
          <a:p>
            <a:r>
              <a:rPr lang="es-MX" dirty="0"/>
              <a:t>Dentro de estos archivos se definieron:</a:t>
            </a:r>
          </a:p>
          <a:p>
            <a:pPr marL="285750" indent="-285750">
              <a:buFont typeface="Arial" panose="020B0604020202020204" pitchFamily="34" charset="0"/>
              <a:buChar char="•"/>
            </a:pPr>
            <a:r>
              <a:rPr lang="es-MX" dirty="0"/>
              <a:t>Puertos de ejecución</a:t>
            </a:r>
          </a:p>
          <a:p>
            <a:pPr marL="285750" indent="-285750">
              <a:buFont typeface="Arial" panose="020B0604020202020204" pitchFamily="34" charset="0"/>
              <a:buChar char="•"/>
            </a:pPr>
            <a:r>
              <a:rPr lang="es-MX" dirty="0"/>
              <a:t>Configuración de Eureka</a:t>
            </a:r>
          </a:p>
          <a:p>
            <a:pPr marL="285750" indent="-285750">
              <a:buFont typeface="Arial" panose="020B0604020202020204" pitchFamily="34" charset="0"/>
              <a:buChar char="•"/>
            </a:pPr>
            <a:r>
              <a:rPr lang="es-MX" dirty="0"/>
              <a:t>Configuración de base de datos</a:t>
            </a:r>
          </a:p>
          <a:p>
            <a:pPr marL="285750" indent="-285750">
              <a:buFont typeface="Arial" panose="020B0604020202020204" pitchFamily="34" charset="0"/>
              <a:buChar char="•"/>
            </a:pPr>
            <a:r>
              <a:rPr lang="es-MX" dirty="0"/>
              <a:t>Rutas del Gateway</a:t>
            </a:r>
          </a:p>
          <a:p>
            <a:pPr marL="285750" indent="-285750">
              <a:buFont typeface="Arial" panose="020B0604020202020204" pitchFamily="34" charset="0"/>
              <a:buChar char="•"/>
            </a:pPr>
            <a:r>
              <a:rPr lang="es-MX" dirty="0"/>
              <a:t>Propiedades generales</a:t>
            </a:r>
          </a:p>
        </p:txBody>
      </p:sp>
      <p:pic>
        <p:nvPicPr>
          <p:cNvPr id="9" name="Imagen 8">
            <a:extLst>
              <a:ext uri="{FF2B5EF4-FFF2-40B4-BE49-F238E27FC236}">
                <a16:creationId xmlns:a16="http://schemas.microsoft.com/office/drawing/2014/main" id="{576EC2CD-0E9E-A4A6-20C0-BE100EF9F0EB}"/>
              </a:ext>
            </a:extLst>
          </p:cNvPr>
          <p:cNvPicPr>
            <a:picLocks noChangeAspect="1"/>
          </p:cNvPicPr>
          <p:nvPr/>
        </p:nvPicPr>
        <p:blipFill>
          <a:blip r:embed="rId3"/>
          <a:stretch>
            <a:fillRect/>
          </a:stretch>
        </p:blipFill>
        <p:spPr>
          <a:xfrm>
            <a:off x="5693229" y="2426599"/>
            <a:ext cx="4489217" cy="4223657"/>
          </a:xfrm>
          <a:prstGeom prst="rect">
            <a:avLst/>
          </a:prstGeom>
        </p:spPr>
      </p:pic>
      <p:sp>
        <p:nvSpPr>
          <p:cNvPr id="11" name="CuadroTexto 10">
            <a:extLst>
              <a:ext uri="{FF2B5EF4-FFF2-40B4-BE49-F238E27FC236}">
                <a16:creationId xmlns:a16="http://schemas.microsoft.com/office/drawing/2014/main" id="{61A04223-F46E-29CA-BBB4-5551F67FFD45}"/>
              </a:ext>
            </a:extLst>
          </p:cNvPr>
          <p:cNvSpPr txBox="1"/>
          <p:nvPr/>
        </p:nvSpPr>
        <p:spPr>
          <a:xfrm>
            <a:off x="8309772" y="3591991"/>
            <a:ext cx="4093028" cy="2862322"/>
          </a:xfrm>
          <a:prstGeom prst="rect">
            <a:avLst/>
          </a:prstGeom>
          <a:noFill/>
        </p:spPr>
        <p:txBody>
          <a:bodyPr wrap="square">
            <a:spAutoFit/>
          </a:bodyPr>
          <a:lstStyle/>
          <a:p>
            <a:r>
              <a:rPr lang="es-MX" dirty="0"/>
              <a:t>Ventajas del uso de GitHub:</a:t>
            </a:r>
          </a:p>
          <a:p>
            <a:endParaRPr lang="es-MX" dirty="0"/>
          </a:p>
          <a:p>
            <a:pPr marL="285750" indent="-285750">
              <a:buFont typeface="Arial" panose="020B0604020202020204" pitchFamily="34" charset="0"/>
              <a:buChar char="•"/>
            </a:pPr>
            <a:r>
              <a:rPr lang="es-MX" dirty="0"/>
              <a:t>Centralización de configuraciones</a:t>
            </a:r>
          </a:p>
          <a:p>
            <a:pPr marL="285750" indent="-285750">
              <a:buFont typeface="Arial" panose="020B0604020202020204" pitchFamily="34" charset="0"/>
              <a:buChar char="•"/>
            </a:pPr>
            <a:r>
              <a:rPr lang="es-MX" dirty="0"/>
              <a:t>Control de versiones</a:t>
            </a:r>
          </a:p>
          <a:p>
            <a:pPr marL="285750" indent="-285750">
              <a:buFont typeface="Arial" panose="020B0604020202020204" pitchFamily="34" charset="0"/>
              <a:buChar char="•"/>
            </a:pPr>
            <a:r>
              <a:rPr lang="es-MX" dirty="0"/>
              <a:t>Facilidad de mantenimiento</a:t>
            </a:r>
          </a:p>
          <a:p>
            <a:pPr marL="285750" indent="-285750">
              <a:buFont typeface="Arial" panose="020B0604020202020204" pitchFamily="34" charset="0"/>
              <a:buChar char="•"/>
            </a:pPr>
            <a:r>
              <a:rPr lang="es-MX" dirty="0"/>
              <a:t>Modificaciones sin alterar código fuente</a:t>
            </a:r>
          </a:p>
          <a:p>
            <a:pPr marL="285750" indent="-285750">
              <a:buFont typeface="Arial" panose="020B0604020202020204" pitchFamily="34" charset="0"/>
              <a:buChar char="•"/>
            </a:pPr>
            <a:r>
              <a:rPr lang="es-MX" dirty="0"/>
              <a:t>Esto permitió implementar una arquitectura más organizada y cercana a entornos profesionales.</a:t>
            </a:r>
          </a:p>
        </p:txBody>
      </p:sp>
    </p:spTree>
    <p:extLst>
      <p:ext uri="{BB962C8B-B14F-4D97-AF65-F5344CB8AC3E}">
        <p14:creationId xmlns:p14="http://schemas.microsoft.com/office/powerpoint/2010/main" val="3259103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C0BE07-FFCD-669B-3D04-E8E3874147FC}"/>
              </a:ext>
            </a:extLst>
          </p:cNvPr>
          <p:cNvSpPr>
            <a:spLocks noGrp="1"/>
          </p:cNvSpPr>
          <p:nvPr>
            <p:ph type="title"/>
          </p:nvPr>
        </p:nvSpPr>
        <p:spPr>
          <a:xfrm>
            <a:off x="838200" y="125640"/>
            <a:ext cx="10515600" cy="451304"/>
          </a:xfrm>
        </p:spPr>
        <p:txBody>
          <a:bodyPr>
            <a:normAutofit fontScale="90000"/>
          </a:bodyPr>
          <a:lstStyle/>
          <a:p>
            <a:r>
              <a:rPr lang="es-MX" dirty="0"/>
              <a:t>Creación del Microservicio </a:t>
            </a:r>
            <a:r>
              <a:rPr lang="es-MX" dirty="0" err="1"/>
              <a:t>Students</a:t>
            </a:r>
            <a:r>
              <a:rPr lang="es-MX" dirty="0"/>
              <a:t> </a:t>
            </a:r>
            <a:r>
              <a:rPr lang="es-MX" dirty="0" err="1"/>
              <a:t>Service</a:t>
            </a:r>
            <a:endParaRPr lang="es-MX" dirty="0"/>
          </a:p>
        </p:txBody>
      </p:sp>
      <p:sp>
        <p:nvSpPr>
          <p:cNvPr id="8" name="AutoShape 2">
            <a:extLst>
              <a:ext uri="{FF2B5EF4-FFF2-40B4-BE49-F238E27FC236}">
                <a16:creationId xmlns:a16="http://schemas.microsoft.com/office/drawing/2014/main" id="{DEBC83FF-2A9D-E245-CB1E-293F60B8C0C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11" name="Imagen 10">
            <a:extLst>
              <a:ext uri="{FF2B5EF4-FFF2-40B4-BE49-F238E27FC236}">
                <a16:creationId xmlns:a16="http://schemas.microsoft.com/office/drawing/2014/main" id="{E8E281DC-E7D3-E859-4E93-51A5A4C88F81}"/>
              </a:ext>
            </a:extLst>
          </p:cNvPr>
          <p:cNvPicPr>
            <a:picLocks noChangeAspect="1"/>
          </p:cNvPicPr>
          <p:nvPr/>
        </p:nvPicPr>
        <p:blipFill>
          <a:blip r:embed="rId2"/>
          <a:stretch>
            <a:fillRect/>
          </a:stretch>
        </p:blipFill>
        <p:spPr>
          <a:xfrm>
            <a:off x="4929599" y="1308909"/>
            <a:ext cx="4160803" cy="4124425"/>
          </a:xfrm>
          <a:prstGeom prst="rect">
            <a:avLst/>
          </a:prstGeom>
        </p:spPr>
      </p:pic>
      <p:sp>
        <p:nvSpPr>
          <p:cNvPr id="3" name="Marcador de contenido 2">
            <a:extLst>
              <a:ext uri="{FF2B5EF4-FFF2-40B4-BE49-F238E27FC236}">
                <a16:creationId xmlns:a16="http://schemas.microsoft.com/office/drawing/2014/main" id="{E6A83715-8823-3C13-DB36-BAA4A75EE03B}"/>
              </a:ext>
            </a:extLst>
          </p:cNvPr>
          <p:cNvSpPr>
            <a:spLocks noGrp="1"/>
          </p:cNvSpPr>
          <p:nvPr>
            <p:ph idx="1"/>
          </p:nvPr>
        </p:nvSpPr>
        <p:spPr>
          <a:xfrm>
            <a:off x="246856" y="794022"/>
            <a:ext cx="11945144" cy="304800"/>
          </a:xfrm>
        </p:spPr>
        <p:txBody>
          <a:bodyPr>
            <a:normAutofit fontScale="92500" lnSpcReduction="20000"/>
          </a:bodyPr>
          <a:lstStyle/>
          <a:p>
            <a:pPr marL="0" indent="0">
              <a:buNone/>
            </a:pPr>
            <a:r>
              <a:rPr lang="es-MX" sz="2000" dirty="0"/>
              <a:t>Se desarrolló el microservicio </a:t>
            </a:r>
            <a:r>
              <a:rPr lang="es-MX" sz="2000" dirty="0" err="1"/>
              <a:t>Students</a:t>
            </a:r>
            <a:r>
              <a:rPr lang="es-MX" sz="2000" dirty="0"/>
              <a:t> </a:t>
            </a:r>
            <a:r>
              <a:rPr lang="es-MX" sz="2000" dirty="0" err="1"/>
              <a:t>Service</a:t>
            </a:r>
            <a:r>
              <a:rPr lang="es-MX" sz="2000" dirty="0"/>
              <a:t> encargado de gestionar estudiantes.</a:t>
            </a:r>
          </a:p>
          <a:p>
            <a:pPr marL="0" indent="0">
              <a:buNone/>
            </a:pPr>
            <a:endParaRPr lang="es-MX" sz="2000" dirty="0"/>
          </a:p>
        </p:txBody>
      </p:sp>
      <p:pic>
        <p:nvPicPr>
          <p:cNvPr id="9" name="Imagen 8">
            <a:extLst>
              <a:ext uri="{FF2B5EF4-FFF2-40B4-BE49-F238E27FC236}">
                <a16:creationId xmlns:a16="http://schemas.microsoft.com/office/drawing/2014/main" id="{DCE2B688-12BA-CE3F-50A0-457BAED07FA2}"/>
              </a:ext>
            </a:extLst>
          </p:cNvPr>
          <p:cNvPicPr>
            <a:picLocks noChangeAspect="1"/>
          </p:cNvPicPr>
          <p:nvPr/>
        </p:nvPicPr>
        <p:blipFill>
          <a:blip r:embed="rId3"/>
          <a:stretch>
            <a:fillRect/>
          </a:stretch>
        </p:blipFill>
        <p:spPr>
          <a:xfrm>
            <a:off x="246856" y="1308909"/>
            <a:ext cx="4631943" cy="2605468"/>
          </a:xfrm>
          <a:prstGeom prst="rect">
            <a:avLst/>
          </a:prstGeom>
        </p:spPr>
      </p:pic>
      <p:sp>
        <p:nvSpPr>
          <p:cNvPr id="14" name="CuadroTexto 13">
            <a:extLst>
              <a:ext uri="{FF2B5EF4-FFF2-40B4-BE49-F238E27FC236}">
                <a16:creationId xmlns:a16="http://schemas.microsoft.com/office/drawing/2014/main" id="{77C47FEF-1A44-E3C3-7AA2-ABA1AF6CD01A}"/>
              </a:ext>
            </a:extLst>
          </p:cNvPr>
          <p:cNvSpPr txBox="1"/>
          <p:nvPr/>
        </p:nvSpPr>
        <p:spPr>
          <a:xfrm>
            <a:off x="8269587" y="3037214"/>
            <a:ext cx="3669632" cy="1754326"/>
          </a:xfrm>
          <a:prstGeom prst="rect">
            <a:avLst/>
          </a:prstGeom>
          <a:noFill/>
        </p:spPr>
        <p:txBody>
          <a:bodyPr wrap="square">
            <a:spAutoFit/>
          </a:bodyPr>
          <a:lstStyle/>
          <a:p>
            <a:pPr marL="0" indent="0">
              <a:buNone/>
            </a:pPr>
            <a:r>
              <a:rPr lang="es-MX" sz="1800" dirty="0"/>
              <a:t>Características:</a:t>
            </a:r>
          </a:p>
          <a:p>
            <a:pPr marL="285750" indent="-285750">
              <a:buFont typeface="Arial" panose="020B0604020202020204" pitchFamily="34" charset="0"/>
              <a:buChar char="•"/>
            </a:pPr>
            <a:r>
              <a:rPr lang="es-MX" sz="1800" dirty="0"/>
              <a:t>Puerto: 8081</a:t>
            </a:r>
          </a:p>
          <a:p>
            <a:pPr marL="285750" indent="-285750">
              <a:buFont typeface="Arial" panose="020B0604020202020204" pitchFamily="34" charset="0"/>
              <a:buChar char="•"/>
            </a:pPr>
            <a:r>
              <a:rPr lang="es-MX" sz="1800" dirty="0"/>
              <a:t>Registro en Eureka</a:t>
            </a:r>
          </a:p>
          <a:p>
            <a:pPr marL="285750" indent="-285750">
              <a:buFont typeface="Arial" panose="020B0604020202020204" pitchFamily="34" charset="0"/>
              <a:buChar char="•"/>
            </a:pPr>
            <a:r>
              <a:rPr lang="es-MX" sz="1800" dirty="0"/>
              <a:t>Conexión a MySQL</a:t>
            </a:r>
          </a:p>
          <a:p>
            <a:pPr marL="285750" indent="-285750">
              <a:buFont typeface="Arial" panose="020B0604020202020204" pitchFamily="34" charset="0"/>
              <a:buChar char="•"/>
            </a:pPr>
            <a:r>
              <a:rPr lang="es-MX" sz="1800" dirty="0"/>
              <a:t>Comunicación con </a:t>
            </a:r>
            <a:r>
              <a:rPr lang="es-MX" sz="1800" dirty="0" err="1"/>
              <a:t>Courses</a:t>
            </a:r>
            <a:r>
              <a:rPr lang="es-MX" sz="1800" dirty="0"/>
              <a:t> </a:t>
            </a:r>
            <a:r>
              <a:rPr lang="es-MX" sz="1800" dirty="0" err="1"/>
              <a:t>Service</a:t>
            </a:r>
            <a:endParaRPr lang="es-MX" sz="1800" dirty="0"/>
          </a:p>
        </p:txBody>
      </p:sp>
      <p:sp>
        <p:nvSpPr>
          <p:cNvPr id="15" name="AutoShape 4">
            <a:extLst>
              <a:ext uri="{FF2B5EF4-FFF2-40B4-BE49-F238E27FC236}">
                <a16:creationId xmlns:a16="http://schemas.microsoft.com/office/drawing/2014/main" id="{F63A8256-334E-7E36-F5BE-82A43720CD7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16" name="Imagen 15">
            <a:extLst>
              <a:ext uri="{FF2B5EF4-FFF2-40B4-BE49-F238E27FC236}">
                <a16:creationId xmlns:a16="http://schemas.microsoft.com/office/drawing/2014/main" id="{43A66D34-1831-A645-4456-7EA298287A66}"/>
              </a:ext>
            </a:extLst>
          </p:cNvPr>
          <p:cNvPicPr>
            <a:picLocks noChangeAspect="1"/>
          </p:cNvPicPr>
          <p:nvPr/>
        </p:nvPicPr>
        <p:blipFill>
          <a:blip r:embed="rId4"/>
          <a:stretch>
            <a:fillRect/>
          </a:stretch>
        </p:blipFill>
        <p:spPr>
          <a:xfrm>
            <a:off x="246856" y="4151643"/>
            <a:ext cx="4631943" cy="2605468"/>
          </a:xfrm>
          <a:prstGeom prst="rect">
            <a:avLst/>
          </a:prstGeom>
        </p:spPr>
      </p:pic>
      <p:sp>
        <p:nvSpPr>
          <p:cNvPr id="17" name="Rectangle 5">
            <a:extLst>
              <a:ext uri="{FF2B5EF4-FFF2-40B4-BE49-F238E27FC236}">
                <a16:creationId xmlns:a16="http://schemas.microsoft.com/office/drawing/2014/main" id="{EA8D8861-8B1F-DCA5-5ABF-A1BCEDCCE6CB}"/>
              </a:ext>
            </a:extLst>
          </p:cNvPr>
          <p:cNvSpPr>
            <a:spLocks noChangeArrowheads="1"/>
          </p:cNvSpPr>
          <p:nvPr/>
        </p:nvSpPr>
        <p:spPr bwMode="auto">
          <a:xfrm>
            <a:off x="5138058" y="5740812"/>
            <a:ext cx="69668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Dentro de este servicio se implementaron </a:t>
            </a:r>
            <a:r>
              <a:rPr lang="es-MX" altLang="es-MX" dirty="0" err="1"/>
              <a:t>endpoints</a:t>
            </a:r>
            <a:r>
              <a:rPr lang="es-MX" altLang="es-MX" dirty="0"/>
              <a:t> para registrar estudiantes y consultar información.</a:t>
            </a:r>
          </a:p>
        </p:txBody>
      </p:sp>
    </p:spTree>
    <p:extLst>
      <p:ext uri="{BB962C8B-B14F-4D97-AF65-F5344CB8AC3E}">
        <p14:creationId xmlns:p14="http://schemas.microsoft.com/office/powerpoint/2010/main" val="1385072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E8089C6-E492-F948-8B3B-8DE0046A6BE4}"/>
              </a:ext>
            </a:extLst>
          </p:cNvPr>
          <p:cNvSpPr txBox="1"/>
          <p:nvPr/>
        </p:nvSpPr>
        <p:spPr>
          <a:xfrm>
            <a:off x="1643742" y="313624"/>
            <a:ext cx="10765971"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2000" dirty="0"/>
              <a:t>Además, se configuró la conexión a una base de datos MySQL llamada </a:t>
            </a:r>
            <a:r>
              <a:rPr lang="es-MX" altLang="es-MX" sz="2000" dirty="0" err="1"/>
              <a:t>students_db</a:t>
            </a:r>
            <a:r>
              <a:rPr lang="es-MX" altLang="es-MX" sz="2000" dirty="0"/>
              <a:t>.</a:t>
            </a:r>
          </a:p>
        </p:txBody>
      </p:sp>
      <p:pic>
        <p:nvPicPr>
          <p:cNvPr id="8" name="Imagen 7">
            <a:extLst>
              <a:ext uri="{FF2B5EF4-FFF2-40B4-BE49-F238E27FC236}">
                <a16:creationId xmlns:a16="http://schemas.microsoft.com/office/drawing/2014/main" id="{C08208BE-FBB8-9480-B3B6-44C1BC65F424}"/>
              </a:ext>
            </a:extLst>
          </p:cNvPr>
          <p:cNvPicPr>
            <a:picLocks noChangeAspect="1"/>
          </p:cNvPicPr>
          <p:nvPr/>
        </p:nvPicPr>
        <p:blipFill>
          <a:blip r:embed="rId2"/>
          <a:stretch>
            <a:fillRect/>
          </a:stretch>
        </p:blipFill>
        <p:spPr>
          <a:xfrm>
            <a:off x="1426029" y="800801"/>
            <a:ext cx="10210800" cy="5743575"/>
          </a:xfrm>
          <a:prstGeom prst="rect">
            <a:avLst/>
          </a:prstGeom>
        </p:spPr>
      </p:pic>
    </p:spTree>
    <p:extLst>
      <p:ext uri="{BB962C8B-B14F-4D97-AF65-F5344CB8AC3E}">
        <p14:creationId xmlns:p14="http://schemas.microsoft.com/office/powerpoint/2010/main" val="3892056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774D9D-E4CA-A627-A7A8-66AF8A8DE77D}"/>
              </a:ext>
            </a:extLst>
          </p:cNvPr>
          <p:cNvSpPr>
            <a:spLocks noGrp="1"/>
          </p:cNvSpPr>
          <p:nvPr>
            <p:ph type="title"/>
          </p:nvPr>
        </p:nvSpPr>
        <p:spPr>
          <a:xfrm>
            <a:off x="838200" y="147412"/>
            <a:ext cx="10515600" cy="533626"/>
          </a:xfrm>
        </p:spPr>
        <p:txBody>
          <a:bodyPr>
            <a:noAutofit/>
          </a:bodyPr>
          <a:lstStyle/>
          <a:p>
            <a:r>
              <a:rPr lang="es-MX" sz="3600" dirty="0"/>
              <a:t>Creación del Microservicio </a:t>
            </a:r>
            <a:r>
              <a:rPr lang="es-MX" sz="3600" dirty="0" err="1"/>
              <a:t>Courses</a:t>
            </a:r>
            <a:r>
              <a:rPr lang="es-MX" sz="3600" dirty="0"/>
              <a:t> </a:t>
            </a:r>
            <a:r>
              <a:rPr lang="es-MX" sz="3600" dirty="0" err="1"/>
              <a:t>Service</a:t>
            </a:r>
            <a:endParaRPr lang="es-MX" sz="3600" dirty="0"/>
          </a:p>
        </p:txBody>
      </p:sp>
      <p:sp>
        <p:nvSpPr>
          <p:cNvPr id="5" name="CuadroTexto 4">
            <a:extLst>
              <a:ext uri="{FF2B5EF4-FFF2-40B4-BE49-F238E27FC236}">
                <a16:creationId xmlns:a16="http://schemas.microsoft.com/office/drawing/2014/main" id="{70F66C81-E2EA-70CF-91E7-1145F4FAB467}"/>
              </a:ext>
            </a:extLst>
          </p:cNvPr>
          <p:cNvSpPr txBox="1"/>
          <p:nvPr/>
        </p:nvSpPr>
        <p:spPr>
          <a:xfrm>
            <a:off x="243839" y="805266"/>
            <a:ext cx="9736183" cy="1477328"/>
          </a:xfrm>
          <a:prstGeom prst="rect">
            <a:avLst/>
          </a:prstGeom>
          <a:noFill/>
        </p:spPr>
        <p:txBody>
          <a:bodyPr wrap="square">
            <a:spAutoFit/>
          </a:bodyPr>
          <a:lstStyle/>
          <a:p>
            <a:r>
              <a:rPr lang="es-MX" dirty="0"/>
              <a:t>También se implementó </a:t>
            </a:r>
            <a:r>
              <a:rPr lang="es-MX" dirty="0" err="1"/>
              <a:t>Courses</a:t>
            </a:r>
            <a:r>
              <a:rPr lang="es-MX" dirty="0"/>
              <a:t> </a:t>
            </a:r>
            <a:r>
              <a:rPr lang="es-MX" dirty="0" err="1"/>
              <a:t>Service</a:t>
            </a:r>
            <a:r>
              <a:rPr lang="es-MX" dirty="0"/>
              <a:t>, encargado de proporcionar información sobre cursos.</a:t>
            </a:r>
          </a:p>
          <a:p>
            <a:r>
              <a:rPr lang="es-MX" dirty="0"/>
              <a:t>Características:</a:t>
            </a:r>
          </a:p>
          <a:p>
            <a:pPr>
              <a:buFont typeface="Arial" panose="020B0604020202020204" pitchFamily="34" charset="0"/>
              <a:buChar char="•"/>
            </a:pPr>
            <a:r>
              <a:rPr lang="es-MX" dirty="0"/>
              <a:t>Puerto: 8080</a:t>
            </a:r>
          </a:p>
          <a:p>
            <a:pPr>
              <a:buFont typeface="Arial" panose="020B0604020202020204" pitchFamily="34" charset="0"/>
              <a:buChar char="•"/>
            </a:pPr>
            <a:r>
              <a:rPr lang="es-MX" dirty="0"/>
              <a:t>Registro en Eureka</a:t>
            </a:r>
          </a:p>
          <a:p>
            <a:pPr>
              <a:buFont typeface="Arial" panose="020B0604020202020204" pitchFamily="34" charset="0"/>
              <a:buChar char="•"/>
            </a:pPr>
            <a:r>
              <a:rPr lang="es-MX" dirty="0"/>
              <a:t>Integración con Gateway</a:t>
            </a:r>
          </a:p>
        </p:txBody>
      </p:sp>
      <p:sp>
        <p:nvSpPr>
          <p:cNvPr id="7" name="CuadroTexto 6">
            <a:extLst>
              <a:ext uri="{FF2B5EF4-FFF2-40B4-BE49-F238E27FC236}">
                <a16:creationId xmlns:a16="http://schemas.microsoft.com/office/drawing/2014/main" id="{0C0BCA91-2431-F4BA-3C1B-D0DFE57EB11F}"/>
              </a:ext>
            </a:extLst>
          </p:cNvPr>
          <p:cNvSpPr txBox="1"/>
          <p:nvPr/>
        </p:nvSpPr>
        <p:spPr>
          <a:xfrm>
            <a:off x="8305800" y="5787258"/>
            <a:ext cx="4111896" cy="923330"/>
          </a:xfrm>
          <a:prstGeom prst="rect">
            <a:avLst/>
          </a:prstGeom>
          <a:noFill/>
        </p:spPr>
        <p:txBody>
          <a:bodyPr wrap="square">
            <a:spAutoFit/>
          </a:bodyPr>
          <a:lstStyle/>
          <a:p>
            <a:r>
              <a:rPr lang="es-MX" dirty="0"/>
              <a:t>Este servicio permitió responder solicitudes enviadas desde </a:t>
            </a:r>
            <a:r>
              <a:rPr lang="es-MX" dirty="0" err="1"/>
              <a:t>Students</a:t>
            </a:r>
            <a:r>
              <a:rPr lang="es-MX" dirty="0"/>
              <a:t> </a:t>
            </a:r>
            <a:r>
              <a:rPr lang="es-MX" dirty="0" err="1"/>
              <a:t>Service</a:t>
            </a:r>
            <a:r>
              <a:rPr lang="es-MX" dirty="0"/>
              <a:t>.</a:t>
            </a:r>
          </a:p>
        </p:txBody>
      </p:sp>
      <p:pic>
        <p:nvPicPr>
          <p:cNvPr id="8" name="Imagen 7">
            <a:extLst>
              <a:ext uri="{FF2B5EF4-FFF2-40B4-BE49-F238E27FC236}">
                <a16:creationId xmlns:a16="http://schemas.microsoft.com/office/drawing/2014/main" id="{B8382DFE-3A0E-234A-A703-63CC919506A4}"/>
              </a:ext>
            </a:extLst>
          </p:cNvPr>
          <p:cNvPicPr>
            <a:picLocks noChangeAspect="1"/>
          </p:cNvPicPr>
          <p:nvPr/>
        </p:nvPicPr>
        <p:blipFill>
          <a:blip r:embed="rId2"/>
          <a:stretch>
            <a:fillRect/>
          </a:stretch>
        </p:blipFill>
        <p:spPr>
          <a:xfrm>
            <a:off x="174171" y="2282595"/>
            <a:ext cx="2831496" cy="2016970"/>
          </a:xfrm>
          <a:prstGeom prst="rect">
            <a:avLst/>
          </a:prstGeom>
        </p:spPr>
      </p:pic>
      <p:pic>
        <p:nvPicPr>
          <p:cNvPr id="10" name="Imagen 9">
            <a:extLst>
              <a:ext uri="{FF2B5EF4-FFF2-40B4-BE49-F238E27FC236}">
                <a16:creationId xmlns:a16="http://schemas.microsoft.com/office/drawing/2014/main" id="{45A14338-5E60-96FF-398A-10B5D06E7C55}"/>
              </a:ext>
            </a:extLst>
          </p:cNvPr>
          <p:cNvPicPr>
            <a:picLocks noChangeAspect="1"/>
          </p:cNvPicPr>
          <p:nvPr/>
        </p:nvPicPr>
        <p:blipFill>
          <a:blip r:embed="rId3"/>
          <a:stretch>
            <a:fillRect/>
          </a:stretch>
        </p:blipFill>
        <p:spPr>
          <a:xfrm>
            <a:off x="8158960" y="1328539"/>
            <a:ext cx="3117427" cy="4200922"/>
          </a:xfrm>
          <a:prstGeom prst="rect">
            <a:avLst/>
          </a:prstGeom>
        </p:spPr>
      </p:pic>
      <p:pic>
        <p:nvPicPr>
          <p:cNvPr id="3" name="Imagen 2">
            <a:extLst>
              <a:ext uri="{FF2B5EF4-FFF2-40B4-BE49-F238E27FC236}">
                <a16:creationId xmlns:a16="http://schemas.microsoft.com/office/drawing/2014/main" id="{3BA29353-F706-FF72-AC42-A11DB832A36F}"/>
              </a:ext>
            </a:extLst>
          </p:cNvPr>
          <p:cNvPicPr>
            <a:picLocks noChangeAspect="1"/>
          </p:cNvPicPr>
          <p:nvPr/>
        </p:nvPicPr>
        <p:blipFill>
          <a:blip r:embed="rId4"/>
          <a:stretch>
            <a:fillRect/>
          </a:stretch>
        </p:blipFill>
        <p:spPr>
          <a:xfrm>
            <a:off x="3976427" y="4033571"/>
            <a:ext cx="4182533" cy="2363132"/>
          </a:xfrm>
          <a:prstGeom prst="rect">
            <a:avLst/>
          </a:prstGeom>
        </p:spPr>
      </p:pic>
      <p:pic>
        <p:nvPicPr>
          <p:cNvPr id="4" name="Imagen 3">
            <a:extLst>
              <a:ext uri="{FF2B5EF4-FFF2-40B4-BE49-F238E27FC236}">
                <a16:creationId xmlns:a16="http://schemas.microsoft.com/office/drawing/2014/main" id="{B6BDA94C-1470-4A22-ECBB-2D1999C44A53}"/>
              </a:ext>
            </a:extLst>
          </p:cNvPr>
          <p:cNvPicPr>
            <a:picLocks noChangeAspect="1"/>
          </p:cNvPicPr>
          <p:nvPr/>
        </p:nvPicPr>
        <p:blipFill>
          <a:blip r:embed="rId5"/>
          <a:stretch>
            <a:fillRect/>
          </a:stretch>
        </p:blipFill>
        <p:spPr>
          <a:xfrm>
            <a:off x="88347" y="4335944"/>
            <a:ext cx="3778014" cy="2125133"/>
          </a:xfrm>
          <a:prstGeom prst="rect">
            <a:avLst/>
          </a:prstGeom>
        </p:spPr>
      </p:pic>
      <p:pic>
        <p:nvPicPr>
          <p:cNvPr id="6" name="Imagen 5">
            <a:extLst>
              <a:ext uri="{FF2B5EF4-FFF2-40B4-BE49-F238E27FC236}">
                <a16:creationId xmlns:a16="http://schemas.microsoft.com/office/drawing/2014/main" id="{2AD12BA2-B935-E308-2A4E-A331ACA98CF2}"/>
              </a:ext>
            </a:extLst>
          </p:cNvPr>
          <p:cNvPicPr>
            <a:picLocks noChangeAspect="1"/>
          </p:cNvPicPr>
          <p:nvPr/>
        </p:nvPicPr>
        <p:blipFill>
          <a:blip r:embed="rId6"/>
          <a:stretch>
            <a:fillRect/>
          </a:stretch>
        </p:blipFill>
        <p:spPr>
          <a:xfrm>
            <a:off x="3756293" y="1442805"/>
            <a:ext cx="4402667" cy="2476500"/>
          </a:xfrm>
          <a:prstGeom prst="rect">
            <a:avLst/>
          </a:prstGeom>
        </p:spPr>
      </p:pic>
    </p:spTree>
    <p:extLst>
      <p:ext uri="{BB962C8B-B14F-4D97-AF65-F5344CB8AC3E}">
        <p14:creationId xmlns:p14="http://schemas.microsoft.com/office/powerpoint/2010/main" val="3226635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0053D-E605-63FF-AD35-7392E7915B1F}"/>
              </a:ext>
            </a:extLst>
          </p:cNvPr>
          <p:cNvSpPr>
            <a:spLocks noGrp="1"/>
          </p:cNvSpPr>
          <p:nvPr>
            <p:ph type="title"/>
          </p:nvPr>
        </p:nvSpPr>
        <p:spPr>
          <a:xfrm>
            <a:off x="838200" y="149179"/>
            <a:ext cx="10515600" cy="531858"/>
          </a:xfrm>
        </p:spPr>
        <p:txBody>
          <a:bodyPr>
            <a:normAutofit fontScale="90000"/>
          </a:bodyPr>
          <a:lstStyle/>
          <a:p>
            <a:r>
              <a:rPr lang="es-MX" dirty="0"/>
              <a:t>Comunicación entre Microservicios</a:t>
            </a:r>
          </a:p>
        </p:txBody>
      </p:sp>
      <p:sp>
        <p:nvSpPr>
          <p:cNvPr id="5" name="Rectangle 2">
            <a:extLst>
              <a:ext uri="{FF2B5EF4-FFF2-40B4-BE49-F238E27FC236}">
                <a16:creationId xmlns:a16="http://schemas.microsoft.com/office/drawing/2014/main" id="{639B40AF-1C0B-9875-39C8-93919B35E00B}"/>
              </a:ext>
            </a:extLst>
          </p:cNvPr>
          <p:cNvSpPr>
            <a:spLocks noChangeArrowheads="1"/>
          </p:cNvSpPr>
          <p:nvPr/>
        </p:nvSpPr>
        <p:spPr bwMode="auto">
          <a:xfrm>
            <a:off x="764426" y="868560"/>
            <a:ext cx="1058937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Una de las partes más importantes de la práctica fue implementar la comunicación entre microservicios.</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Para ello se utilizó </a:t>
            </a:r>
            <a:r>
              <a:rPr lang="es-MX" altLang="es-MX" dirty="0" err="1"/>
              <a:t>RestTemplate</a:t>
            </a:r>
            <a:r>
              <a:rPr lang="es-MX" altLang="es-MX" dirty="0"/>
              <a:t> junto con Eureka.</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Ejemplo:</a:t>
            </a:r>
          </a:p>
        </p:txBody>
      </p:sp>
      <p:sp>
        <p:nvSpPr>
          <p:cNvPr id="7" name="CuadroTexto 6">
            <a:extLst>
              <a:ext uri="{FF2B5EF4-FFF2-40B4-BE49-F238E27FC236}">
                <a16:creationId xmlns:a16="http://schemas.microsoft.com/office/drawing/2014/main" id="{99F5826B-7A3A-0135-B146-EF00631EE103}"/>
              </a:ext>
            </a:extLst>
          </p:cNvPr>
          <p:cNvSpPr txBox="1"/>
          <p:nvPr/>
        </p:nvSpPr>
        <p:spPr>
          <a:xfrm>
            <a:off x="121919" y="5302189"/>
            <a:ext cx="11948160" cy="923330"/>
          </a:xfrm>
          <a:prstGeom prst="rect">
            <a:avLst/>
          </a:prstGeom>
          <a:noFill/>
        </p:spPr>
        <p:txBody>
          <a:bodyPr wrap="square">
            <a:spAutoFit/>
          </a:bodyPr>
          <a:lstStyle/>
          <a:p>
            <a:r>
              <a:rPr lang="es-MX" dirty="0"/>
              <a:t>Gracias a Eureka, el sistema logró localizar automáticamente el servicio correspondiente sin necesidad de usar direcciones IP o puertos fijos.</a:t>
            </a:r>
          </a:p>
          <a:p>
            <a:r>
              <a:rPr lang="es-MX" dirty="0"/>
              <a:t>Esto permitió que </a:t>
            </a:r>
            <a:r>
              <a:rPr lang="es-MX" dirty="0" err="1"/>
              <a:t>Students</a:t>
            </a:r>
            <a:r>
              <a:rPr lang="es-MX" dirty="0"/>
              <a:t> </a:t>
            </a:r>
            <a:r>
              <a:rPr lang="es-MX" dirty="0" err="1"/>
              <a:t>Service</a:t>
            </a:r>
            <a:r>
              <a:rPr lang="es-MX" dirty="0"/>
              <a:t> consumiera información proveniente de </a:t>
            </a:r>
            <a:r>
              <a:rPr lang="es-MX" dirty="0" err="1"/>
              <a:t>Courses</a:t>
            </a:r>
            <a:r>
              <a:rPr lang="es-MX" dirty="0"/>
              <a:t> </a:t>
            </a:r>
            <a:r>
              <a:rPr lang="es-MX" dirty="0" err="1"/>
              <a:t>Service</a:t>
            </a:r>
            <a:endParaRPr lang="es-MX" dirty="0"/>
          </a:p>
        </p:txBody>
      </p:sp>
      <p:pic>
        <p:nvPicPr>
          <p:cNvPr id="3" name="Imagen 2">
            <a:extLst>
              <a:ext uri="{FF2B5EF4-FFF2-40B4-BE49-F238E27FC236}">
                <a16:creationId xmlns:a16="http://schemas.microsoft.com/office/drawing/2014/main" id="{22EDF2C8-841D-2857-F3DD-A041EF5925F4}"/>
              </a:ext>
            </a:extLst>
          </p:cNvPr>
          <p:cNvPicPr>
            <a:picLocks noChangeAspect="1"/>
          </p:cNvPicPr>
          <p:nvPr/>
        </p:nvPicPr>
        <p:blipFill>
          <a:blip r:embed="rId2"/>
          <a:stretch>
            <a:fillRect/>
          </a:stretch>
        </p:blipFill>
        <p:spPr>
          <a:xfrm>
            <a:off x="3346542" y="1685211"/>
            <a:ext cx="5498915" cy="3106887"/>
          </a:xfrm>
          <a:prstGeom prst="rect">
            <a:avLst/>
          </a:prstGeom>
        </p:spPr>
      </p:pic>
    </p:spTree>
    <p:extLst>
      <p:ext uri="{BB962C8B-B14F-4D97-AF65-F5344CB8AC3E}">
        <p14:creationId xmlns:p14="http://schemas.microsoft.com/office/powerpoint/2010/main" val="1208487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71196D-FDDE-044D-644A-EB230D5717E7}"/>
              </a:ext>
            </a:extLst>
          </p:cNvPr>
          <p:cNvSpPr>
            <a:spLocks noGrp="1"/>
          </p:cNvSpPr>
          <p:nvPr>
            <p:ph type="title"/>
          </p:nvPr>
        </p:nvSpPr>
        <p:spPr>
          <a:xfrm>
            <a:off x="838200" y="0"/>
            <a:ext cx="10515600" cy="540566"/>
          </a:xfrm>
        </p:spPr>
        <p:txBody>
          <a:bodyPr>
            <a:normAutofit fontScale="90000"/>
          </a:bodyPr>
          <a:lstStyle/>
          <a:p>
            <a:r>
              <a:rPr lang="es-MX" dirty="0"/>
              <a:t>Implementación de API Gateway</a:t>
            </a:r>
          </a:p>
        </p:txBody>
      </p:sp>
      <p:sp>
        <p:nvSpPr>
          <p:cNvPr id="3" name="Marcador de contenido 2">
            <a:extLst>
              <a:ext uri="{FF2B5EF4-FFF2-40B4-BE49-F238E27FC236}">
                <a16:creationId xmlns:a16="http://schemas.microsoft.com/office/drawing/2014/main" id="{70B4D2ED-78F0-8596-3579-89194969E495}"/>
              </a:ext>
            </a:extLst>
          </p:cNvPr>
          <p:cNvSpPr>
            <a:spLocks noGrp="1"/>
          </p:cNvSpPr>
          <p:nvPr>
            <p:ph idx="1"/>
          </p:nvPr>
        </p:nvSpPr>
        <p:spPr>
          <a:xfrm>
            <a:off x="216580" y="919442"/>
            <a:ext cx="10515600" cy="4351338"/>
          </a:xfrm>
        </p:spPr>
        <p:txBody>
          <a:bodyPr>
            <a:normAutofit/>
          </a:bodyPr>
          <a:lstStyle/>
          <a:p>
            <a:pPr marL="0" indent="0">
              <a:buNone/>
            </a:pPr>
            <a:r>
              <a:rPr lang="es-MX" sz="2000" dirty="0"/>
              <a:t>Posteriormente se implementó un API Gateway como punto único de acceso.</a:t>
            </a:r>
          </a:p>
          <a:p>
            <a:pPr marL="0" indent="0">
              <a:buNone/>
            </a:pPr>
            <a:endParaRPr lang="es-MX" sz="2000" dirty="0"/>
          </a:p>
          <a:p>
            <a:pPr marL="0" indent="0">
              <a:buNone/>
            </a:pPr>
            <a:r>
              <a:rPr lang="es-MX" sz="2000" dirty="0"/>
              <a:t>Características:</a:t>
            </a:r>
          </a:p>
          <a:p>
            <a:pPr>
              <a:buFont typeface="Arial" panose="020B0604020202020204" pitchFamily="34" charset="0"/>
              <a:buChar char="•"/>
            </a:pPr>
            <a:r>
              <a:rPr lang="es-MX" sz="2000" dirty="0"/>
              <a:t>Puerto: 8082</a:t>
            </a:r>
          </a:p>
          <a:p>
            <a:pPr>
              <a:buFont typeface="Arial" panose="020B0604020202020204" pitchFamily="34" charset="0"/>
              <a:buChar char="•"/>
            </a:pPr>
            <a:r>
              <a:rPr lang="es-MX" sz="2000" dirty="0"/>
              <a:t>Enrutamiento automático</a:t>
            </a:r>
          </a:p>
        </p:txBody>
      </p:sp>
      <p:sp>
        <p:nvSpPr>
          <p:cNvPr id="5" name="CuadroTexto 4">
            <a:extLst>
              <a:ext uri="{FF2B5EF4-FFF2-40B4-BE49-F238E27FC236}">
                <a16:creationId xmlns:a16="http://schemas.microsoft.com/office/drawing/2014/main" id="{74A79EAB-696F-68F9-15AA-E901020DBD0A}"/>
              </a:ext>
            </a:extLst>
          </p:cNvPr>
          <p:cNvSpPr txBox="1"/>
          <p:nvPr/>
        </p:nvSpPr>
        <p:spPr>
          <a:xfrm>
            <a:off x="3744685" y="1657903"/>
            <a:ext cx="6096000" cy="1015663"/>
          </a:xfrm>
          <a:prstGeom prst="rect">
            <a:avLst/>
          </a:prstGeom>
          <a:noFill/>
        </p:spPr>
        <p:txBody>
          <a:bodyPr wrap="square">
            <a:spAutoFit/>
          </a:bodyPr>
          <a:lstStyle/>
          <a:p>
            <a:r>
              <a:rPr lang="es-MX" sz="2000" dirty="0"/>
              <a:t>Rutas implementadas:</a:t>
            </a:r>
          </a:p>
          <a:p>
            <a:r>
              <a:rPr lang="es-MX" sz="2000" dirty="0"/>
              <a:t>/</a:t>
            </a:r>
            <a:r>
              <a:rPr lang="es-MX" sz="2000" dirty="0" err="1"/>
              <a:t>students</a:t>
            </a:r>
            <a:endParaRPr lang="es-MX" sz="2000" dirty="0"/>
          </a:p>
          <a:p>
            <a:r>
              <a:rPr lang="es-MX" sz="2000" dirty="0"/>
              <a:t>/</a:t>
            </a:r>
            <a:r>
              <a:rPr lang="es-MX" sz="2000" dirty="0" err="1"/>
              <a:t>courses</a:t>
            </a:r>
            <a:endParaRPr lang="es-MX" sz="2000" dirty="0"/>
          </a:p>
        </p:txBody>
      </p:sp>
      <p:pic>
        <p:nvPicPr>
          <p:cNvPr id="6" name="Imagen 5">
            <a:extLst>
              <a:ext uri="{FF2B5EF4-FFF2-40B4-BE49-F238E27FC236}">
                <a16:creationId xmlns:a16="http://schemas.microsoft.com/office/drawing/2014/main" id="{46B8DBE6-6472-1BBB-E411-AC6D07D62D04}"/>
              </a:ext>
            </a:extLst>
          </p:cNvPr>
          <p:cNvPicPr>
            <a:picLocks noChangeAspect="1"/>
          </p:cNvPicPr>
          <p:nvPr/>
        </p:nvPicPr>
        <p:blipFill>
          <a:blip r:embed="rId2"/>
          <a:srcRect b="81880"/>
          <a:stretch/>
        </p:blipFill>
        <p:spPr>
          <a:xfrm>
            <a:off x="758492" y="3237411"/>
            <a:ext cx="9973688" cy="1021079"/>
          </a:xfrm>
          <a:prstGeom prst="rect">
            <a:avLst/>
          </a:prstGeom>
        </p:spPr>
      </p:pic>
      <p:pic>
        <p:nvPicPr>
          <p:cNvPr id="7" name="Imagen 6">
            <a:extLst>
              <a:ext uri="{FF2B5EF4-FFF2-40B4-BE49-F238E27FC236}">
                <a16:creationId xmlns:a16="http://schemas.microsoft.com/office/drawing/2014/main" id="{FFFB9B6F-D350-28A7-18F7-BB164519DA15}"/>
              </a:ext>
            </a:extLst>
          </p:cNvPr>
          <p:cNvPicPr>
            <a:picLocks noChangeAspect="1"/>
          </p:cNvPicPr>
          <p:nvPr/>
        </p:nvPicPr>
        <p:blipFill>
          <a:blip r:embed="rId3"/>
          <a:srcRect b="80444"/>
          <a:stretch/>
        </p:blipFill>
        <p:spPr>
          <a:xfrm>
            <a:off x="758492" y="4272732"/>
            <a:ext cx="9973688" cy="1101981"/>
          </a:xfrm>
          <a:prstGeom prst="rect">
            <a:avLst/>
          </a:prstGeom>
        </p:spPr>
      </p:pic>
      <p:sp>
        <p:nvSpPr>
          <p:cNvPr id="9" name="CuadroTexto 8">
            <a:extLst>
              <a:ext uri="{FF2B5EF4-FFF2-40B4-BE49-F238E27FC236}">
                <a16:creationId xmlns:a16="http://schemas.microsoft.com/office/drawing/2014/main" id="{7762CDCA-3D0E-7478-1E0F-2D85D575D8F1}"/>
              </a:ext>
            </a:extLst>
          </p:cNvPr>
          <p:cNvSpPr txBox="1"/>
          <p:nvPr/>
        </p:nvSpPr>
        <p:spPr>
          <a:xfrm>
            <a:off x="696685" y="5015228"/>
            <a:ext cx="6096000" cy="923330"/>
          </a:xfrm>
          <a:prstGeom prst="rect">
            <a:avLst/>
          </a:prstGeom>
          <a:noFill/>
        </p:spPr>
        <p:txBody>
          <a:bodyPr wrap="square">
            <a:spAutoFit/>
          </a:bodyPr>
          <a:lstStyle/>
          <a:p>
            <a:r>
              <a:rPr lang="es-MX" sz="1800" dirty="0"/>
              <a:t>El Gateway permitió simplificar las peticiones, evitando que el cliente tuviera que conocer los puertos individuales de cada microservicio.</a:t>
            </a:r>
          </a:p>
        </p:txBody>
      </p:sp>
    </p:spTree>
    <p:extLst>
      <p:ext uri="{BB962C8B-B14F-4D97-AF65-F5344CB8AC3E}">
        <p14:creationId xmlns:p14="http://schemas.microsoft.com/office/powerpoint/2010/main" val="1699715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1CB5D7-6A19-878F-F434-413878336988}"/>
              </a:ext>
            </a:extLst>
          </p:cNvPr>
          <p:cNvSpPr>
            <a:spLocks noGrp="1"/>
          </p:cNvSpPr>
          <p:nvPr>
            <p:ph type="title"/>
          </p:nvPr>
        </p:nvSpPr>
        <p:spPr>
          <a:xfrm>
            <a:off x="671648" y="77743"/>
            <a:ext cx="10848703" cy="540566"/>
          </a:xfrm>
        </p:spPr>
        <p:txBody>
          <a:bodyPr>
            <a:normAutofit fontScale="90000"/>
          </a:bodyPr>
          <a:lstStyle/>
          <a:p>
            <a:r>
              <a:rPr lang="es-MX" dirty="0"/>
              <a:t>Implementación de Base de Datos con Docker</a:t>
            </a:r>
          </a:p>
        </p:txBody>
      </p:sp>
      <p:sp>
        <p:nvSpPr>
          <p:cNvPr id="5" name="CuadroTexto 4">
            <a:extLst>
              <a:ext uri="{FF2B5EF4-FFF2-40B4-BE49-F238E27FC236}">
                <a16:creationId xmlns:a16="http://schemas.microsoft.com/office/drawing/2014/main" id="{43DCE658-7803-E53A-CC22-311D7FF82BFE}"/>
              </a:ext>
            </a:extLst>
          </p:cNvPr>
          <p:cNvSpPr txBox="1"/>
          <p:nvPr/>
        </p:nvSpPr>
        <p:spPr>
          <a:xfrm>
            <a:off x="775064" y="4301775"/>
            <a:ext cx="3814353" cy="1200329"/>
          </a:xfrm>
          <a:prstGeom prst="rect">
            <a:avLst/>
          </a:prstGeom>
          <a:noFill/>
        </p:spPr>
        <p:txBody>
          <a:bodyPr wrap="square">
            <a:spAutoFit/>
          </a:bodyPr>
          <a:lstStyle/>
          <a:p>
            <a:r>
              <a:rPr lang="es-MX" dirty="0"/>
              <a:t>Ventajas:</a:t>
            </a:r>
          </a:p>
          <a:p>
            <a:pPr marL="285750" indent="-285750">
              <a:buFont typeface="Arial" panose="020B0604020202020204" pitchFamily="34" charset="0"/>
              <a:buChar char="•"/>
            </a:pPr>
            <a:r>
              <a:rPr lang="es-MX" dirty="0"/>
              <a:t>Facilidad de instalación</a:t>
            </a:r>
          </a:p>
          <a:p>
            <a:pPr marL="285750" indent="-285750">
              <a:buFont typeface="Arial" panose="020B0604020202020204" pitchFamily="34" charset="0"/>
              <a:buChar char="•"/>
            </a:pPr>
            <a:r>
              <a:rPr lang="es-MX" dirty="0"/>
              <a:t>Aislamiento del entorno</a:t>
            </a:r>
          </a:p>
          <a:p>
            <a:pPr marL="285750" indent="-285750">
              <a:buFont typeface="Arial" panose="020B0604020202020204" pitchFamily="34" charset="0"/>
              <a:buChar char="•"/>
            </a:pPr>
            <a:r>
              <a:rPr lang="es-MX" dirty="0"/>
              <a:t>Compatibilidad multiplataforma</a:t>
            </a:r>
          </a:p>
        </p:txBody>
      </p:sp>
      <p:sp>
        <p:nvSpPr>
          <p:cNvPr id="7" name="CuadroTexto 6">
            <a:extLst>
              <a:ext uri="{FF2B5EF4-FFF2-40B4-BE49-F238E27FC236}">
                <a16:creationId xmlns:a16="http://schemas.microsoft.com/office/drawing/2014/main" id="{A75447C2-5F5D-663A-D6DA-A66EAED3A099}"/>
              </a:ext>
            </a:extLst>
          </p:cNvPr>
          <p:cNvSpPr txBox="1"/>
          <p:nvPr/>
        </p:nvSpPr>
        <p:spPr>
          <a:xfrm>
            <a:off x="6096000" y="3672851"/>
            <a:ext cx="6096000" cy="646331"/>
          </a:xfrm>
          <a:prstGeom prst="rect">
            <a:avLst/>
          </a:prstGeom>
          <a:noFill/>
        </p:spPr>
        <p:txBody>
          <a:bodyPr wrap="square">
            <a:spAutoFit/>
          </a:bodyPr>
          <a:lstStyle/>
          <a:p>
            <a:r>
              <a:rPr lang="es-MX" dirty="0"/>
              <a:t>La conexión se realizó correctamente desde </a:t>
            </a:r>
            <a:r>
              <a:rPr lang="es-MX" dirty="0" err="1"/>
              <a:t>Students</a:t>
            </a:r>
            <a:r>
              <a:rPr lang="es-MX" dirty="0"/>
              <a:t> </a:t>
            </a:r>
            <a:r>
              <a:rPr lang="es-MX" dirty="0" err="1"/>
              <a:t>Service</a:t>
            </a:r>
            <a:r>
              <a:rPr lang="es-MX" dirty="0"/>
              <a:t> utilizando Spring Data JPA.</a:t>
            </a:r>
          </a:p>
        </p:txBody>
      </p:sp>
      <p:sp>
        <p:nvSpPr>
          <p:cNvPr id="9" name="CuadroTexto 8">
            <a:extLst>
              <a:ext uri="{FF2B5EF4-FFF2-40B4-BE49-F238E27FC236}">
                <a16:creationId xmlns:a16="http://schemas.microsoft.com/office/drawing/2014/main" id="{0C016368-A494-8102-F43D-0EE7316E35AC}"/>
              </a:ext>
            </a:extLst>
          </p:cNvPr>
          <p:cNvSpPr txBox="1"/>
          <p:nvPr/>
        </p:nvSpPr>
        <p:spPr>
          <a:xfrm>
            <a:off x="671648" y="827121"/>
            <a:ext cx="6096000" cy="646331"/>
          </a:xfrm>
          <a:prstGeom prst="rect">
            <a:avLst/>
          </a:prstGeom>
          <a:noFill/>
        </p:spPr>
        <p:txBody>
          <a:bodyPr wrap="square">
            <a:spAutoFit/>
          </a:bodyPr>
          <a:lstStyle/>
          <a:p>
            <a:r>
              <a:rPr lang="es-MX" dirty="0"/>
              <a:t>Para la persistencia de datos se utilizó MySQL ejecutándose dentro de un contenedor Docker.</a:t>
            </a:r>
          </a:p>
        </p:txBody>
      </p:sp>
      <p:pic>
        <p:nvPicPr>
          <p:cNvPr id="10" name="Imagen 9">
            <a:extLst>
              <a:ext uri="{FF2B5EF4-FFF2-40B4-BE49-F238E27FC236}">
                <a16:creationId xmlns:a16="http://schemas.microsoft.com/office/drawing/2014/main" id="{EE5AEC6C-43FD-3B25-60D1-F0AF358BD973}"/>
              </a:ext>
            </a:extLst>
          </p:cNvPr>
          <p:cNvPicPr>
            <a:picLocks noChangeAspect="1"/>
          </p:cNvPicPr>
          <p:nvPr/>
        </p:nvPicPr>
        <p:blipFill>
          <a:blip r:embed="rId2"/>
          <a:stretch>
            <a:fillRect/>
          </a:stretch>
        </p:blipFill>
        <p:spPr>
          <a:xfrm>
            <a:off x="775064" y="1473452"/>
            <a:ext cx="4640820" cy="2622063"/>
          </a:xfrm>
          <a:prstGeom prst="rect">
            <a:avLst/>
          </a:prstGeom>
        </p:spPr>
      </p:pic>
      <p:sp>
        <p:nvSpPr>
          <p:cNvPr id="12" name="CuadroTexto 11">
            <a:extLst>
              <a:ext uri="{FF2B5EF4-FFF2-40B4-BE49-F238E27FC236}">
                <a16:creationId xmlns:a16="http://schemas.microsoft.com/office/drawing/2014/main" id="{A5172CD6-FED3-C0A2-7CBD-0EB84F7DCED6}"/>
              </a:ext>
            </a:extLst>
          </p:cNvPr>
          <p:cNvSpPr txBox="1"/>
          <p:nvPr/>
        </p:nvSpPr>
        <p:spPr>
          <a:xfrm>
            <a:off x="6767648" y="664475"/>
            <a:ext cx="3291840" cy="646331"/>
          </a:xfrm>
          <a:prstGeom prst="rect">
            <a:avLst/>
          </a:prstGeom>
          <a:noFill/>
        </p:spPr>
        <p:txBody>
          <a:bodyPr wrap="square">
            <a:spAutoFit/>
          </a:bodyPr>
          <a:lstStyle/>
          <a:p>
            <a:r>
              <a:rPr lang="es-MX" dirty="0"/>
              <a:t>La base de datos utilizada fue:</a:t>
            </a:r>
          </a:p>
          <a:p>
            <a:r>
              <a:rPr lang="es-MX" dirty="0" err="1"/>
              <a:t>students_db</a:t>
            </a:r>
            <a:endParaRPr lang="es-MX" dirty="0"/>
          </a:p>
        </p:txBody>
      </p:sp>
      <p:pic>
        <p:nvPicPr>
          <p:cNvPr id="13" name="Imagen 12">
            <a:extLst>
              <a:ext uri="{FF2B5EF4-FFF2-40B4-BE49-F238E27FC236}">
                <a16:creationId xmlns:a16="http://schemas.microsoft.com/office/drawing/2014/main" id="{A21C8C21-9DDF-6B9D-CBFB-8E468EEA7DE7}"/>
              </a:ext>
            </a:extLst>
          </p:cNvPr>
          <p:cNvPicPr>
            <a:picLocks noChangeAspect="1"/>
          </p:cNvPicPr>
          <p:nvPr/>
        </p:nvPicPr>
        <p:blipFill>
          <a:blip r:embed="rId3"/>
          <a:stretch>
            <a:fillRect/>
          </a:stretch>
        </p:blipFill>
        <p:spPr>
          <a:xfrm>
            <a:off x="6776118" y="1286557"/>
            <a:ext cx="4184738" cy="2364377"/>
          </a:xfrm>
          <a:prstGeom prst="rect">
            <a:avLst/>
          </a:prstGeom>
        </p:spPr>
      </p:pic>
      <p:pic>
        <p:nvPicPr>
          <p:cNvPr id="14" name="Imagen 13">
            <a:extLst>
              <a:ext uri="{FF2B5EF4-FFF2-40B4-BE49-F238E27FC236}">
                <a16:creationId xmlns:a16="http://schemas.microsoft.com/office/drawing/2014/main" id="{EC7A5AA8-F215-C8B7-B0B1-FFD51B16706A}"/>
              </a:ext>
            </a:extLst>
          </p:cNvPr>
          <p:cNvPicPr>
            <a:picLocks noChangeAspect="1"/>
          </p:cNvPicPr>
          <p:nvPr/>
        </p:nvPicPr>
        <p:blipFill>
          <a:blip r:embed="rId4"/>
          <a:stretch>
            <a:fillRect/>
          </a:stretch>
        </p:blipFill>
        <p:spPr>
          <a:xfrm>
            <a:off x="6573673" y="4285789"/>
            <a:ext cx="4387183" cy="2478758"/>
          </a:xfrm>
          <a:prstGeom prst="rect">
            <a:avLst/>
          </a:prstGeom>
        </p:spPr>
      </p:pic>
    </p:spTree>
    <p:extLst>
      <p:ext uri="{BB962C8B-B14F-4D97-AF65-F5344CB8AC3E}">
        <p14:creationId xmlns:p14="http://schemas.microsoft.com/office/powerpoint/2010/main" val="997896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C1C081-B119-4DAC-11BE-8E80051DF3D6}"/>
              </a:ext>
            </a:extLst>
          </p:cNvPr>
          <p:cNvSpPr>
            <a:spLocks noGrp="1"/>
          </p:cNvSpPr>
          <p:nvPr>
            <p:ph type="title"/>
          </p:nvPr>
        </p:nvSpPr>
        <p:spPr>
          <a:xfrm>
            <a:off x="838200" y="260624"/>
            <a:ext cx="5336177" cy="315912"/>
          </a:xfrm>
        </p:spPr>
        <p:txBody>
          <a:bodyPr>
            <a:normAutofit fontScale="90000"/>
          </a:bodyPr>
          <a:lstStyle/>
          <a:p>
            <a:r>
              <a:rPr lang="es-MX" dirty="0"/>
              <a:t>Uso de </a:t>
            </a:r>
            <a:r>
              <a:rPr lang="es-MX" dirty="0" err="1"/>
              <a:t>Postman</a:t>
            </a:r>
            <a:endParaRPr lang="es-MX" dirty="0"/>
          </a:p>
        </p:txBody>
      </p:sp>
      <p:sp>
        <p:nvSpPr>
          <p:cNvPr id="3" name="Marcador de contenido 2">
            <a:extLst>
              <a:ext uri="{FF2B5EF4-FFF2-40B4-BE49-F238E27FC236}">
                <a16:creationId xmlns:a16="http://schemas.microsoft.com/office/drawing/2014/main" id="{AC54EF78-1F32-DC16-9651-218B89D06ED7}"/>
              </a:ext>
            </a:extLst>
          </p:cNvPr>
          <p:cNvSpPr>
            <a:spLocks noGrp="1"/>
          </p:cNvSpPr>
          <p:nvPr>
            <p:ph idx="1"/>
          </p:nvPr>
        </p:nvSpPr>
        <p:spPr>
          <a:xfrm>
            <a:off x="228600" y="856570"/>
            <a:ext cx="9133115" cy="2031325"/>
          </a:xfrm>
        </p:spPr>
        <p:txBody>
          <a:bodyPr>
            <a:normAutofit/>
          </a:bodyPr>
          <a:lstStyle/>
          <a:p>
            <a:pPr marL="0" indent="0">
              <a:buNone/>
            </a:pPr>
            <a:r>
              <a:rPr lang="es-MX" sz="2000" dirty="0"/>
              <a:t>Se utilizó </a:t>
            </a:r>
            <a:r>
              <a:rPr lang="es-MX" sz="2000" dirty="0" err="1"/>
              <a:t>Postman</a:t>
            </a:r>
            <a:r>
              <a:rPr lang="es-MX" sz="2000" dirty="0"/>
              <a:t> para realizar pruebas de los </a:t>
            </a:r>
            <a:r>
              <a:rPr lang="es-MX" sz="2000" dirty="0" err="1"/>
              <a:t>endpoints</a:t>
            </a:r>
            <a:r>
              <a:rPr lang="es-MX" sz="2000" dirty="0"/>
              <a:t>.</a:t>
            </a:r>
          </a:p>
          <a:p>
            <a:r>
              <a:rPr lang="es-MX" sz="2000" dirty="0"/>
              <a:t>Pruebas realizadas:</a:t>
            </a:r>
          </a:p>
          <a:p>
            <a:pPr marL="0" indent="0">
              <a:buNone/>
            </a:pPr>
            <a:r>
              <a:rPr lang="es-MX" sz="2000" b="1" dirty="0"/>
              <a:t>GET</a:t>
            </a:r>
          </a:p>
          <a:p>
            <a:r>
              <a:rPr lang="es-MX" sz="2000" dirty="0"/>
              <a:t>GET /</a:t>
            </a:r>
            <a:r>
              <a:rPr lang="es-MX" sz="2000" dirty="0" err="1"/>
              <a:t>students</a:t>
            </a:r>
            <a:endParaRPr lang="es-MX" sz="2000" dirty="0"/>
          </a:p>
          <a:p>
            <a:r>
              <a:rPr lang="es-MX" sz="2000" dirty="0"/>
              <a:t>GET /</a:t>
            </a:r>
            <a:r>
              <a:rPr lang="es-MX" sz="2000" dirty="0" err="1"/>
              <a:t>courses</a:t>
            </a:r>
            <a:endParaRPr lang="es-MX" sz="2000" dirty="0"/>
          </a:p>
          <a:p>
            <a:pPr marL="0" indent="0">
              <a:buNone/>
            </a:pPr>
            <a:endParaRPr lang="es-MX" sz="2000" dirty="0"/>
          </a:p>
        </p:txBody>
      </p:sp>
      <p:pic>
        <p:nvPicPr>
          <p:cNvPr id="4" name="Imagen 3">
            <a:extLst>
              <a:ext uri="{FF2B5EF4-FFF2-40B4-BE49-F238E27FC236}">
                <a16:creationId xmlns:a16="http://schemas.microsoft.com/office/drawing/2014/main" id="{CF06A24A-8181-A8E9-BC2C-880293952AA5}"/>
              </a:ext>
            </a:extLst>
          </p:cNvPr>
          <p:cNvPicPr>
            <a:picLocks noChangeAspect="1"/>
          </p:cNvPicPr>
          <p:nvPr/>
        </p:nvPicPr>
        <p:blipFill>
          <a:blip r:embed="rId2"/>
          <a:stretch>
            <a:fillRect/>
          </a:stretch>
        </p:blipFill>
        <p:spPr>
          <a:xfrm>
            <a:off x="2212111" y="1630594"/>
            <a:ext cx="4412087" cy="2492829"/>
          </a:xfrm>
          <a:prstGeom prst="rect">
            <a:avLst/>
          </a:prstGeom>
        </p:spPr>
      </p:pic>
      <p:sp>
        <p:nvSpPr>
          <p:cNvPr id="6" name="CuadroTexto 5">
            <a:extLst>
              <a:ext uri="{FF2B5EF4-FFF2-40B4-BE49-F238E27FC236}">
                <a16:creationId xmlns:a16="http://schemas.microsoft.com/office/drawing/2014/main" id="{57F7F22A-18B8-17F9-7933-4A9B59A55C9D}"/>
              </a:ext>
            </a:extLst>
          </p:cNvPr>
          <p:cNvSpPr txBox="1"/>
          <p:nvPr/>
        </p:nvSpPr>
        <p:spPr>
          <a:xfrm>
            <a:off x="228600" y="4338812"/>
            <a:ext cx="6096000" cy="2308324"/>
          </a:xfrm>
          <a:prstGeom prst="rect">
            <a:avLst/>
          </a:prstGeom>
          <a:noFill/>
        </p:spPr>
        <p:txBody>
          <a:bodyPr wrap="square">
            <a:spAutoFit/>
          </a:bodyPr>
          <a:lstStyle/>
          <a:p>
            <a:pPr marL="0" indent="0">
              <a:buNone/>
            </a:pPr>
            <a:r>
              <a:rPr lang="es-MX" sz="1800" b="1" dirty="0"/>
              <a:t>POST</a:t>
            </a:r>
          </a:p>
          <a:p>
            <a:r>
              <a:rPr lang="es-MX" sz="1800" dirty="0"/>
              <a:t>POST /</a:t>
            </a:r>
            <a:r>
              <a:rPr lang="es-MX" sz="1800" dirty="0" err="1"/>
              <a:t>students</a:t>
            </a:r>
            <a:endParaRPr lang="es-MX" sz="1800" dirty="0"/>
          </a:p>
          <a:p>
            <a:endParaRPr lang="es-MX" sz="1800" dirty="0"/>
          </a:p>
          <a:p>
            <a:pPr marL="0" indent="0">
              <a:buNone/>
            </a:pPr>
            <a:r>
              <a:rPr lang="es-MX" sz="1800" dirty="0"/>
              <a:t>Estas pruebas permitieron verificar:</a:t>
            </a:r>
          </a:p>
          <a:p>
            <a:pPr>
              <a:buFont typeface="Arial" panose="020B0604020202020204" pitchFamily="34" charset="0"/>
              <a:buChar char="•"/>
            </a:pPr>
            <a:r>
              <a:rPr lang="es-MX" sz="1800" dirty="0"/>
              <a:t>Comunicación entre servicios</a:t>
            </a:r>
          </a:p>
          <a:p>
            <a:pPr>
              <a:buFont typeface="Arial" panose="020B0604020202020204" pitchFamily="34" charset="0"/>
              <a:buChar char="•"/>
            </a:pPr>
            <a:r>
              <a:rPr lang="es-MX" sz="1800" dirty="0"/>
              <a:t>Respuestas HTTP correctas</a:t>
            </a:r>
          </a:p>
          <a:p>
            <a:pPr>
              <a:buFont typeface="Arial" panose="020B0604020202020204" pitchFamily="34" charset="0"/>
              <a:buChar char="•"/>
            </a:pPr>
            <a:r>
              <a:rPr lang="es-MX" sz="1800" dirty="0"/>
              <a:t>Funcionamiento del Gateway</a:t>
            </a:r>
          </a:p>
          <a:p>
            <a:pPr>
              <a:buFont typeface="Arial" panose="020B0604020202020204" pitchFamily="34" charset="0"/>
              <a:buChar char="•"/>
            </a:pPr>
            <a:r>
              <a:rPr lang="es-MX" sz="1800" dirty="0"/>
              <a:t>Persistencia de datos</a:t>
            </a:r>
          </a:p>
        </p:txBody>
      </p:sp>
      <p:pic>
        <p:nvPicPr>
          <p:cNvPr id="7" name="Imagen 6">
            <a:extLst>
              <a:ext uri="{FF2B5EF4-FFF2-40B4-BE49-F238E27FC236}">
                <a16:creationId xmlns:a16="http://schemas.microsoft.com/office/drawing/2014/main" id="{3B6864DB-CF51-822C-ABEE-42D6995BADFD}"/>
              </a:ext>
            </a:extLst>
          </p:cNvPr>
          <p:cNvPicPr>
            <a:picLocks noChangeAspect="1"/>
          </p:cNvPicPr>
          <p:nvPr/>
        </p:nvPicPr>
        <p:blipFill>
          <a:blip r:embed="rId3"/>
          <a:stretch>
            <a:fillRect/>
          </a:stretch>
        </p:blipFill>
        <p:spPr>
          <a:xfrm>
            <a:off x="7022731" y="1608822"/>
            <a:ext cx="4489152" cy="2536371"/>
          </a:xfrm>
          <a:prstGeom prst="rect">
            <a:avLst/>
          </a:prstGeom>
        </p:spPr>
      </p:pic>
      <p:pic>
        <p:nvPicPr>
          <p:cNvPr id="8" name="Imagen 7">
            <a:extLst>
              <a:ext uri="{FF2B5EF4-FFF2-40B4-BE49-F238E27FC236}">
                <a16:creationId xmlns:a16="http://schemas.microsoft.com/office/drawing/2014/main" id="{BADF4211-E2DB-89B7-9D53-3C4CC408D494}"/>
              </a:ext>
            </a:extLst>
          </p:cNvPr>
          <p:cNvPicPr>
            <a:picLocks noChangeAspect="1"/>
          </p:cNvPicPr>
          <p:nvPr/>
        </p:nvPicPr>
        <p:blipFill>
          <a:blip r:embed="rId4"/>
          <a:stretch>
            <a:fillRect/>
          </a:stretch>
        </p:blipFill>
        <p:spPr>
          <a:xfrm>
            <a:off x="4379622" y="4321629"/>
            <a:ext cx="4489152" cy="2536371"/>
          </a:xfrm>
          <a:prstGeom prst="rect">
            <a:avLst/>
          </a:prstGeom>
        </p:spPr>
      </p:pic>
    </p:spTree>
    <p:extLst>
      <p:ext uri="{BB962C8B-B14F-4D97-AF65-F5344CB8AC3E}">
        <p14:creationId xmlns:p14="http://schemas.microsoft.com/office/powerpoint/2010/main" val="3081519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91FF54-DEFC-3E80-1A3B-DBBD3BD1B548}"/>
              </a:ext>
            </a:extLst>
          </p:cNvPr>
          <p:cNvSpPr>
            <a:spLocks noGrp="1"/>
          </p:cNvSpPr>
          <p:nvPr>
            <p:ph type="title"/>
          </p:nvPr>
        </p:nvSpPr>
        <p:spPr>
          <a:xfrm>
            <a:off x="729342" y="114753"/>
            <a:ext cx="3766457" cy="483961"/>
          </a:xfrm>
        </p:spPr>
        <p:txBody>
          <a:bodyPr>
            <a:normAutofit fontScale="90000"/>
          </a:bodyPr>
          <a:lstStyle/>
          <a:p>
            <a:r>
              <a:rPr lang="es-MX" dirty="0"/>
              <a:t>Uso de </a:t>
            </a:r>
            <a:r>
              <a:rPr lang="es-MX" dirty="0" err="1"/>
              <a:t>DBeaver</a:t>
            </a:r>
            <a:endParaRPr lang="es-MX" dirty="0"/>
          </a:p>
        </p:txBody>
      </p:sp>
      <p:sp>
        <p:nvSpPr>
          <p:cNvPr id="3" name="Marcador de contenido 2">
            <a:extLst>
              <a:ext uri="{FF2B5EF4-FFF2-40B4-BE49-F238E27FC236}">
                <a16:creationId xmlns:a16="http://schemas.microsoft.com/office/drawing/2014/main" id="{C824669E-91F1-BF3C-FCE1-2EE6438F5599}"/>
              </a:ext>
            </a:extLst>
          </p:cNvPr>
          <p:cNvSpPr>
            <a:spLocks noGrp="1"/>
          </p:cNvSpPr>
          <p:nvPr>
            <p:ph idx="1"/>
          </p:nvPr>
        </p:nvSpPr>
        <p:spPr>
          <a:xfrm>
            <a:off x="315684" y="598714"/>
            <a:ext cx="11876315" cy="2670375"/>
          </a:xfrm>
        </p:spPr>
        <p:txBody>
          <a:bodyPr/>
          <a:lstStyle/>
          <a:p>
            <a:pPr marL="0" indent="0">
              <a:buNone/>
            </a:pPr>
            <a:r>
              <a:rPr lang="es-MX" sz="2000" dirty="0" err="1"/>
              <a:t>DBeaver</a:t>
            </a:r>
            <a:r>
              <a:rPr lang="es-MX" sz="2000" dirty="0"/>
              <a:t> fue utilizado para administrar y visualizar la base de datos MySQL.</a:t>
            </a:r>
          </a:p>
          <a:p>
            <a:pPr marL="0" indent="0">
              <a:buNone/>
            </a:pPr>
            <a:r>
              <a:rPr lang="es-MX" sz="2000" dirty="0"/>
              <a:t>Con esta herramienta fue posible:</a:t>
            </a:r>
          </a:p>
          <a:p>
            <a:r>
              <a:rPr lang="es-MX" sz="2000" dirty="0"/>
              <a:t>Ver tablas creadas</a:t>
            </a:r>
          </a:p>
          <a:p>
            <a:r>
              <a:rPr lang="es-MX" sz="2000" dirty="0"/>
              <a:t>Consultar registros almacenados</a:t>
            </a:r>
          </a:p>
          <a:p>
            <a:r>
              <a:rPr lang="es-MX" sz="2000" dirty="0"/>
              <a:t>Confirmar persistencia de información</a:t>
            </a:r>
          </a:p>
          <a:p>
            <a:r>
              <a:rPr lang="es-MX" sz="2000" dirty="0"/>
              <a:t>Se verificó que los estudiantes registrados desde </a:t>
            </a:r>
            <a:r>
              <a:rPr lang="es-MX" sz="2000" dirty="0" err="1"/>
              <a:t>Postman</a:t>
            </a:r>
            <a:r>
              <a:rPr lang="es-MX" sz="2000" dirty="0"/>
              <a:t> eran almacenados correctamente dentro de MySQL.</a:t>
            </a:r>
          </a:p>
          <a:p>
            <a:pPr marL="0" indent="0">
              <a:buNone/>
            </a:pPr>
            <a:endParaRPr lang="es-MX" dirty="0"/>
          </a:p>
        </p:txBody>
      </p:sp>
      <p:pic>
        <p:nvPicPr>
          <p:cNvPr id="4" name="Imagen 3">
            <a:extLst>
              <a:ext uri="{FF2B5EF4-FFF2-40B4-BE49-F238E27FC236}">
                <a16:creationId xmlns:a16="http://schemas.microsoft.com/office/drawing/2014/main" id="{568B688C-EE9C-C489-27F4-A0740E3BC4E1}"/>
              </a:ext>
            </a:extLst>
          </p:cNvPr>
          <p:cNvPicPr>
            <a:picLocks noChangeAspect="1"/>
          </p:cNvPicPr>
          <p:nvPr/>
        </p:nvPicPr>
        <p:blipFill>
          <a:blip r:embed="rId2"/>
          <a:stretch>
            <a:fillRect/>
          </a:stretch>
        </p:blipFill>
        <p:spPr>
          <a:xfrm>
            <a:off x="6177884" y="3269089"/>
            <a:ext cx="5582894" cy="3154335"/>
          </a:xfrm>
          <a:prstGeom prst="rect">
            <a:avLst/>
          </a:prstGeom>
        </p:spPr>
      </p:pic>
      <p:pic>
        <p:nvPicPr>
          <p:cNvPr id="5" name="Imagen 4">
            <a:extLst>
              <a:ext uri="{FF2B5EF4-FFF2-40B4-BE49-F238E27FC236}">
                <a16:creationId xmlns:a16="http://schemas.microsoft.com/office/drawing/2014/main" id="{806031F0-E2DA-E2CF-BF68-BB09EBC2F8C8}"/>
              </a:ext>
            </a:extLst>
          </p:cNvPr>
          <p:cNvPicPr>
            <a:picLocks noChangeAspect="1"/>
          </p:cNvPicPr>
          <p:nvPr/>
        </p:nvPicPr>
        <p:blipFill>
          <a:blip r:embed="rId3"/>
          <a:stretch>
            <a:fillRect/>
          </a:stretch>
        </p:blipFill>
        <p:spPr>
          <a:xfrm>
            <a:off x="315684" y="3269089"/>
            <a:ext cx="5582894" cy="3154335"/>
          </a:xfrm>
          <a:prstGeom prst="rect">
            <a:avLst/>
          </a:prstGeom>
        </p:spPr>
      </p:pic>
    </p:spTree>
    <p:extLst>
      <p:ext uri="{BB962C8B-B14F-4D97-AF65-F5344CB8AC3E}">
        <p14:creationId xmlns:p14="http://schemas.microsoft.com/office/powerpoint/2010/main" val="691240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4AD952-98E1-B46D-CAED-7290C16C46A0}"/>
              </a:ext>
            </a:extLst>
          </p:cNvPr>
          <p:cNvSpPr>
            <a:spLocks noGrp="1"/>
          </p:cNvSpPr>
          <p:nvPr>
            <p:ph type="title"/>
          </p:nvPr>
        </p:nvSpPr>
        <p:spPr/>
        <p:txBody>
          <a:bodyPr/>
          <a:lstStyle/>
          <a:p>
            <a:r>
              <a:rPr lang="es-MX" dirty="0"/>
              <a:t>Resultados obtenidos</a:t>
            </a:r>
          </a:p>
        </p:txBody>
      </p:sp>
      <p:sp>
        <p:nvSpPr>
          <p:cNvPr id="3" name="Marcador de contenido 2">
            <a:extLst>
              <a:ext uri="{FF2B5EF4-FFF2-40B4-BE49-F238E27FC236}">
                <a16:creationId xmlns:a16="http://schemas.microsoft.com/office/drawing/2014/main" id="{B342FBB5-F0C5-85A5-1DA3-A534B0BCCF08}"/>
              </a:ext>
            </a:extLst>
          </p:cNvPr>
          <p:cNvSpPr>
            <a:spLocks noGrp="1"/>
          </p:cNvSpPr>
          <p:nvPr>
            <p:ph idx="1"/>
          </p:nvPr>
        </p:nvSpPr>
        <p:spPr/>
        <p:txBody>
          <a:bodyPr>
            <a:normAutofit fontScale="85000" lnSpcReduction="20000"/>
          </a:bodyPr>
          <a:lstStyle/>
          <a:p>
            <a:r>
              <a:rPr lang="es-MX" dirty="0"/>
              <a:t>Al finalizar la práctica se obtuvo un ecosistema completo de microservicios funcional.</a:t>
            </a:r>
          </a:p>
          <a:p>
            <a:r>
              <a:rPr lang="es-MX" dirty="0"/>
              <a:t>Resultados principales:</a:t>
            </a:r>
          </a:p>
          <a:p>
            <a:pPr>
              <a:buFont typeface="Arial" panose="020B0604020202020204" pitchFamily="34" charset="0"/>
              <a:buChar char="•"/>
            </a:pPr>
            <a:r>
              <a:rPr lang="es-MX" dirty="0"/>
              <a:t>Registro correcto de servicios en Eureka</a:t>
            </a:r>
          </a:p>
          <a:p>
            <a:pPr>
              <a:buFont typeface="Arial" panose="020B0604020202020204" pitchFamily="34" charset="0"/>
              <a:buChar char="•"/>
            </a:pPr>
            <a:r>
              <a:rPr lang="es-MX" dirty="0"/>
              <a:t>Configuración centralizada funcionando</a:t>
            </a:r>
          </a:p>
          <a:p>
            <a:pPr>
              <a:buFont typeface="Arial" panose="020B0604020202020204" pitchFamily="34" charset="0"/>
              <a:buChar char="•"/>
            </a:pPr>
            <a:r>
              <a:rPr lang="es-MX" dirty="0"/>
              <a:t>Comunicación entre microservicios exitosa</a:t>
            </a:r>
          </a:p>
          <a:p>
            <a:pPr>
              <a:buFont typeface="Arial" panose="020B0604020202020204" pitchFamily="34" charset="0"/>
              <a:buChar char="•"/>
            </a:pPr>
            <a:r>
              <a:rPr lang="es-MX" dirty="0"/>
              <a:t>API Gateway operativo</a:t>
            </a:r>
          </a:p>
          <a:p>
            <a:pPr>
              <a:buFont typeface="Arial" panose="020B0604020202020204" pitchFamily="34" charset="0"/>
              <a:buChar char="•"/>
            </a:pPr>
            <a:r>
              <a:rPr lang="es-MX" dirty="0"/>
              <a:t>Persistencia de datos en MySQL</a:t>
            </a:r>
          </a:p>
          <a:p>
            <a:pPr>
              <a:buFont typeface="Arial" panose="020B0604020202020204" pitchFamily="34" charset="0"/>
              <a:buChar char="•"/>
            </a:pPr>
            <a:r>
              <a:rPr lang="es-MX" dirty="0"/>
              <a:t>Pruebas exitosas mediante </a:t>
            </a:r>
            <a:r>
              <a:rPr lang="es-MX" dirty="0" err="1"/>
              <a:t>Postman</a:t>
            </a:r>
            <a:endParaRPr lang="es-MX" dirty="0"/>
          </a:p>
          <a:p>
            <a:pPr>
              <a:buFont typeface="Arial" panose="020B0604020202020204" pitchFamily="34" charset="0"/>
              <a:buChar char="•"/>
            </a:pPr>
            <a:r>
              <a:rPr lang="es-MX" dirty="0"/>
              <a:t>Visualización correcta en </a:t>
            </a:r>
            <a:r>
              <a:rPr lang="es-MX" dirty="0" err="1"/>
              <a:t>DBeaver</a:t>
            </a:r>
            <a:endParaRPr lang="es-MX" dirty="0"/>
          </a:p>
          <a:p>
            <a:r>
              <a:rPr lang="es-MX" dirty="0"/>
              <a:t>Todos los componentes funcionaron de manera integrada dentro del entorno Ubuntu Linux.</a:t>
            </a:r>
          </a:p>
          <a:p>
            <a:pPr marL="0" indent="0">
              <a:buNone/>
            </a:pPr>
            <a:endParaRPr lang="es-MX" dirty="0"/>
          </a:p>
        </p:txBody>
      </p:sp>
    </p:spTree>
    <p:extLst>
      <p:ext uri="{BB962C8B-B14F-4D97-AF65-F5344CB8AC3E}">
        <p14:creationId xmlns:p14="http://schemas.microsoft.com/office/powerpoint/2010/main" val="3979792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140E69-3445-06B7-D3B4-AEE5A42BA8CE}"/>
              </a:ext>
            </a:extLst>
          </p:cNvPr>
          <p:cNvSpPr>
            <a:spLocks noGrp="1"/>
          </p:cNvSpPr>
          <p:nvPr>
            <p:ph type="title"/>
          </p:nvPr>
        </p:nvSpPr>
        <p:spPr>
          <a:xfrm>
            <a:off x="357051" y="223611"/>
            <a:ext cx="9144000" cy="538389"/>
          </a:xfrm>
        </p:spPr>
        <p:txBody>
          <a:bodyPr>
            <a:normAutofit fontScale="90000"/>
          </a:bodyPr>
          <a:lstStyle/>
          <a:p>
            <a:r>
              <a:rPr lang="es-MX" dirty="0"/>
              <a:t>Problemas Encontrados y Soluciones</a:t>
            </a:r>
          </a:p>
        </p:txBody>
      </p:sp>
      <p:sp>
        <p:nvSpPr>
          <p:cNvPr id="4" name="Rectangle 1">
            <a:extLst>
              <a:ext uri="{FF2B5EF4-FFF2-40B4-BE49-F238E27FC236}">
                <a16:creationId xmlns:a16="http://schemas.microsoft.com/office/drawing/2014/main" id="{513270C6-FF06-74A6-99DC-1A67E3B4681D}"/>
              </a:ext>
            </a:extLst>
          </p:cNvPr>
          <p:cNvSpPr>
            <a:spLocks noChangeArrowheads="1"/>
          </p:cNvSpPr>
          <p:nvPr/>
        </p:nvSpPr>
        <p:spPr bwMode="auto">
          <a:xfrm>
            <a:off x="111033" y="670679"/>
            <a:ext cx="622445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Durante el desarrollo se presentaron algunos problemas técnicos:</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Problema 1</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El microservicio </a:t>
            </a:r>
            <a:r>
              <a:rPr lang="es-MX" altLang="es-MX" dirty="0" err="1"/>
              <a:t>Courses</a:t>
            </a:r>
            <a:r>
              <a:rPr lang="es-MX" altLang="es-MX" dirty="0"/>
              <a:t> </a:t>
            </a:r>
            <a:r>
              <a:rPr lang="es-MX" altLang="es-MX" dirty="0" err="1"/>
              <a:t>Service</a:t>
            </a:r>
            <a:r>
              <a:rPr lang="es-MX" altLang="es-MX" dirty="0"/>
              <a:t> aparecía como UNKNOWN en Eureka.</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Solución</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Se corrigieron las dependencias de Spring Cloud dentro del archivo pom.xml, agregando correctamente: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err="1"/>
              <a:t>spring</a:t>
            </a:r>
            <a:r>
              <a:rPr lang="es-MX" altLang="es-MX" dirty="0"/>
              <a:t>-</a:t>
            </a:r>
            <a:r>
              <a:rPr lang="es-MX" altLang="es-MX" dirty="0" err="1"/>
              <a:t>cloud</a:t>
            </a:r>
            <a:r>
              <a:rPr lang="es-MX" altLang="es-MX" dirty="0"/>
              <a:t>-starter-</a:t>
            </a:r>
            <a:r>
              <a:rPr lang="es-MX" altLang="es-MX" dirty="0" err="1"/>
              <a:t>config</a:t>
            </a:r>
            <a:endParaRPr lang="es-MX" altLang="es-MX"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err="1"/>
              <a:t>spring</a:t>
            </a:r>
            <a:r>
              <a:rPr lang="es-MX" altLang="es-MX" dirty="0"/>
              <a:t>-</a:t>
            </a:r>
            <a:r>
              <a:rPr lang="es-MX" altLang="es-MX" dirty="0" err="1"/>
              <a:t>cloud</a:t>
            </a:r>
            <a:r>
              <a:rPr lang="es-MX" altLang="es-MX" dirty="0"/>
              <a:t>-starter-</a:t>
            </a:r>
            <a:r>
              <a:rPr lang="es-MX" altLang="es-MX" dirty="0" err="1"/>
              <a:t>bootstrap</a:t>
            </a: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Esto permitió que el servicio cargara correctamente su configuración desde </a:t>
            </a:r>
            <a:r>
              <a:rPr lang="es-MX" altLang="es-MX" dirty="0" err="1"/>
              <a:t>Config</a:t>
            </a:r>
            <a:r>
              <a:rPr lang="es-MX" altLang="es-MX" dirty="0"/>
              <a:t> Server.</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p:txBody>
      </p:sp>
      <p:sp>
        <p:nvSpPr>
          <p:cNvPr id="6" name="Rectangle 3">
            <a:extLst>
              <a:ext uri="{FF2B5EF4-FFF2-40B4-BE49-F238E27FC236}">
                <a16:creationId xmlns:a16="http://schemas.microsoft.com/office/drawing/2014/main" id="{067AE207-AB83-60AD-6EE8-466B1C1995E2}"/>
              </a:ext>
            </a:extLst>
          </p:cNvPr>
          <p:cNvSpPr>
            <a:spLocks noChangeArrowheads="1"/>
          </p:cNvSpPr>
          <p:nvPr/>
        </p:nvSpPr>
        <p:spPr bwMode="auto">
          <a:xfrm>
            <a:off x="176207" y="4184551"/>
            <a:ext cx="645317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Problema 2</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t>Students</a:t>
            </a:r>
            <a:r>
              <a:rPr lang="es-MX" altLang="es-MX" dirty="0"/>
              <a:t> </a:t>
            </a:r>
            <a:r>
              <a:rPr lang="es-MX" altLang="es-MX" dirty="0" err="1"/>
              <a:t>Service</a:t>
            </a:r>
            <a:r>
              <a:rPr lang="es-MX" altLang="es-MX" dirty="0"/>
              <a:t> no lograba comunicarse con </a:t>
            </a:r>
            <a:r>
              <a:rPr lang="es-MX" altLang="es-MX" dirty="0" err="1"/>
              <a:t>Courses</a:t>
            </a:r>
            <a:r>
              <a:rPr lang="es-MX" altLang="es-MX" dirty="0"/>
              <a:t> </a:t>
            </a:r>
            <a:r>
              <a:rPr lang="es-MX" altLang="es-MX" dirty="0" err="1"/>
              <a:t>Service</a:t>
            </a:r>
            <a:r>
              <a:rPr lang="es-MX" altLang="es-MX" dirty="0"/>
              <a:t>.</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Solución</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Se modificó la URL utilizada en </a:t>
            </a:r>
            <a:r>
              <a:rPr lang="es-MX" altLang="es-MX" dirty="0" err="1"/>
              <a:t>RestTemplate</a:t>
            </a:r>
            <a:r>
              <a:rPr lang="es-MX" altLang="es-MX" dirty="0"/>
              <a:t>, reemplazando:</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localhost</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por:</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COURSES-SERVICE</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permitiendo que Eureka resolviera dinámicamente el servicio.</a:t>
            </a:r>
          </a:p>
        </p:txBody>
      </p:sp>
      <p:pic>
        <p:nvPicPr>
          <p:cNvPr id="7" name="Imagen 6">
            <a:extLst>
              <a:ext uri="{FF2B5EF4-FFF2-40B4-BE49-F238E27FC236}">
                <a16:creationId xmlns:a16="http://schemas.microsoft.com/office/drawing/2014/main" id="{14513011-CB1F-8CCE-E44D-2C185125EE9D}"/>
              </a:ext>
            </a:extLst>
          </p:cNvPr>
          <p:cNvPicPr>
            <a:picLocks noChangeAspect="1"/>
          </p:cNvPicPr>
          <p:nvPr/>
        </p:nvPicPr>
        <p:blipFill>
          <a:blip r:embed="rId2"/>
          <a:stretch>
            <a:fillRect/>
          </a:stretch>
        </p:blipFill>
        <p:spPr>
          <a:xfrm>
            <a:off x="6923282" y="732080"/>
            <a:ext cx="3768848" cy="2119977"/>
          </a:xfrm>
          <a:prstGeom prst="rect">
            <a:avLst/>
          </a:prstGeom>
        </p:spPr>
      </p:pic>
      <p:pic>
        <p:nvPicPr>
          <p:cNvPr id="3" name="Imagen 2">
            <a:extLst>
              <a:ext uri="{FF2B5EF4-FFF2-40B4-BE49-F238E27FC236}">
                <a16:creationId xmlns:a16="http://schemas.microsoft.com/office/drawing/2014/main" id="{D51BA8A7-D57C-643B-E763-3EEF324288D2}"/>
              </a:ext>
            </a:extLst>
          </p:cNvPr>
          <p:cNvPicPr>
            <a:picLocks noChangeAspect="1"/>
          </p:cNvPicPr>
          <p:nvPr/>
        </p:nvPicPr>
        <p:blipFill>
          <a:blip r:embed="rId3"/>
          <a:stretch>
            <a:fillRect/>
          </a:stretch>
        </p:blipFill>
        <p:spPr>
          <a:xfrm>
            <a:off x="6923282" y="2852057"/>
            <a:ext cx="3984308" cy="1724551"/>
          </a:xfrm>
          <a:prstGeom prst="rect">
            <a:avLst/>
          </a:prstGeom>
        </p:spPr>
      </p:pic>
      <p:pic>
        <p:nvPicPr>
          <p:cNvPr id="5" name="Imagen 4">
            <a:extLst>
              <a:ext uri="{FF2B5EF4-FFF2-40B4-BE49-F238E27FC236}">
                <a16:creationId xmlns:a16="http://schemas.microsoft.com/office/drawing/2014/main" id="{C86F9AEA-C564-0CF9-C74C-102DEAB1A9F3}"/>
              </a:ext>
            </a:extLst>
          </p:cNvPr>
          <p:cNvPicPr>
            <a:picLocks noChangeAspect="1"/>
          </p:cNvPicPr>
          <p:nvPr/>
        </p:nvPicPr>
        <p:blipFill>
          <a:blip r:embed="rId4"/>
          <a:srcRect l="33947" t="42024" r="38790" b="33266"/>
          <a:stretch/>
        </p:blipFill>
        <p:spPr>
          <a:xfrm>
            <a:off x="7021286" y="4798243"/>
            <a:ext cx="3309257" cy="1694632"/>
          </a:xfrm>
          <a:prstGeom prst="rect">
            <a:avLst/>
          </a:prstGeom>
        </p:spPr>
      </p:pic>
    </p:spTree>
    <p:extLst>
      <p:ext uri="{BB962C8B-B14F-4D97-AF65-F5344CB8AC3E}">
        <p14:creationId xmlns:p14="http://schemas.microsoft.com/office/powerpoint/2010/main" val="3562079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D20958-1819-115F-EDED-798582FDBB56}"/>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2A0C1242-D0B2-0540-77E8-69009D7B961E}"/>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La implementación de microservicios permitió comprender el funcionamiento de una arquitectura distribuida moderna.</a:t>
            </a:r>
          </a:p>
          <a:p>
            <a:pPr marL="0" indent="0" algn="just">
              <a:buNone/>
            </a:pPr>
            <a:r>
              <a:rPr lang="es-MX" sz="2000" dirty="0">
                <a:latin typeface="Arial" panose="020B0604020202020204" pitchFamily="34" charset="0"/>
                <a:cs typeface="Arial" panose="020B0604020202020204" pitchFamily="34" charset="0"/>
              </a:rPr>
              <a:t>El uso de herramientas como Eureka, </a:t>
            </a:r>
            <a:r>
              <a:rPr lang="es-MX" sz="2000" dirty="0" err="1">
                <a:latin typeface="Arial" panose="020B0604020202020204" pitchFamily="34" charset="0"/>
                <a:cs typeface="Arial" panose="020B0604020202020204" pitchFamily="34" charset="0"/>
              </a:rPr>
              <a:t>Config</a:t>
            </a:r>
            <a:r>
              <a:rPr lang="es-MX" sz="2000" dirty="0">
                <a:latin typeface="Arial" panose="020B0604020202020204" pitchFamily="34" charset="0"/>
                <a:cs typeface="Arial" panose="020B0604020202020204" pitchFamily="34" charset="0"/>
              </a:rPr>
              <a:t> Server y API Gateway facilitó la organización y comunicación entre servicios.</a:t>
            </a:r>
          </a:p>
          <a:p>
            <a:pPr marL="0" indent="0" algn="just">
              <a:buNone/>
            </a:pPr>
            <a:r>
              <a:rPr lang="es-MX" sz="2000" dirty="0">
                <a:latin typeface="Arial" panose="020B0604020202020204" pitchFamily="34" charset="0"/>
                <a:cs typeface="Arial" panose="020B0604020202020204" pitchFamily="34" charset="0"/>
              </a:rPr>
              <a:t>Además, Docker permitió trabajar con bases de datos de manera aislada y eficiente, mientras que </a:t>
            </a:r>
            <a:r>
              <a:rPr lang="es-MX" sz="2000" dirty="0" err="1">
                <a:latin typeface="Arial" panose="020B0604020202020204" pitchFamily="34" charset="0"/>
                <a:cs typeface="Arial" panose="020B0604020202020204" pitchFamily="34" charset="0"/>
              </a:rPr>
              <a:t>Postman</a:t>
            </a:r>
            <a:r>
              <a:rPr lang="es-MX" sz="2000" dirty="0">
                <a:latin typeface="Arial" panose="020B0604020202020204" pitchFamily="34" charset="0"/>
                <a:cs typeface="Arial" panose="020B0604020202020204" pitchFamily="34" charset="0"/>
              </a:rPr>
              <a:t> y </a:t>
            </a:r>
            <a:r>
              <a:rPr lang="es-MX" sz="2000" dirty="0" err="1">
                <a:latin typeface="Arial" panose="020B0604020202020204" pitchFamily="34" charset="0"/>
                <a:cs typeface="Arial" panose="020B0604020202020204" pitchFamily="34" charset="0"/>
              </a:rPr>
              <a:t>DBeaver</a:t>
            </a:r>
            <a:r>
              <a:rPr lang="es-MX" sz="2000" dirty="0">
                <a:latin typeface="Arial" panose="020B0604020202020204" pitchFamily="34" charset="0"/>
                <a:cs typeface="Arial" panose="020B0604020202020204" pitchFamily="34" charset="0"/>
              </a:rPr>
              <a:t> facilitaron las pruebas y validación de información.</a:t>
            </a:r>
          </a:p>
          <a:p>
            <a:pPr marL="0" indent="0" algn="just">
              <a:buNone/>
            </a:pPr>
            <a:r>
              <a:rPr lang="es-MX" sz="2000" dirty="0">
                <a:latin typeface="Arial" panose="020B0604020202020204" pitchFamily="34" charset="0"/>
                <a:cs typeface="Arial" panose="020B0604020202020204" pitchFamily="34" charset="0"/>
              </a:rPr>
              <a:t>Esta práctica fortaleció conocimientos relacionados con desarrollo </a:t>
            </a:r>
            <a:r>
              <a:rPr lang="es-MX" sz="2000" dirty="0" err="1">
                <a:latin typeface="Arial" panose="020B0604020202020204" pitchFamily="34" charset="0"/>
                <a:cs typeface="Arial" panose="020B0604020202020204" pitchFamily="34" charset="0"/>
              </a:rPr>
              <a:t>backend</a:t>
            </a:r>
            <a:r>
              <a:rPr lang="es-MX" sz="2000" dirty="0">
                <a:latin typeface="Arial" panose="020B0604020202020204" pitchFamily="34" charset="0"/>
                <a:cs typeface="Arial" panose="020B0604020202020204" pitchFamily="34" charset="0"/>
              </a:rPr>
              <a:t>, </a:t>
            </a:r>
            <a:r>
              <a:rPr lang="es-MX" sz="2000" dirty="0" err="1">
                <a:latin typeface="Arial" panose="020B0604020202020204" pitchFamily="34" charset="0"/>
                <a:cs typeface="Arial" panose="020B0604020202020204" pitchFamily="34" charset="0"/>
              </a:rPr>
              <a:t>APIs</a:t>
            </a:r>
            <a:r>
              <a:rPr lang="es-MX" sz="2000" dirty="0">
                <a:latin typeface="Arial" panose="020B0604020202020204" pitchFamily="34" charset="0"/>
                <a:cs typeface="Arial" panose="020B0604020202020204" pitchFamily="34" charset="0"/>
              </a:rPr>
              <a:t> REST, configuración centralizada, bases de datos y arquitecturas distribuidas.</a:t>
            </a:r>
          </a:p>
          <a:p>
            <a:pPr marL="0" indent="0" algn="just">
              <a:buNone/>
            </a:pPr>
            <a:r>
              <a:rPr lang="es-MX" sz="2000" dirty="0">
                <a:latin typeface="Arial" panose="020B0604020202020204" pitchFamily="34" charset="0"/>
                <a:cs typeface="Arial" panose="020B0604020202020204" pitchFamily="34" charset="0"/>
              </a:rPr>
              <a:t>Finalmente, se logró construir un ecosistema funcional de microservicios completamente operativo utilizando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 y Spring Cloud.</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23112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1444</Words>
  <Application>Microsoft Office PowerPoint</Application>
  <PresentationFormat>Panorámica</PresentationFormat>
  <Paragraphs>200</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Aptos</vt:lpstr>
      <vt:lpstr>Aptos Display</vt:lpstr>
      <vt:lpstr>Arial</vt:lpstr>
      <vt:lpstr>Century Gothic</vt:lpstr>
      <vt:lpstr>Tema de Office</vt:lpstr>
      <vt:lpstr>Presentación de PowerPoint</vt:lpstr>
      <vt:lpstr>Introducción </vt:lpstr>
      <vt:lpstr>Justificación </vt:lpstr>
      <vt:lpstr>Objetivo general </vt:lpstr>
      <vt:lpstr>Herramientas utilizadas </vt:lpstr>
      <vt:lpstr>Configuración de proyecto padre </vt:lpstr>
      <vt:lpstr>Implementación de Eureka Server</vt:lpstr>
      <vt:lpstr>Implementación de Config Server</vt:lpstr>
      <vt:lpstr>Uso de Repositorio GitHub para Configuración</vt:lpstr>
      <vt:lpstr>Creación del Microservicio Students Service</vt:lpstr>
      <vt:lpstr>Presentación de PowerPoint</vt:lpstr>
      <vt:lpstr>Creación del Microservicio Courses Service</vt:lpstr>
      <vt:lpstr>Comunicación entre Microservicios</vt:lpstr>
      <vt:lpstr>Implementación de API Gateway</vt:lpstr>
      <vt:lpstr>Implementación de Base de Datos con Docker</vt:lpstr>
      <vt:lpstr>Uso de Postman</vt:lpstr>
      <vt:lpstr>Uso de DBeaver</vt:lpstr>
      <vt:lpstr>Resultados obtenidos</vt:lpstr>
      <vt:lpstr>Problemas Encontrados y Soluciones</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5</cp:revision>
  <dcterms:created xsi:type="dcterms:W3CDTF">2026-05-18T20:33:24Z</dcterms:created>
  <dcterms:modified xsi:type="dcterms:W3CDTF">2026-05-30T19:36:59Z</dcterms:modified>
</cp:coreProperties>
</file>