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60C81-036B-B605-ACE7-2B6336F5D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A8A599-7DB2-EACF-1C4F-365902230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C37578-AF16-E64E-1C13-E6049A9F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6C4932-6E1E-C8CE-8C1B-492A2CFAA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D21B5D-3546-6AC2-7E9E-F0DE1D16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1033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7B782-B735-C5E4-63D8-50C1134F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9CAEB3-381D-3C30-6EC6-56155B6E2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B4BE1C-F79A-E9DE-ABE8-16BBEB4D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3BA2F3-926D-7CAF-C2BD-5E9DF542B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ABCD39-501E-A624-E979-A8159E70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86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0E150-2B48-44CB-FE81-6FD626F7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6F3DEF-0B32-68C2-4E26-75487CDEE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D7A0AC-0A88-9C54-0DBF-C87111DF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8E0656-8360-FC35-B171-384813287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5C9713-8E80-227D-AB8F-7D7AA45E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6919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12A37-BFBE-2E6C-0C6C-D13358262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CFE8D7-E535-F37C-6B5F-1F3109068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24D61D-C0CF-2775-04C3-09AC542F6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A00263-AF3D-D96F-4B92-1F8BE075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F0D23A-7F28-F5A1-E889-5982466FE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6B4A80-3CEC-35C9-5BB0-12123580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418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A39A6-F6C0-1403-0A9A-C922372EB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9381D6-ABDE-52D6-6114-BF3D08C66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4C1D82-D1A9-617D-9396-77DED3B1B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A325F9-C93F-E240-2E9D-B1764D7DD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155D91-A63E-2E82-D487-63B550B2D5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8CD95EA-484A-C7C9-25BC-A91437B4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DBB86E4-829D-D8FD-FDD5-78803121D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29EADB-DDC3-5D8F-70A5-85398DCED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3728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0AF4E-7F6B-648D-4D3F-3C484583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3BCB5C1-62A3-2A42-EEB7-33A539277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5BFB79-D65D-5D11-FC8D-54EDC962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E780B6-6C50-970F-6443-7F312C25C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694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BAD6E3-36DA-3209-9B1F-55442CB3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8E6CEA0-E151-EC43-A978-CDC0E496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F5C3EC-710C-1E61-9E85-42BFD8A4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5755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6374B-E1F1-74F7-EBC3-2921DA8E7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865E7D-B704-C10F-7E23-75C019553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D304A9-6AD1-6E27-8993-75E7C68C4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EEAA06-B14E-3671-7B4C-84E755BA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83B8E5-6960-828F-E1A8-F34DEBF2C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63232-FBD3-626F-CD29-1E87359B7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280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1D872-61DE-64EF-B257-DE53F208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D61F8D8-0FA5-CEFB-7E38-E7A79E6E3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BEF895-3373-CCE7-3F48-4D9EB0A3B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51AA98-8F12-C479-97C7-EE3E8424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9F2416-836E-B68D-671C-0A55A374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C5DC4B-19B0-8ED8-6575-D28C792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785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6A4D2-8F95-D156-00D8-5D81F6EA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A9F122-6778-807B-362C-82E1025E0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66E781-9950-9358-AEF9-3785C56A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500A6C-E5EB-7667-EA11-8D8EDEEBE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49AF3E-1FEF-4C56-1F3D-F7D52DE5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760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4471D4-C288-90AA-4461-CC09C7EC1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404C9-AEE6-B0E2-092F-FB42DF473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B0ABAD-F833-F86F-F88D-A2BD6F8F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14E354-2514-131B-7371-BD24F95F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CCE796-E9B7-9F78-E24D-60A072C1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5612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B21A764-46BB-5E4E-84DB-C0EF58F8A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9CB47A-5C7E-5C31-72B6-20F748EA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15371C-5313-FED0-F67E-74E8D7CF4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910BD2-0081-2F85-3F02-FED461A40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73ACFE-5D2F-C8BE-F234-8AE4AAB37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2673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localhost:8080/course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:8080/student-schedule/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localhost:8081/student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localhost:8080/enrollment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cours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53ADD9B7-B2ED-8E5E-732C-C51E829282EB}"/>
              </a:ext>
            </a:extLst>
          </p:cNvPr>
          <p:cNvSpPr txBox="1"/>
          <p:nvPr/>
        </p:nvSpPr>
        <p:spPr>
          <a:xfrm>
            <a:off x="2210990" y="2052748"/>
            <a:ext cx="7644625" cy="4678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Administración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base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datos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2.3 Banco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 07 de Mayo del 2026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FBD2C762-7F79-EBDC-0425-BF2A85A9C911}"/>
              </a:ext>
            </a:extLst>
          </p:cNvPr>
          <p:cNvSpPr txBox="1"/>
          <p:nvPr/>
        </p:nvSpPr>
        <p:spPr>
          <a:xfrm>
            <a:off x="1855066" y="1169319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79052A7C-B8B9-00C4-886D-2E83B8EA0B43}"/>
              </a:ext>
            </a:extLst>
          </p:cNvPr>
          <p:cNvGrpSpPr/>
          <p:nvPr/>
        </p:nvGrpSpPr>
        <p:grpSpPr>
          <a:xfrm>
            <a:off x="736498" y="127047"/>
            <a:ext cx="1833537" cy="1054536"/>
            <a:chOff x="0" y="0"/>
            <a:chExt cx="3073400" cy="1308100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C1588CC4-8F70-A5D8-75B6-0EA42DE60A50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7" name="Group 4">
            <a:extLst>
              <a:ext uri="{FF2B5EF4-FFF2-40B4-BE49-F238E27FC236}">
                <a16:creationId xmlns:a16="http://schemas.microsoft.com/office/drawing/2014/main" id="{08687818-9786-9EEE-CC26-F6CCF278D0FB}"/>
              </a:ext>
            </a:extLst>
          </p:cNvPr>
          <p:cNvGrpSpPr/>
          <p:nvPr/>
        </p:nvGrpSpPr>
        <p:grpSpPr>
          <a:xfrm>
            <a:off x="9938347" y="209003"/>
            <a:ext cx="1517156" cy="890624"/>
            <a:chOff x="0" y="0"/>
            <a:chExt cx="1981200" cy="162560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D9A74DA-A71B-DEE2-638B-BB1101C31731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6">
            <a:extLst>
              <a:ext uri="{FF2B5EF4-FFF2-40B4-BE49-F238E27FC236}">
                <a16:creationId xmlns:a16="http://schemas.microsoft.com/office/drawing/2014/main" id="{95D61CFC-72D2-2846-A4FE-1DFD2968E2AF}"/>
              </a:ext>
            </a:extLst>
          </p:cNvPr>
          <p:cNvGrpSpPr/>
          <p:nvPr/>
        </p:nvGrpSpPr>
        <p:grpSpPr>
          <a:xfrm>
            <a:off x="4689677" y="296361"/>
            <a:ext cx="2687249" cy="587136"/>
            <a:chOff x="0" y="0"/>
            <a:chExt cx="4343400" cy="901700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C7F3500-D317-16D5-C328-72C2B457ED16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1500491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A0B1D-AA9D-96E0-2933-70BF006F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7D2DC5-3585-1A81-A74C-3C4F1FBBE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En la actualidad, la arquitectura de microservicios se ha convertido en una de las tecnologías más utilizadas para el desarrollo de aplicaciones modernas debido a su flexibilidad, escalabilidad y facilidad de mantenimiento. A diferencia de las aplicaciones monolíticas, los microservicios permiten dividir un sistema en pequeños servicios independientes que pueden comunicarse entre sí.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En esta práctica se desarrolló un sistema escolar distribuido utilizando Spring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Eureka Server,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Server y API Gateway. El proyecto permite registrar estudiantes, consultar cursos, visualizar horarios e inscribir alumnos en materias mediante diferentes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REST.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Además, se utilizaron herramientas como Bruno para probar las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y Eureka para monitorear los servicios registrados dentro del sistema.</a:t>
            </a:r>
          </a:p>
          <a:p>
            <a:pPr marL="0" indent="0" algn="just">
              <a:buNone/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83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EE96C-77F3-D521-B133-56A708AF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B5A9C8-FD89-2B51-52F7-C8A98C08C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La implementación de microservicios permite comprender cómo funcionan las aplicaciones distribuidas modernas utilizadas en empresas y plataformas digitales. Este proyecto ayuda a reforzar conocimientos relacionados con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REST, comunicación entre servicios, registro de microservicios, configuración centralizada y uso de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gateways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Además, el desarrollo de este sistema escolar permite aplicar conceptos reales de programación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mediante Spring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y practicar la administración de servicios independientes conectados entre sí.</a:t>
            </a:r>
          </a:p>
          <a:p>
            <a:pPr marL="0" indent="0" algn="just">
              <a:buNone/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08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9EFD99F-9C4D-9FFE-FCF2-EC2B0DAD3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51" y="650066"/>
            <a:ext cx="876748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OBJETIVO GENERAL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Desarrollar un sistema distribuido basado en microservicios utilizando Spring </a:t>
            </a:r>
            <a:r>
              <a:rPr lang="es-MX" alt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Eureka Server y API Gateway para administrar estudiantes, cursos e inscripciones escolares.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DA53794-2305-292F-A7F3-D662024BE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51" y="2541169"/>
            <a:ext cx="804098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OBJETIVOS ESPECÍFICOS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Implementar microservicios independientes utilizando Spring </a:t>
            </a:r>
            <a:r>
              <a:rPr lang="es-MX" alt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Configurar Eureka Server para el registro automático de servicios.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Utilizar API Gateway para centralizar las peticiones.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Crear </a:t>
            </a:r>
            <a:r>
              <a:rPr lang="es-MX" alt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REST utilizando métodos GET y POST.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Realizar pruebas de funcionamiento mediante Bruno.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517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9CF8AE-7E18-A213-8B91-B110D092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7239000" cy="723446"/>
          </a:xfrm>
        </p:spPr>
        <p:txBody>
          <a:bodyPr/>
          <a:lstStyle/>
          <a:p>
            <a:r>
              <a:rPr lang="es-MX" dirty="0"/>
              <a:t>Configuración de Eureka Server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D3E7FE-933B-ECFE-DC14-717A3AD4101B}"/>
              </a:ext>
            </a:extLst>
          </p:cNvPr>
          <p:cNvSpPr txBox="1"/>
          <p:nvPr/>
        </p:nvSpPr>
        <p:spPr>
          <a:xfrm>
            <a:off x="838200" y="827315"/>
            <a:ext cx="10896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Eureka Server se utilizó para registrar automáticamente todos los microservicios del sistema.</a:t>
            </a:r>
          </a:p>
          <a:p>
            <a:r>
              <a:rPr lang="es-MX" b="1" dirty="0"/>
              <a:t>Funciones de Eureka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Detectar servicios activos.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Permitir comunicación entre microservicios.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Monitorear el estado de cada servicio.</a:t>
            </a:r>
          </a:p>
          <a:p>
            <a:r>
              <a:rPr lang="es-MX" b="1" dirty="0"/>
              <a:t>URL utilizada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52FC193-6A9C-774D-F125-0D02CF5D9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4" y="2940870"/>
            <a:ext cx="5857092" cy="330925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188E114-A121-B84C-3BE2-76BEADFABFD6}"/>
              </a:ext>
            </a:extLst>
          </p:cNvPr>
          <p:cNvSpPr txBox="1"/>
          <p:nvPr/>
        </p:nvSpPr>
        <p:spPr>
          <a:xfrm>
            <a:off x="2501113" y="22123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u="sng" dirty="0"/>
              <a:t>http://localhost:8761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5B7E6F-0BCB-654E-514A-1FC5DFD0A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165" y="2940870"/>
            <a:ext cx="5857092" cy="330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24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F436A-B9AA-72B1-0A68-3A0FC559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628" y="74159"/>
            <a:ext cx="3646714" cy="581932"/>
          </a:xfrm>
        </p:spPr>
        <p:txBody>
          <a:bodyPr>
            <a:normAutofit fontScale="90000"/>
          </a:bodyPr>
          <a:lstStyle/>
          <a:p>
            <a:r>
              <a:rPr lang="es-MX" dirty="0"/>
              <a:t>API de Cursos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0AFA60-31E6-A9A7-64F6-286DFF9B85C3}"/>
              </a:ext>
            </a:extLst>
          </p:cNvPr>
          <p:cNvSpPr txBox="1"/>
          <p:nvPr/>
        </p:nvSpPr>
        <p:spPr>
          <a:xfrm>
            <a:off x="315687" y="783191"/>
            <a:ext cx="865414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implementó una API GET para mostrar la lista de materias disponibles.</a:t>
            </a:r>
          </a:p>
          <a:p>
            <a:endParaRPr lang="es-MX" dirty="0"/>
          </a:p>
          <a:p>
            <a:r>
              <a:rPr lang="es-MX" b="1" dirty="0" err="1"/>
              <a:t>Endpoint</a:t>
            </a:r>
            <a:endParaRPr lang="es-MX" b="1" dirty="0"/>
          </a:p>
          <a:p>
            <a:r>
              <a:rPr lang="es-MX" dirty="0"/>
              <a:t>GET </a:t>
            </a:r>
            <a:r>
              <a:rPr lang="es-MX" dirty="0">
                <a:hlinkClick r:id="rId2"/>
              </a:rPr>
              <a:t>http://localhost:8080/courses</a:t>
            </a:r>
            <a:endParaRPr lang="es-MX" dirty="0"/>
          </a:p>
          <a:p>
            <a:endParaRPr lang="es-MX" dirty="0"/>
          </a:p>
          <a:p>
            <a:r>
              <a:rPr lang="es-MX" b="1" dirty="0"/>
              <a:t>Resultado obtenido</a:t>
            </a:r>
          </a:p>
          <a:p>
            <a:endParaRPr lang="es-MX" dirty="0"/>
          </a:p>
          <a:p>
            <a:r>
              <a:rPr lang="es-MX" dirty="0"/>
              <a:t>{</a:t>
            </a:r>
          </a:p>
          <a:p>
            <a:r>
              <a:rPr lang="es-MX" dirty="0"/>
              <a:t>"</a:t>
            </a:r>
            <a:r>
              <a:rPr lang="es-MX" dirty="0">
                <a:solidFill>
                  <a:schemeClr val="accent1"/>
                </a:solidFill>
              </a:rPr>
              <a:t>id": </a:t>
            </a:r>
            <a:r>
              <a:rPr lang="es-MX" dirty="0"/>
              <a:t>1,</a:t>
            </a:r>
          </a:p>
          <a:p>
            <a:r>
              <a:rPr lang="es-MX" dirty="0"/>
              <a:t>"</a:t>
            </a:r>
            <a:r>
              <a:rPr lang="es-MX" dirty="0" err="1">
                <a:solidFill>
                  <a:schemeClr val="accent1"/>
                </a:solidFill>
              </a:rPr>
              <a:t>name</a:t>
            </a:r>
            <a:r>
              <a:rPr lang="es-MX" dirty="0">
                <a:solidFill>
                  <a:schemeClr val="accent1"/>
                </a:solidFill>
              </a:rPr>
              <a:t>": </a:t>
            </a:r>
            <a:r>
              <a:rPr lang="es-MX" dirty="0"/>
              <a:t>"</a:t>
            </a:r>
            <a:r>
              <a:rPr lang="es-MX" dirty="0" err="1"/>
              <a:t>Programacion</a:t>
            </a:r>
            <a:r>
              <a:rPr lang="es-MX" dirty="0"/>
              <a:t> Web",</a:t>
            </a:r>
          </a:p>
          <a:p>
            <a:r>
              <a:rPr lang="es-MX" dirty="0"/>
              <a:t>"</a:t>
            </a:r>
            <a:r>
              <a:rPr lang="es-MX" dirty="0" err="1">
                <a:solidFill>
                  <a:schemeClr val="accent1"/>
                </a:solidFill>
              </a:rPr>
              <a:t>teacherId</a:t>
            </a:r>
            <a:r>
              <a:rPr lang="es-MX" dirty="0">
                <a:solidFill>
                  <a:schemeClr val="accent1"/>
                </a:solidFill>
              </a:rPr>
              <a:t>": </a:t>
            </a:r>
            <a:r>
              <a:rPr lang="es-MX" dirty="0"/>
              <a:t>1</a:t>
            </a:r>
          </a:p>
          <a:p>
            <a:r>
              <a:rPr lang="es-MX" dirty="0"/>
              <a:t>},</a:t>
            </a:r>
          </a:p>
          <a:p>
            <a:r>
              <a:rPr lang="es-MX" dirty="0"/>
              <a:t>{</a:t>
            </a:r>
          </a:p>
          <a:p>
            <a:r>
              <a:rPr lang="es-MX" dirty="0">
                <a:solidFill>
                  <a:schemeClr val="accent1"/>
                </a:solidFill>
              </a:rPr>
              <a:t>"id": </a:t>
            </a:r>
            <a:r>
              <a:rPr lang="es-MX" dirty="0"/>
              <a:t>2,</a:t>
            </a:r>
          </a:p>
          <a:p>
            <a:r>
              <a:rPr lang="es-MX" dirty="0">
                <a:solidFill>
                  <a:schemeClr val="accent1"/>
                </a:solidFill>
              </a:rPr>
              <a:t>"</a:t>
            </a:r>
            <a:r>
              <a:rPr lang="es-MX" dirty="0" err="1">
                <a:solidFill>
                  <a:schemeClr val="accent1"/>
                </a:solidFill>
              </a:rPr>
              <a:t>name</a:t>
            </a:r>
            <a:r>
              <a:rPr lang="es-MX" dirty="0">
                <a:solidFill>
                  <a:schemeClr val="accent1"/>
                </a:solidFill>
              </a:rPr>
              <a:t>": </a:t>
            </a:r>
            <a:r>
              <a:rPr lang="es-MX" dirty="0"/>
              <a:t>"Bases de Datos",</a:t>
            </a:r>
          </a:p>
          <a:p>
            <a:r>
              <a:rPr lang="es-MX" dirty="0">
                <a:solidFill>
                  <a:schemeClr val="accent1"/>
                </a:solidFill>
              </a:rPr>
              <a:t>"</a:t>
            </a:r>
            <a:r>
              <a:rPr lang="es-MX" dirty="0" err="1">
                <a:solidFill>
                  <a:schemeClr val="accent1"/>
                </a:solidFill>
              </a:rPr>
              <a:t>teacherId</a:t>
            </a:r>
            <a:r>
              <a:rPr lang="es-MX" dirty="0">
                <a:solidFill>
                  <a:schemeClr val="accent1"/>
                </a:solidFill>
              </a:rPr>
              <a:t>": </a:t>
            </a:r>
            <a:r>
              <a:rPr lang="es-MX" dirty="0"/>
              <a:t>2</a:t>
            </a:r>
          </a:p>
          <a:p>
            <a:r>
              <a:rPr lang="es-MX" dirty="0"/>
              <a:t>}</a:t>
            </a:r>
          </a:p>
          <a:p>
            <a:endParaRPr lang="es-MX" dirty="0"/>
          </a:p>
          <a:p>
            <a:r>
              <a:rPr lang="es-MX" b="1" dirty="0"/>
              <a:t>Explicación</a:t>
            </a:r>
          </a:p>
          <a:p>
            <a:r>
              <a:rPr lang="es-MX" dirty="0"/>
              <a:t>Esta API permite consultar las materias registradas dentro del sistema escolar.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D791E0-6A04-00D2-5F0A-2A97721B5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314" y="1424940"/>
            <a:ext cx="7593027" cy="429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8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01BBF-B94B-CA9F-8554-19EF68A95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357" y="185718"/>
            <a:ext cx="6841671" cy="451304"/>
          </a:xfrm>
        </p:spPr>
        <p:txBody>
          <a:bodyPr>
            <a:normAutofit fontScale="90000"/>
          </a:bodyPr>
          <a:lstStyle/>
          <a:p>
            <a:r>
              <a:rPr lang="es-MX" dirty="0"/>
              <a:t>API de Horario de Estudiantes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76C7BC0-33A4-1CAD-4D5C-DA9195C6F774}"/>
              </a:ext>
            </a:extLst>
          </p:cNvPr>
          <p:cNvSpPr txBox="1"/>
          <p:nvPr/>
        </p:nvSpPr>
        <p:spPr>
          <a:xfrm>
            <a:off x="478972" y="1011428"/>
            <a:ext cx="744582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creó una API GET para consultar el horario de un alumno específico.</a:t>
            </a:r>
          </a:p>
          <a:p>
            <a:endParaRPr lang="es-MX" dirty="0"/>
          </a:p>
          <a:p>
            <a:r>
              <a:rPr lang="es-MX" b="1" dirty="0" err="1"/>
              <a:t>Endpoint</a:t>
            </a:r>
            <a:endParaRPr lang="es-MX" b="1" dirty="0"/>
          </a:p>
          <a:p>
            <a:r>
              <a:rPr lang="es-MX" dirty="0"/>
              <a:t>GET </a:t>
            </a:r>
            <a:r>
              <a:rPr lang="es-MX" dirty="0">
                <a:hlinkClick r:id="rId2"/>
              </a:rPr>
              <a:t>http://localhost:8080/student-schedule/1</a:t>
            </a:r>
            <a:endParaRPr lang="es-MX" dirty="0"/>
          </a:p>
          <a:p>
            <a:endParaRPr lang="es-MX" dirty="0"/>
          </a:p>
          <a:p>
            <a:r>
              <a:rPr lang="es-MX" b="1" dirty="0"/>
              <a:t>Resultado obtenido</a:t>
            </a:r>
          </a:p>
          <a:p>
            <a:r>
              <a:rPr lang="es-MX" dirty="0"/>
              <a:t>{</a:t>
            </a:r>
          </a:p>
          <a:p>
            <a:r>
              <a:rPr lang="es-MX" dirty="0"/>
              <a:t>"</a:t>
            </a:r>
            <a:r>
              <a:rPr lang="es-MX" dirty="0" err="1"/>
              <a:t>studentName</a:t>
            </a:r>
            <a:r>
              <a:rPr lang="es-MX" dirty="0"/>
              <a:t>": "Jasmine Morales",</a:t>
            </a:r>
          </a:p>
          <a:p>
            <a:r>
              <a:rPr lang="es-MX" dirty="0"/>
              <a:t>"</a:t>
            </a:r>
            <a:r>
              <a:rPr lang="es-MX" dirty="0" err="1"/>
              <a:t>courseName</a:t>
            </a:r>
            <a:r>
              <a:rPr lang="es-MX" dirty="0"/>
              <a:t>": "</a:t>
            </a:r>
            <a:r>
              <a:rPr lang="es-MX" dirty="0" err="1"/>
              <a:t>Programacion</a:t>
            </a:r>
            <a:r>
              <a:rPr lang="es-MX" dirty="0"/>
              <a:t> Web",</a:t>
            </a:r>
          </a:p>
          <a:p>
            <a:r>
              <a:rPr lang="es-MX" dirty="0"/>
              <a:t>"</a:t>
            </a:r>
            <a:r>
              <a:rPr lang="es-MX" dirty="0" err="1"/>
              <a:t>teacherName</a:t>
            </a:r>
            <a:r>
              <a:rPr lang="es-MX" dirty="0"/>
              <a:t>": "Carlos </a:t>
            </a:r>
            <a:r>
              <a:rPr lang="es-MX" dirty="0" err="1"/>
              <a:t>Gomez</a:t>
            </a:r>
            <a:r>
              <a:rPr lang="es-MX" dirty="0"/>
              <a:t>",</a:t>
            </a:r>
          </a:p>
          <a:p>
            <a:r>
              <a:rPr lang="es-MX" dirty="0"/>
              <a:t>"</a:t>
            </a:r>
            <a:r>
              <a:rPr lang="es-MX" dirty="0" err="1"/>
              <a:t>schedule</a:t>
            </a:r>
            <a:r>
              <a:rPr lang="es-MX" dirty="0"/>
              <a:t>": "7:00 AM",</a:t>
            </a:r>
          </a:p>
          <a:p>
            <a:r>
              <a:rPr lang="es-MX" dirty="0"/>
              <a:t>"</a:t>
            </a:r>
            <a:r>
              <a:rPr lang="es-MX" dirty="0" err="1"/>
              <a:t>classroom</a:t>
            </a:r>
            <a:r>
              <a:rPr lang="es-MX" dirty="0"/>
              <a:t>": "A-101"</a:t>
            </a:r>
          </a:p>
          <a:p>
            <a:r>
              <a:rPr lang="es-MX" dirty="0"/>
              <a:t>}</a:t>
            </a:r>
          </a:p>
          <a:p>
            <a:endParaRPr lang="es-MX" dirty="0"/>
          </a:p>
          <a:p>
            <a:r>
              <a:rPr lang="es-MX" b="1" dirty="0"/>
              <a:t>Explicación</a:t>
            </a:r>
          </a:p>
          <a:p>
            <a:r>
              <a:rPr lang="es-MX" dirty="0"/>
              <a:t>Esta API permite visualizar la información completa del horario de un estudiante.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36075F-8473-0AEC-9C0F-981956E4B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95" y="1392428"/>
            <a:ext cx="4431352" cy="25037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86E5C2-6767-525C-FADA-37E9EDE91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96" y="3942915"/>
            <a:ext cx="4431354" cy="250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64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15979-CE3B-9C8B-8C58-7E918200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171" y="167159"/>
            <a:ext cx="7946571" cy="636361"/>
          </a:xfrm>
        </p:spPr>
        <p:txBody>
          <a:bodyPr>
            <a:normAutofit fontScale="90000"/>
          </a:bodyPr>
          <a:lstStyle/>
          <a:p>
            <a:r>
              <a:rPr lang="es-MX" dirty="0"/>
              <a:t>API para Registrar Estudiantes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AE7FC65-80A1-5090-7BF4-D6C3A5F8866E}"/>
              </a:ext>
            </a:extLst>
          </p:cNvPr>
          <p:cNvSpPr txBox="1"/>
          <p:nvPr/>
        </p:nvSpPr>
        <p:spPr>
          <a:xfrm>
            <a:off x="794656" y="1347044"/>
            <a:ext cx="836022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implementó un método POST para registrar estudiantes dentro del sistema.</a:t>
            </a:r>
          </a:p>
          <a:p>
            <a:endParaRPr lang="es-MX" dirty="0"/>
          </a:p>
          <a:p>
            <a:r>
              <a:rPr lang="es-MX" b="1" dirty="0" err="1"/>
              <a:t>Endpoint</a:t>
            </a:r>
            <a:endParaRPr lang="es-MX" b="1" dirty="0"/>
          </a:p>
          <a:p>
            <a:r>
              <a:rPr lang="es-MX" dirty="0"/>
              <a:t>POST </a:t>
            </a:r>
            <a:r>
              <a:rPr lang="es-MX" dirty="0">
                <a:hlinkClick r:id="rId2"/>
              </a:rPr>
              <a:t>http://localhost:8081/students</a:t>
            </a:r>
            <a:endParaRPr lang="es-MX" dirty="0"/>
          </a:p>
          <a:p>
            <a:endParaRPr lang="es-MX" dirty="0"/>
          </a:p>
          <a:p>
            <a:r>
              <a:rPr lang="es-MX" b="1" dirty="0"/>
              <a:t>Datos enviados</a:t>
            </a:r>
          </a:p>
          <a:p>
            <a:r>
              <a:rPr lang="es-MX" dirty="0"/>
              <a:t>{</a:t>
            </a:r>
          </a:p>
          <a:p>
            <a:r>
              <a:rPr lang="es-MX" dirty="0"/>
              <a:t>"</a:t>
            </a:r>
            <a:r>
              <a:rPr lang="es-MX" dirty="0" err="1"/>
              <a:t>name</a:t>
            </a:r>
            <a:r>
              <a:rPr lang="es-MX" dirty="0"/>
              <a:t>": "Kevin Morales",</a:t>
            </a:r>
          </a:p>
          <a:p>
            <a:r>
              <a:rPr lang="es-MX" dirty="0"/>
              <a:t>"email": "KevinM@gmail.com"</a:t>
            </a:r>
          </a:p>
          <a:p>
            <a:r>
              <a:rPr lang="es-MX" dirty="0"/>
              <a:t>}</a:t>
            </a:r>
          </a:p>
          <a:p>
            <a:r>
              <a:rPr lang="es-MX" b="1" dirty="0"/>
              <a:t>Resultado obtenido</a:t>
            </a:r>
          </a:p>
          <a:p>
            <a:r>
              <a:rPr lang="es-MX" dirty="0"/>
              <a:t>{</a:t>
            </a:r>
          </a:p>
          <a:p>
            <a:r>
              <a:rPr lang="es-MX" dirty="0"/>
              <a:t>"id": 11,</a:t>
            </a:r>
          </a:p>
          <a:p>
            <a:r>
              <a:rPr lang="es-MX" dirty="0"/>
              <a:t>"</a:t>
            </a:r>
            <a:r>
              <a:rPr lang="es-MX" dirty="0" err="1"/>
              <a:t>name</a:t>
            </a:r>
            <a:r>
              <a:rPr lang="es-MX" dirty="0"/>
              <a:t>": "Kevin Morales",</a:t>
            </a:r>
          </a:p>
          <a:p>
            <a:r>
              <a:rPr lang="es-MX" dirty="0"/>
              <a:t>"email": "KevinM@gmail.com"</a:t>
            </a:r>
          </a:p>
          <a:p>
            <a:r>
              <a:rPr lang="es-MX" dirty="0"/>
              <a:t>}</a:t>
            </a:r>
          </a:p>
          <a:p>
            <a:endParaRPr lang="es-MX" dirty="0"/>
          </a:p>
          <a:p>
            <a:r>
              <a:rPr lang="es-MX" b="1" dirty="0"/>
              <a:t>Explicación</a:t>
            </a:r>
          </a:p>
          <a:p>
            <a:r>
              <a:rPr lang="es-MX" dirty="0"/>
              <a:t>El sistema genera automáticamente un ID para cada estudiante registrado.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5A6857-B11C-F2C6-47C8-674281982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229" y="1807029"/>
            <a:ext cx="7186786" cy="406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21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5E39F-2C8C-6BED-227E-A500CA7D9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114" y="105860"/>
            <a:ext cx="4898571" cy="494846"/>
          </a:xfrm>
        </p:spPr>
        <p:txBody>
          <a:bodyPr>
            <a:normAutofit fontScale="90000"/>
          </a:bodyPr>
          <a:lstStyle/>
          <a:p>
            <a:r>
              <a:rPr lang="es-MX" dirty="0"/>
              <a:t>API de Inscripciones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AADDA7B-FEC6-BD57-C510-4E133135AFF9}"/>
              </a:ext>
            </a:extLst>
          </p:cNvPr>
          <p:cNvSpPr txBox="1"/>
          <p:nvPr/>
        </p:nvSpPr>
        <p:spPr>
          <a:xfrm>
            <a:off x="288231" y="600706"/>
            <a:ext cx="944359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creó una API POST para inscribir estudiantes en materias.</a:t>
            </a:r>
          </a:p>
          <a:p>
            <a:endParaRPr lang="es-MX" dirty="0"/>
          </a:p>
          <a:p>
            <a:r>
              <a:rPr lang="es-MX" b="1" dirty="0" err="1"/>
              <a:t>Endpoint</a:t>
            </a:r>
            <a:endParaRPr lang="es-MX" b="1" dirty="0"/>
          </a:p>
          <a:p>
            <a:r>
              <a:rPr lang="es-MX" dirty="0"/>
              <a:t>POST </a:t>
            </a:r>
            <a:r>
              <a:rPr lang="es-MX" dirty="0">
                <a:hlinkClick r:id="rId2"/>
              </a:rPr>
              <a:t>http://localhost:8080/enrollments</a:t>
            </a:r>
            <a:endParaRPr lang="es-MX" dirty="0"/>
          </a:p>
          <a:p>
            <a:endParaRPr lang="es-MX" dirty="0"/>
          </a:p>
          <a:p>
            <a:r>
              <a:rPr lang="es-MX" b="1" dirty="0"/>
              <a:t>Datos enviados</a:t>
            </a:r>
          </a:p>
          <a:p>
            <a:r>
              <a:rPr lang="es-MX" dirty="0"/>
              <a:t>{</a:t>
            </a:r>
          </a:p>
          <a:p>
            <a:r>
              <a:rPr lang="es-MX" dirty="0"/>
              <a:t>"</a:t>
            </a:r>
            <a:r>
              <a:rPr lang="es-MX" dirty="0" err="1"/>
              <a:t>studentId</a:t>
            </a:r>
            <a:r>
              <a:rPr lang="es-MX" dirty="0"/>
              <a:t>": 11,</a:t>
            </a:r>
          </a:p>
          <a:p>
            <a:r>
              <a:rPr lang="es-MX" dirty="0"/>
              <a:t>"</a:t>
            </a:r>
            <a:r>
              <a:rPr lang="es-MX" dirty="0" err="1"/>
              <a:t>courseId</a:t>
            </a:r>
            <a:r>
              <a:rPr lang="es-MX" dirty="0"/>
              <a:t>": 1,</a:t>
            </a:r>
          </a:p>
          <a:p>
            <a:r>
              <a:rPr lang="es-MX" dirty="0"/>
              <a:t>"</a:t>
            </a:r>
            <a:r>
              <a:rPr lang="es-MX" dirty="0" err="1"/>
              <a:t>schedule</a:t>
            </a:r>
            <a:r>
              <a:rPr lang="es-MX" dirty="0"/>
              <a:t>": "7:00 AM",</a:t>
            </a:r>
          </a:p>
          <a:p>
            <a:r>
              <a:rPr lang="es-MX" dirty="0"/>
              <a:t>"</a:t>
            </a:r>
            <a:r>
              <a:rPr lang="es-MX" dirty="0" err="1"/>
              <a:t>classroom</a:t>
            </a:r>
            <a:r>
              <a:rPr lang="es-MX" dirty="0"/>
              <a:t>": "A-101"</a:t>
            </a:r>
          </a:p>
          <a:p>
            <a:r>
              <a:rPr lang="es-MX" dirty="0"/>
              <a:t>}</a:t>
            </a:r>
          </a:p>
          <a:p>
            <a:r>
              <a:rPr lang="es-MX" b="1" dirty="0"/>
              <a:t>Resultado obtenido</a:t>
            </a:r>
          </a:p>
          <a:p>
            <a:r>
              <a:rPr lang="es-MX" dirty="0"/>
              <a:t>{</a:t>
            </a:r>
          </a:p>
          <a:p>
            <a:r>
              <a:rPr lang="es-MX" dirty="0"/>
              <a:t>"id": 9,</a:t>
            </a:r>
          </a:p>
          <a:p>
            <a:r>
              <a:rPr lang="es-MX" dirty="0"/>
              <a:t>"</a:t>
            </a:r>
            <a:r>
              <a:rPr lang="es-MX" dirty="0" err="1"/>
              <a:t>studentId</a:t>
            </a:r>
            <a:r>
              <a:rPr lang="es-MX" dirty="0"/>
              <a:t>": 11,</a:t>
            </a:r>
          </a:p>
          <a:p>
            <a:r>
              <a:rPr lang="es-MX" dirty="0"/>
              <a:t>"</a:t>
            </a:r>
            <a:r>
              <a:rPr lang="es-MX" dirty="0" err="1"/>
              <a:t>courseId</a:t>
            </a:r>
            <a:r>
              <a:rPr lang="es-MX" dirty="0"/>
              <a:t>": 1,</a:t>
            </a:r>
          </a:p>
          <a:p>
            <a:r>
              <a:rPr lang="es-MX" dirty="0"/>
              <a:t>"</a:t>
            </a:r>
            <a:r>
              <a:rPr lang="es-MX" dirty="0" err="1"/>
              <a:t>schedule</a:t>
            </a:r>
            <a:r>
              <a:rPr lang="es-MX" dirty="0"/>
              <a:t>": "7:00 AM",</a:t>
            </a:r>
          </a:p>
          <a:p>
            <a:r>
              <a:rPr lang="es-MX" dirty="0"/>
              <a:t>"</a:t>
            </a:r>
            <a:r>
              <a:rPr lang="es-MX" dirty="0" err="1"/>
              <a:t>classroom</a:t>
            </a:r>
            <a:r>
              <a:rPr lang="es-MX" dirty="0"/>
              <a:t>": "A-101"</a:t>
            </a:r>
          </a:p>
          <a:p>
            <a:r>
              <a:rPr lang="es-MX" dirty="0"/>
              <a:t>}</a:t>
            </a:r>
          </a:p>
          <a:p>
            <a:r>
              <a:rPr lang="es-MX" b="1" dirty="0"/>
              <a:t>Explicación</a:t>
            </a:r>
          </a:p>
          <a:p>
            <a:r>
              <a:rPr lang="es-MX" dirty="0"/>
              <a:t>Esta API relaciona estudiantes con materias utilizando </a:t>
            </a:r>
            <a:r>
              <a:rPr lang="es-MX" dirty="0" err="1"/>
              <a:t>IDs</a:t>
            </a:r>
            <a:r>
              <a:rPr lang="es-MX" dirty="0"/>
              <a:t> generados automáticamente.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69BAB10-3B85-E891-48EF-06E888689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88" y="1947291"/>
            <a:ext cx="6841912" cy="386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47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D9A71-3ADE-D750-A136-33BE6816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Uso del API Gateway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07D431-9DDF-D23C-7510-C78BD2C3D37C}"/>
              </a:ext>
            </a:extLst>
          </p:cNvPr>
          <p:cNvSpPr txBox="1"/>
          <p:nvPr/>
        </p:nvSpPr>
        <p:spPr>
          <a:xfrm>
            <a:off x="729343" y="1690688"/>
            <a:ext cx="107986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 API Gateway se utilizó para centralizar todas las peticiones realizadas hacia los microservicios.</a:t>
            </a:r>
          </a:p>
          <a:p>
            <a:endParaRPr lang="es-MX" dirty="0"/>
          </a:p>
          <a:p>
            <a:r>
              <a:rPr lang="es-MX" b="1" dirty="0"/>
              <a:t>Funciones del Gateway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Redirigir solicitudes.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Centralizar acceso.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Simplificar rutas.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Mejorar organización del sistema.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b="1" dirty="0"/>
              <a:t>Ejemplo</a:t>
            </a:r>
          </a:p>
          <a:p>
            <a:r>
              <a:rPr lang="es-MX" dirty="0"/>
              <a:t>GET </a:t>
            </a:r>
            <a:r>
              <a:rPr lang="es-MX" dirty="0">
                <a:hlinkClick r:id="rId2"/>
              </a:rPr>
              <a:t>http://localhost:8080/courses</a:t>
            </a:r>
            <a:endParaRPr lang="es-MX" dirty="0"/>
          </a:p>
          <a:p>
            <a:endParaRPr lang="es-MX" dirty="0"/>
          </a:p>
          <a:p>
            <a:r>
              <a:rPr lang="es-MX" dirty="0"/>
              <a:t>El Gateway redirige automáticamente la petición hacia el microservicio correspondiente.</a:t>
            </a:r>
          </a:p>
        </p:txBody>
      </p:sp>
    </p:spTree>
    <p:extLst>
      <p:ext uri="{BB962C8B-B14F-4D97-AF65-F5344CB8AC3E}">
        <p14:creationId xmlns:p14="http://schemas.microsoft.com/office/powerpoint/2010/main" val="1247150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6654F-D1E4-CFDC-E28C-B16F5BEE0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05672E-AF4C-E9DC-D51B-B9C059A1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Durante esta práctica se logró desarrollar un sistema escolar basado en microservicios utilizando Spring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. Se implementaron diferentes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REST para registrar estudiantes, consultar cursos y administrar horarios.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Además, se configuró Eureka Server para registrar los servicios y API Gateway para centralizar las peticiones realizadas desde el cliente.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La práctica permitió comprender el funcionamiento de arquitecturas distribuidas y fortalecer conocimientos relacionados con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REST y comunicación entre microservicios.</a:t>
            </a:r>
          </a:p>
          <a:p>
            <a:pPr algn="just"/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7083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851</Words>
  <Application>Microsoft Office PowerPoint</Application>
  <PresentationFormat>Panorámica</PresentationFormat>
  <Paragraphs>144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Justificación </vt:lpstr>
      <vt:lpstr>Presentación de PowerPoint</vt:lpstr>
      <vt:lpstr>Configuración de Eureka Server</vt:lpstr>
      <vt:lpstr>API de Cursos</vt:lpstr>
      <vt:lpstr>API de Horario de Estudiantes</vt:lpstr>
      <vt:lpstr>API para Registrar Estudiantes</vt:lpstr>
      <vt:lpstr>API de Inscripciones</vt:lpstr>
      <vt:lpstr>Uso del API Gateway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4</cp:revision>
  <dcterms:created xsi:type="dcterms:W3CDTF">2026-05-19T00:38:07Z</dcterms:created>
  <dcterms:modified xsi:type="dcterms:W3CDTF">2026-05-30T19:37:34Z</dcterms:modified>
</cp:coreProperties>
</file>