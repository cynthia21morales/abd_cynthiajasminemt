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65" r:id="rId4"/>
    <p:sldId id="257" r:id="rId5"/>
    <p:sldId id="260" r:id="rId6"/>
    <p:sldId id="258" r:id="rId7"/>
    <p:sldId id="261" r:id="rId8"/>
    <p:sldId id="259" r:id="rId9"/>
    <p:sldId id="262" r:id="rId10"/>
    <p:sldId id="263"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p:cViewPr varScale="1">
        <p:scale>
          <a:sx n="59" d="100"/>
          <a:sy n="59" d="100"/>
        </p:scale>
        <p:origin x="8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85F0B9-A73A-AAC0-6B22-D48ACEDBBD1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0C679617-7CEE-F0DD-A406-26C106A313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ED8076AC-8A97-A4B1-8921-B5C0977D2BEE}"/>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D396FDBC-AEE4-89B4-6B8F-72D6C58D2CE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A9D7672-615B-2BD9-1D23-A13530B08397}"/>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641760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ADF822-7E97-88C2-485F-EEB3BCA5B34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D459980-400D-EC21-414E-21365C2952E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61FE30B-1569-685F-B693-D3D5A7D6E7A5}"/>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35B48C3E-03ED-F5FE-28E5-1DD6A98B6BE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E234BEE-43C3-3EC2-504C-562BB8B768D8}"/>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22107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FF9CC-8238-E1E6-120D-C6A6D1FEFB3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5A153EB-41BD-D13E-78FB-B11DDBD2D7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A778B-891A-DADC-B933-3F1003012DE1}"/>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29DDE9F1-2467-246D-E455-DF6FB9709A9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37AEC9F-4923-BF63-19F4-C90C46E8534F}"/>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4028104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57DCCC-7E60-A8BC-7458-7789D78619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BB48B65-A0EE-4DF5-2397-F7613A9C5C1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BFB5D72-4307-D111-D409-15E46E7A1C6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381784A-8EF5-4580-DCB7-32A13D713EDB}"/>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6" name="Marcador de pie de página 5">
            <a:extLst>
              <a:ext uri="{FF2B5EF4-FFF2-40B4-BE49-F238E27FC236}">
                <a16:creationId xmlns:a16="http://schemas.microsoft.com/office/drawing/2014/main" id="{830C1C0D-8969-FF61-D56E-A0015FF1C5A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B458FB7-536B-3D66-FB66-F7CE6DD02672}"/>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1680258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F1BE52-3024-2DC5-31F0-D7799E2E51B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FAFA0133-4A6E-C5E7-CD40-8C824DC7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A91EA12-1F60-D43A-24DF-6B03820EF15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72EAB03B-D643-B6FF-169F-CD3A9AC195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D3EB0A-11DA-73BF-A838-B4A5A319F99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20F8D0A-4EB7-102B-3DAC-C9B537A31FDE}"/>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8" name="Marcador de pie de página 7">
            <a:extLst>
              <a:ext uri="{FF2B5EF4-FFF2-40B4-BE49-F238E27FC236}">
                <a16:creationId xmlns:a16="http://schemas.microsoft.com/office/drawing/2014/main" id="{471535EF-68BF-E142-FFF5-861ADC802AC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BA4D2E4-DE9A-0CE7-CD11-FA67BF22D52A}"/>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113352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1BDB18-BDE6-A483-DFC5-E73A81A59A0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6DFC455F-4376-F3AE-0D25-548244810846}"/>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4" name="Marcador de pie de página 3">
            <a:extLst>
              <a:ext uri="{FF2B5EF4-FFF2-40B4-BE49-F238E27FC236}">
                <a16:creationId xmlns:a16="http://schemas.microsoft.com/office/drawing/2014/main" id="{115C551D-C1D7-1B08-4E5A-F2463EDB137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CAC835D-7858-D22B-5F0C-083D3DF8FB9B}"/>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430203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248DD58-57D3-95BD-9286-72C18B0F35B0}"/>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3" name="Marcador de pie de página 2">
            <a:extLst>
              <a:ext uri="{FF2B5EF4-FFF2-40B4-BE49-F238E27FC236}">
                <a16:creationId xmlns:a16="http://schemas.microsoft.com/office/drawing/2014/main" id="{77DA1C1A-00B8-CB29-0D0D-8C4512DB24A1}"/>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B9545B2-A902-4CDE-36C9-D5F6C55A8B8F}"/>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049303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CA8570-2906-5320-9E54-B0E916B6655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9A52618-2023-8511-28E5-E35C46D8E9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C361245-7FC9-3168-5EB5-59AEF999D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2671DD1-B8CA-2145-0BA6-94490C503C88}"/>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6" name="Marcador de pie de página 5">
            <a:extLst>
              <a:ext uri="{FF2B5EF4-FFF2-40B4-BE49-F238E27FC236}">
                <a16:creationId xmlns:a16="http://schemas.microsoft.com/office/drawing/2014/main" id="{95529935-F343-0355-D898-486496645DF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9B66E97-AC5D-99DC-1893-E58C2616D73D}"/>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3001193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8E125D-C0B7-E516-3A49-446C018EAE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BC14482-7BAF-011C-F4D4-1CB3E0CE6F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F2E3F63F-7C37-7982-C285-0AD517853D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BE20BA4-FB21-5DDA-C639-FA86C9FF9ED6}"/>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6" name="Marcador de pie de página 5">
            <a:extLst>
              <a:ext uri="{FF2B5EF4-FFF2-40B4-BE49-F238E27FC236}">
                <a16:creationId xmlns:a16="http://schemas.microsoft.com/office/drawing/2014/main" id="{039E0AD4-055B-67A9-70C6-68125422A0F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9DD7D0E-62CF-DF03-FD34-C9F6B563D25C}"/>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1756454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235029-C8B2-D7AE-30E7-16B0C90887C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2872541-C732-6356-3BBB-417CD765714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AE9D706-6374-40F1-D3B0-311E177A51E7}"/>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2AB88EE8-6CEB-2199-B200-2A107DC31F2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4BAC7A-AD8D-F8AD-F1FE-B06638E0B32E}"/>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1555322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2CDABD2-B2DD-FC79-728E-143DFD2E4C7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A03129E4-C8E3-7376-0A22-502D01360E3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1E36E4C-41C0-9540-4F51-ED14A510C4EB}"/>
              </a:ext>
            </a:extLst>
          </p:cNvPr>
          <p:cNvSpPr>
            <a:spLocks noGrp="1"/>
          </p:cNvSpPr>
          <p:nvPr>
            <p:ph type="dt" sz="half" idx="10"/>
          </p:nvPr>
        </p:nvSpPr>
        <p:spPr/>
        <p:txBody>
          <a:body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E4EFAD3E-EF95-B0C7-7F63-B4F0F7B2767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17144BF-DD8B-896A-69D0-A29882D46DB3}"/>
              </a:ext>
            </a:extLst>
          </p:cNvPr>
          <p:cNvSpPr>
            <a:spLocks noGrp="1"/>
          </p:cNvSpPr>
          <p:nvPr>
            <p:ph type="sldNum" sz="quarter" idx="12"/>
          </p:nvPr>
        </p:nvSpPr>
        <p:spPr/>
        <p:txBody>
          <a:bodyPr/>
          <a:lstStyle/>
          <a:p>
            <a:fld id="{BB8276B1-383C-447C-BE23-2C38D338729B}" type="slidenum">
              <a:rPr lang="es-MX" smtClean="0"/>
              <a:t>‹Nº›</a:t>
            </a:fld>
            <a:endParaRPr lang="es-MX"/>
          </a:p>
        </p:txBody>
      </p:sp>
    </p:spTree>
    <p:extLst>
      <p:ext uri="{BB962C8B-B14F-4D97-AF65-F5344CB8AC3E}">
        <p14:creationId xmlns:p14="http://schemas.microsoft.com/office/powerpoint/2010/main" val="203156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27854A4-C71E-94F4-2E4D-BF2DEAA334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A63761B-AD21-A918-9C1A-D65E143F79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C9901F2-A18E-F3A0-D412-6209ED7C2C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769390-FB90-42FD-ADB7-F2464D285E5F}" type="datetimeFigureOut">
              <a:rPr lang="es-MX" smtClean="0"/>
              <a:t>30/05/2026</a:t>
            </a:fld>
            <a:endParaRPr lang="es-MX"/>
          </a:p>
        </p:txBody>
      </p:sp>
      <p:sp>
        <p:nvSpPr>
          <p:cNvPr id="5" name="Marcador de pie de página 4">
            <a:extLst>
              <a:ext uri="{FF2B5EF4-FFF2-40B4-BE49-F238E27FC236}">
                <a16:creationId xmlns:a16="http://schemas.microsoft.com/office/drawing/2014/main" id="{59145A5D-EA93-862F-26EC-F0346E9760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1AAEBEF-58D5-1EE4-A472-4D1F68806E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8276B1-383C-447C-BE23-2C38D338729B}" type="slidenum">
              <a:rPr lang="es-MX" smtClean="0"/>
              <a:t>‹Nº›</a:t>
            </a:fld>
            <a:endParaRPr lang="es-MX"/>
          </a:p>
        </p:txBody>
      </p:sp>
    </p:spTree>
    <p:extLst>
      <p:ext uri="{BB962C8B-B14F-4D97-AF65-F5344CB8AC3E}">
        <p14:creationId xmlns:p14="http://schemas.microsoft.com/office/powerpoint/2010/main" val="39982126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EF632495-82BF-BDCE-CE64-AB1453AF10B8}"/>
              </a:ext>
            </a:extLst>
          </p:cNvPr>
          <p:cNvSpPr txBox="1"/>
          <p:nvPr/>
        </p:nvSpPr>
        <p:spPr>
          <a:xfrm>
            <a:off x="2374586" y="2011396"/>
            <a:ext cx="7644625" cy="4678204"/>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err="1">
                <a:solidFill>
                  <a:srgbClr val="000000"/>
                </a:solidFill>
                <a:latin typeface="Century Gothic" panose="020B0502020202020204" pitchFamily="34" charset="0"/>
                <a:ea typeface="Glacial Indifference"/>
                <a:cs typeface="Glacial Indifference"/>
                <a:sym typeface="Glacial Indifference"/>
              </a:rPr>
              <a:t>Administración</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4.3 Banco de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02 de Junio del 2026</a:t>
            </a:r>
          </a:p>
        </p:txBody>
      </p:sp>
      <p:sp>
        <p:nvSpPr>
          <p:cNvPr id="5" name="TextBox 8">
            <a:extLst>
              <a:ext uri="{FF2B5EF4-FFF2-40B4-BE49-F238E27FC236}">
                <a16:creationId xmlns:a16="http://schemas.microsoft.com/office/drawing/2014/main" id="{59A314A8-2ABC-4BDE-6D79-D21E3C5224E4}"/>
              </a:ext>
            </a:extLst>
          </p:cNvPr>
          <p:cNvSpPr txBox="1"/>
          <p:nvPr/>
        </p:nvSpPr>
        <p:spPr>
          <a:xfrm>
            <a:off x="2018662" y="1127967"/>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06960872-D995-2F58-731B-198EC7F85E54}"/>
              </a:ext>
            </a:extLst>
          </p:cNvPr>
          <p:cNvGrpSpPr/>
          <p:nvPr/>
        </p:nvGrpSpPr>
        <p:grpSpPr>
          <a:xfrm>
            <a:off x="900094" y="85695"/>
            <a:ext cx="1833537" cy="1054536"/>
            <a:chOff x="0" y="0"/>
            <a:chExt cx="3073400" cy="1308100"/>
          </a:xfrm>
        </p:grpSpPr>
        <p:sp>
          <p:nvSpPr>
            <p:cNvPr id="7" name="Freeform 3">
              <a:extLst>
                <a:ext uri="{FF2B5EF4-FFF2-40B4-BE49-F238E27FC236}">
                  <a16:creationId xmlns:a16="http://schemas.microsoft.com/office/drawing/2014/main" id="{A9DE72DA-F870-F63F-CB73-AF3BD9CEE70F}"/>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8DCA927B-1636-634D-5C35-85CB3ECA79B8}"/>
              </a:ext>
            </a:extLst>
          </p:cNvPr>
          <p:cNvGrpSpPr/>
          <p:nvPr/>
        </p:nvGrpSpPr>
        <p:grpSpPr>
          <a:xfrm>
            <a:off x="10101943" y="167651"/>
            <a:ext cx="1517156" cy="890624"/>
            <a:chOff x="0" y="0"/>
            <a:chExt cx="1981200" cy="1625600"/>
          </a:xfrm>
        </p:grpSpPr>
        <p:sp>
          <p:nvSpPr>
            <p:cNvPr id="9" name="Freeform 5">
              <a:extLst>
                <a:ext uri="{FF2B5EF4-FFF2-40B4-BE49-F238E27FC236}">
                  <a16:creationId xmlns:a16="http://schemas.microsoft.com/office/drawing/2014/main" id="{E2BD1DA7-AC2F-C9CE-469C-B92245E793B0}"/>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BE98CC3F-AD8C-C905-9301-FF3F18D09940}"/>
              </a:ext>
            </a:extLst>
          </p:cNvPr>
          <p:cNvGrpSpPr/>
          <p:nvPr/>
        </p:nvGrpSpPr>
        <p:grpSpPr>
          <a:xfrm>
            <a:off x="4853273" y="255009"/>
            <a:ext cx="2687249" cy="587136"/>
            <a:chOff x="0" y="0"/>
            <a:chExt cx="4343400" cy="901700"/>
          </a:xfrm>
        </p:grpSpPr>
        <p:sp>
          <p:nvSpPr>
            <p:cNvPr id="11" name="Freeform 7">
              <a:extLst>
                <a:ext uri="{FF2B5EF4-FFF2-40B4-BE49-F238E27FC236}">
                  <a16:creationId xmlns:a16="http://schemas.microsoft.com/office/drawing/2014/main" id="{11CA09B2-2D3E-5B32-C973-791E1EA7B8B6}"/>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811084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9810E6-F4C6-9ACB-8F39-849DEF871FF5}"/>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E7650698-8095-518A-BA3F-3CD6F2F6ECBC}"/>
              </a:ext>
            </a:extLst>
          </p:cNvPr>
          <p:cNvSpPr>
            <a:spLocks noGrp="1"/>
          </p:cNvSpPr>
          <p:nvPr>
            <p:ph idx="1"/>
          </p:nvPr>
        </p:nvSpPr>
        <p:spPr/>
        <p:txBody>
          <a:bodyPr>
            <a:normAutofit/>
          </a:bodyPr>
          <a:lstStyle/>
          <a:p>
            <a:pPr marL="0" indent="0" algn="just">
              <a:buNone/>
            </a:pPr>
            <a:r>
              <a:rPr lang="es-MX" sz="1800" dirty="0"/>
              <a:t>Con el propósito de verificar el correcto funcionamiento del sistema de logs implementado en el microservicio de estudiantes, se realizaron diversas pruebas utilizando herramientas de consumo de servicios REST y monitoreo de aplicaciones. Estas pruebas permitieron validar el comportamiento de los </a:t>
            </a:r>
            <a:r>
              <a:rPr lang="es-MX" sz="1800" dirty="0" err="1"/>
              <a:t>endpoints</a:t>
            </a:r>
            <a:r>
              <a:rPr lang="es-MX" sz="1800" dirty="0"/>
              <a:t> desarrollados, así como la correcta generación de mensajes de registro durante las operaciones de consulta, inserción de datos y comunicación entre microservicios. Los ejercicios realizados proporcionan evidencia del funcionamiento adecuado de la aplicación y de la utilidad de los logs para el seguimiento de las actividades ejecutadas por el sistema.</a:t>
            </a:r>
          </a:p>
        </p:txBody>
      </p:sp>
    </p:spTree>
    <p:extLst>
      <p:ext uri="{BB962C8B-B14F-4D97-AF65-F5344CB8AC3E}">
        <p14:creationId xmlns:p14="http://schemas.microsoft.com/office/powerpoint/2010/main" val="207140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33DF48-3B47-D9AA-1591-D6FC0986A8F2}"/>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C6EFF68D-DB45-6EDE-F252-4FE61848ED57}"/>
              </a:ext>
            </a:extLst>
          </p:cNvPr>
          <p:cNvSpPr>
            <a:spLocks noGrp="1"/>
          </p:cNvSpPr>
          <p:nvPr>
            <p:ph idx="1"/>
          </p:nvPr>
        </p:nvSpPr>
        <p:spPr/>
        <p:txBody>
          <a:bodyPr>
            <a:normAutofit/>
          </a:bodyPr>
          <a:lstStyle/>
          <a:p>
            <a:pPr marL="0" indent="0" algn="just">
              <a:buNone/>
            </a:pPr>
            <a:r>
              <a:rPr lang="es-MX" sz="2000" dirty="0"/>
              <a:t>La realización de un banco de ejercicios es necesaria para comprobar que la implementación de los logs cumple con los objetivos planteados en la práctica. Mediante la ejecución de pruebas controladas se puede verificar que los mensajes de registro se generan correctamente durante cada operación realizada por los usuarios o por los propios microservicios. Además, estas evidencias permiten demostrar el funcionamiento de la arquitectura implementada, facilitando la detección de errores, el monitoreo de eventos y la validación de los resultados obtenidos durante el desarrollo de la práctica.</a:t>
            </a:r>
          </a:p>
        </p:txBody>
      </p:sp>
    </p:spTree>
    <p:extLst>
      <p:ext uri="{BB962C8B-B14F-4D97-AF65-F5344CB8AC3E}">
        <p14:creationId xmlns:p14="http://schemas.microsoft.com/office/powerpoint/2010/main" val="212582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BDFF6F-BE35-5840-F59F-FBE581E9C285}"/>
              </a:ext>
            </a:extLst>
          </p:cNvPr>
          <p:cNvSpPr>
            <a:spLocks noGrp="1"/>
          </p:cNvSpPr>
          <p:nvPr>
            <p:ph type="title"/>
          </p:nvPr>
        </p:nvSpPr>
        <p:spPr>
          <a:xfrm>
            <a:off x="1534884" y="528411"/>
            <a:ext cx="10570029" cy="329833"/>
          </a:xfrm>
        </p:spPr>
        <p:txBody>
          <a:bodyPr>
            <a:noAutofit/>
          </a:bodyPr>
          <a:lstStyle/>
          <a:p>
            <a:r>
              <a:rPr lang="es-MX" sz="4000" dirty="0"/>
              <a:t>1. Registro de un estudiante mediante POST</a:t>
            </a:r>
          </a:p>
        </p:txBody>
      </p:sp>
      <p:sp>
        <p:nvSpPr>
          <p:cNvPr id="5" name="CuadroTexto 4">
            <a:extLst>
              <a:ext uri="{FF2B5EF4-FFF2-40B4-BE49-F238E27FC236}">
                <a16:creationId xmlns:a16="http://schemas.microsoft.com/office/drawing/2014/main" id="{B16DF1AE-9ABE-9903-4A9F-A92D6240FE69}"/>
              </a:ext>
            </a:extLst>
          </p:cNvPr>
          <p:cNvSpPr txBox="1"/>
          <p:nvPr/>
        </p:nvSpPr>
        <p:spPr>
          <a:xfrm>
            <a:off x="511628" y="1032415"/>
            <a:ext cx="11397343" cy="923330"/>
          </a:xfrm>
          <a:prstGeom prst="rect">
            <a:avLst/>
          </a:prstGeom>
          <a:noFill/>
        </p:spPr>
        <p:txBody>
          <a:bodyPr wrap="square">
            <a:spAutoFit/>
          </a:bodyPr>
          <a:lstStyle/>
          <a:p>
            <a:pPr algn="just"/>
            <a:r>
              <a:rPr lang="es-MX" dirty="0"/>
              <a:t>Se realizó una petición POST al </a:t>
            </a:r>
            <a:r>
              <a:rPr lang="es-MX" dirty="0" err="1"/>
              <a:t>endpoint</a:t>
            </a:r>
            <a:r>
              <a:rPr lang="es-MX" dirty="0"/>
              <a:t> /</a:t>
            </a:r>
            <a:r>
              <a:rPr lang="es-MX" dirty="0" err="1"/>
              <a:t>students</a:t>
            </a:r>
            <a:r>
              <a:rPr lang="es-MX" dirty="0"/>
              <a:t> enviando la información de un nuevo estudiante. El sistema procesó correctamente la solicitud, generó los logs correspondientes y devolvió una respuesta exitosa con el identificador asignado.</a:t>
            </a:r>
          </a:p>
        </p:txBody>
      </p:sp>
      <p:pic>
        <p:nvPicPr>
          <p:cNvPr id="6" name="Imagen 5">
            <a:extLst>
              <a:ext uri="{FF2B5EF4-FFF2-40B4-BE49-F238E27FC236}">
                <a16:creationId xmlns:a16="http://schemas.microsoft.com/office/drawing/2014/main" id="{53FE14E6-8CFF-5C09-C9E7-B9626A0BF843}"/>
              </a:ext>
            </a:extLst>
          </p:cNvPr>
          <p:cNvPicPr>
            <a:picLocks noChangeAspect="1"/>
          </p:cNvPicPr>
          <p:nvPr/>
        </p:nvPicPr>
        <p:blipFill>
          <a:blip r:embed="rId2"/>
          <a:srcRect l="275" r="18" b="-458"/>
          <a:stretch/>
        </p:blipFill>
        <p:spPr>
          <a:xfrm>
            <a:off x="1717676" y="2031945"/>
            <a:ext cx="8756648" cy="4488598"/>
          </a:xfrm>
          <a:prstGeom prst="rect">
            <a:avLst/>
          </a:prstGeom>
        </p:spPr>
      </p:pic>
    </p:spTree>
    <p:extLst>
      <p:ext uri="{BB962C8B-B14F-4D97-AF65-F5344CB8AC3E}">
        <p14:creationId xmlns:p14="http://schemas.microsoft.com/office/powerpoint/2010/main" val="340350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1EC7A8-0F7C-C455-C358-A9282F1FE044}"/>
              </a:ext>
            </a:extLst>
          </p:cNvPr>
          <p:cNvSpPr>
            <a:spLocks noGrp="1"/>
          </p:cNvSpPr>
          <p:nvPr>
            <p:ph type="title"/>
          </p:nvPr>
        </p:nvSpPr>
        <p:spPr/>
        <p:txBody>
          <a:bodyPr/>
          <a:lstStyle/>
          <a:p>
            <a:r>
              <a:rPr lang="es-MX" dirty="0"/>
              <a:t>Segunda prueba </a:t>
            </a:r>
          </a:p>
        </p:txBody>
      </p:sp>
      <p:pic>
        <p:nvPicPr>
          <p:cNvPr id="4" name="Marcador de contenido 3">
            <a:extLst>
              <a:ext uri="{FF2B5EF4-FFF2-40B4-BE49-F238E27FC236}">
                <a16:creationId xmlns:a16="http://schemas.microsoft.com/office/drawing/2014/main" id="{84B26297-5101-36C4-082F-FB4B55BFC0F2}"/>
              </a:ext>
            </a:extLst>
          </p:cNvPr>
          <p:cNvPicPr>
            <a:picLocks noGrp="1" noChangeAspect="1"/>
          </p:cNvPicPr>
          <p:nvPr>
            <p:ph idx="1"/>
          </p:nvPr>
        </p:nvPicPr>
        <p:blipFill>
          <a:blip r:embed="rId2"/>
          <a:stretch>
            <a:fillRect/>
          </a:stretch>
        </p:blipFill>
        <p:spPr>
          <a:xfrm>
            <a:off x="1819501" y="1825625"/>
            <a:ext cx="8552998" cy="4351338"/>
          </a:xfrm>
          <a:prstGeom prst="rect">
            <a:avLst/>
          </a:prstGeom>
        </p:spPr>
      </p:pic>
    </p:spTree>
    <p:extLst>
      <p:ext uri="{BB962C8B-B14F-4D97-AF65-F5344CB8AC3E}">
        <p14:creationId xmlns:p14="http://schemas.microsoft.com/office/powerpoint/2010/main" val="239541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DB1200-E308-FB1B-506E-9B1FE1B88F53}"/>
              </a:ext>
            </a:extLst>
          </p:cNvPr>
          <p:cNvSpPr>
            <a:spLocks noGrp="1"/>
          </p:cNvSpPr>
          <p:nvPr>
            <p:ph type="title"/>
          </p:nvPr>
        </p:nvSpPr>
        <p:spPr>
          <a:xfrm>
            <a:off x="1197428" y="365126"/>
            <a:ext cx="10156371" cy="146504"/>
          </a:xfrm>
        </p:spPr>
        <p:txBody>
          <a:bodyPr>
            <a:normAutofit fontScale="90000"/>
          </a:bodyPr>
          <a:lstStyle/>
          <a:p>
            <a:r>
              <a:rPr lang="es-MX" dirty="0"/>
              <a:t>2. Consulta de estudiantes mediante GET</a:t>
            </a:r>
          </a:p>
        </p:txBody>
      </p:sp>
      <p:sp>
        <p:nvSpPr>
          <p:cNvPr id="4" name="CuadroTexto 3">
            <a:extLst>
              <a:ext uri="{FF2B5EF4-FFF2-40B4-BE49-F238E27FC236}">
                <a16:creationId xmlns:a16="http://schemas.microsoft.com/office/drawing/2014/main" id="{347D89CF-A3F6-4E3F-766E-3FCEF9F5AACF}"/>
              </a:ext>
            </a:extLst>
          </p:cNvPr>
          <p:cNvSpPr txBox="1"/>
          <p:nvPr/>
        </p:nvSpPr>
        <p:spPr>
          <a:xfrm>
            <a:off x="968828" y="936172"/>
            <a:ext cx="10961915" cy="923330"/>
          </a:xfrm>
          <a:prstGeom prst="rect">
            <a:avLst/>
          </a:prstGeom>
          <a:noFill/>
        </p:spPr>
        <p:txBody>
          <a:bodyPr wrap="square">
            <a:spAutoFit/>
          </a:bodyPr>
          <a:lstStyle/>
          <a:p>
            <a:pPr algn="just"/>
            <a:r>
              <a:rPr lang="es-MX" dirty="0"/>
              <a:t>Se ejecutó una petición GET al </a:t>
            </a:r>
            <a:r>
              <a:rPr lang="es-MX" dirty="0" err="1"/>
              <a:t>endpoint</a:t>
            </a:r>
            <a:r>
              <a:rPr lang="es-MX" dirty="0"/>
              <a:t> /</a:t>
            </a:r>
            <a:r>
              <a:rPr lang="es-MX" dirty="0" err="1"/>
              <a:t>students</a:t>
            </a:r>
            <a:r>
              <a:rPr lang="es-MX" dirty="0"/>
              <a:t>, obteniendo como resultado la lista de estudiantes almacenados en la base de datos. Durante la ejecución se registró el log correspondiente a la consulta realizada.</a:t>
            </a:r>
          </a:p>
        </p:txBody>
      </p:sp>
      <p:pic>
        <p:nvPicPr>
          <p:cNvPr id="5" name="Imagen 4">
            <a:extLst>
              <a:ext uri="{FF2B5EF4-FFF2-40B4-BE49-F238E27FC236}">
                <a16:creationId xmlns:a16="http://schemas.microsoft.com/office/drawing/2014/main" id="{592D1CE7-25BB-FA25-EFD9-39AA62AFFE0C}"/>
              </a:ext>
            </a:extLst>
          </p:cNvPr>
          <p:cNvPicPr>
            <a:picLocks noChangeAspect="1"/>
          </p:cNvPicPr>
          <p:nvPr/>
        </p:nvPicPr>
        <p:blipFill>
          <a:blip r:embed="rId2"/>
          <a:stretch>
            <a:fillRect/>
          </a:stretch>
        </p:blipFill>
        <p:spPr>
          <a:xfrm>
            <a:off x="1578427" y="1859502"/>
            <a:ext cx="9394371" cy="4779386"/>
          </a:xfrm>
          <a:prstGeom prst="rect">
            <a:avLst/>
          </a:prstGeom>
        </p:spPr>
      </p:pic>
    </p:spTree>
    <p:extLst>
      <p:ext uri="{BB962C8B-B14F-4D97-AF65-F5344CB8AC3E}">
        <p14:creationId xmlns:p14="http://schemas.microsoft.com/office/powerpoint/2010/main" val="1519183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B6E1A4-D698-BD45-CEF7-C03DC3E5038A}"/>
              </a:ext>
            </a:extLst>
          </p:cNvPr>
          <p:cNvSpPr>
            <a:spLocks noGrp="1"/>
          </p:cNvSpPr>
          <p:nvPr>
            <p:ph type="title"/>
          </p:nvPr>
        </p:nvSpPr>
        <p:spPr/>
        <p:txBody>
          <a:bodyPr/>
          <a:lstStyle/>
          <a:p>
            <a:r>
              <a:rPr lang="es-MX" dirty="0"/>
              <a:t>Segunda prueba</a:t>
            </a:r>
          </a:p>
        </p:txBody>
      </p:sp>
      <p:pic>
        <p:nvPicPr>
          <p:cNvPr id="4" name="Marcador de contenido 3">
            <a:extLst>
              <a:ext uri="{FF2B5EF4-FFF2-40B4-BE49-F238E27FC236}">
                <a16:creationId xmlns:a16="http://schemas.microsoft.com/office/drawing/2014/main" id="{5A4CC812-AD2C-982E-B4AE-64D54731E371}"/>
              </a:ext>
            </a:extLst>
          </p:cNvPr>
          <p:cNvPicPr>
            <a:picLocks noGrp="1" noChangeAspect="1"/>
          </p:cNvPicPr>
          <p:nvPr>
            <p:ph idx="1"/>
          </p:nvPr>
        </p:nvPicPr>
        <p:blipFill>
          <a:blip r:embed="rId2"/>
          <a:stretch>
            <a:fillRect/>
          </a:stretch>
        </p:blipFill>
        <p:spPr>
          <a:xfrm>
            <a:off x="1819501" y="1825625"/>
            <a:ext cx="8552998" cy="4351338"/>
          </a:xfrm>
          <a:prstGeom prst="rect">
            <a:avLst/>
          </a:prstGeom>
        </p:spPr>
      </p:pic>
    </p:spTree>
    <p:extLst>
      <p:ext uri="{BB962C8B-B14F-4D97-AF65-F5344CB8AC3E}">
        <p14:creationId xmlns:p14="http://schemas.microsoft.com/office/powerpoint/2010/main" val="35450753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633058-9659-0C2D-461F-E8D3EF0BB1B3}"/>
              </a:ext>
            </a:extLst>
          </p:cNvPr>
          <p:cNvSpPr>
            <a:spLocks noGrp="1"/>
          </p:cNvSpPr>
          <p:nvPr>
            <p:ph type="title"/>
          </p:nvPr>
        </p:nvSpPr>
        <p:spPr/>
        <p:txBody>
          <a:bodyPr/>
          <a:lstStyle/>
          <a:p>
            <a:r>
              <a:rPr lang="es-MX" dirty="0"/>
              <a:t>3. Verificación de logs en consola</a:t>
            </a:r>
          </a:p>
        </p:txBody>
      </p:sp>
      <p:sp>
        <p:nvSpPr>
          <p:cNvPr id="3" name="Marcador de contenido 2">
            <a:extLst>
              <a:ext uri="{FF2B5EF4-FFF2-40B4-BE49-F238E27FC236}">
                <a16:creationId xmlns:a16="http://schemas.microsoft.com/office/drawing/2014/main" id="{B6AA96EA-CED8-A066-F8C4-05202A9B7AF8}"/>
              </a:ext>
            </a:extLst>
          </p:cNvPr>
          <p:cNvSpPr>
            <a:spLocks noGrp="1"/>
          </p:cNvSpPr>
          <p:nvPr>
            <p:ph idx="1"/>
          </p:nvPr>
        </p:nvSpPr>
        <p:spPr>
          <a:xfrm>
            <a:off x="838200" y="1825625"/>
            <a:ext cx="10515600" cy="1102632"/>
          </a:xfrm>
        </p:spPr>
        <p:txBody>
          <a:bodyPr>
            <a:normAutofit fontScale="92500" lnSpcReduction="10000"/>
          </a:bodyPr>
          <a:lstStyle/>
          <a:p>
            <a:pPr marL="0" indent="0">
              <a:buNone/>
            </a:pPr>
            <a:r>
              <a:rPr lang="es-MX" dirty="0"/>
              <a:t>Los mensajes observados en la consola confirman que los logs fueron ejecutados correctamente durante las operaciones de inserción y consulta de estudiantes.</a:t>
            </a:r>
          </a:p>
        </p:txBody>
      </p:sp>
      <p:pic>
        <p:nvPicPr>
          <p:cNvPr id="4" name="Imagen 3">
            <a:extLst>
              <a:ext uri="{FF2B5EF4-FFF2-40B4-BE49-F238E27FC236}">
                <a16:creationId xmlns:a16="http://schemas.microsoft.com/office/drawing/2014/main" id="{ABC3636D-C7A9-7EF3-6A63-8E433853E0EA}"/>
              </a:ext>
            </a:extLst>
          </p:cNvPr>
          <p:cNvPicPr>
            <a:picLocks noChangeAspect="1"/>
          </p:cNvPicPr>
          <p:nvPr/>
        </p:nvPicPr>
        <p:blipFill>
          <a:blip r:embed="rId2"/>
          <a:srcRect t="49999" b="1"/>
          <a:stretch/>
        </p:blipFill>
        <p:spPr>
          <a:xfrm>
            <a:off x="838200" y="2969049"/>
            <a:ext cx="11049000" cy="2810589"/>
          </a:xfrm>
          <a:prstGeom prst="rect">
            <a:avLst/>
          </a:prstGeom>
        </p:spPr>
      </p:pic>
    </p:spTree>
    <p:extLst>
      <p:ext uri="{BB962C8B-B14F-4D97-AF65-F5344CB8AC3E}">
        <p14:creationId xmlns:p14="http://schemas.microsoft.com/office/powerpoint/2010/main" val="12583481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F9548E-0D10-3624-D96F-25E65B4ACB7B}"/>
              </a:ext>
            </a:extLst>
          </p:cNvPr>
          <p:cNvSpPr>
            <a:spLocks noGrp="1"/>
          </p:cNvSpPr>
          <p:nvPr>
            <p:ph type="title"/>
          </p:nvPr>
        </p:nvSpPr>
        <p:spPr/>
        <p:txBody>
          <a:bodyPr/>
          <a:lstStyle/>
          <a:p>
            <a:r>
              <a:rPr lang="es-MX" dirty="0"/>
              <a:t>4. Verificación en base de datos</a:t>
            </a:r>
          </a:p>
        </p:txBody>
      </p:sp>
      <p:sp>
        <p:nvSpPr>
          <p:cNvPr id="7" name="CuadroTexto 6">
            <a:extLst>
              <a:ext uri="{FF2B5EF4-FFF2-40B4-BE49-F238E27FC236}">
                <a16:creationId xmlns:a16="http://schemas.microsoft.com/office/drawing/2014/main" id="{163A5D39-C53A-0B41-20E7-C7EB38227BE0}"/>
              </a:ext>
            </a:extLst>
          </p:cNvPr>
          <p:cNvSpPr txBox="1"/>
          <p:nvPr/>
        </p:nvSpPr>
        <p:spPr>
          <a:xfrm>
            <a:off x="947056" y="1544322"/>
            <a:ext cx="10515599" cy="646331"/>
          </a:xfrm>
          <a:prstGeom prst="rect">
            <a:avLst/>
          </a:prstGeom>
          <a:noFill/>
        </p:spPr>
        <p:txBody>
          <a:bodyPr wrap="square">
            <a:spAutoFit/>
          </a:bodyPr>
          <a:lstStyle/>
          <a:p>
            <a:r>
              <a:rPr lang="es-MX" dirty="0"/>
              <a:t>Se verificó que los registros enviados mediante las peticiones POST fueron almacenados correctamente en la tabla </a:t>
            </a:r>
            <a:r>
              <a:rPr lang="es-MX" dirty="0" err="1"/>
              <a:t>student</a:t>
            </a:r>
            <a:r>
              <a:rPr lang="es-MX" dirty="0"/>
              <a:t>, comprobando la integridad de la información.</a:t>
            </a:r>
          </a:p>
        </p:txBody>
      </p:sp>
      <p:pic>
        <p:nvPicPr>
          <p:cNvPr id="8" name="Imagen 7">
            <a:extLst>
              <a:ext uri="{FF2B5EF4-FFF2-40B4-BE49-F238E27FC236}">
                <a16:creationId xmlns:a16="http://schemas.microsoft.com/office/drawing/2014/main" id="{A8ADD055-1EBD-81CF-D653-B85A98F651F3}"/>
              </a:ext>
            </a:extLst>
          </p:cNvPr>
          <p:cNvPicPr>
            <a:picLocks noChangeAspect="1"/>
          </p:cNvPicPr>
          <p:nvPr/>
        </p:nvPicPr>
        <p:blipFill>
          <a:blip r:embed="rId2"/>
          <a:stretch>
            <a:fillRect/>
          </a:stretch>
        </p:blipFill>
        <p:spPr>
          <a:xfrm>
            <a:off x="1763486" y="2190653"/>
            <a:ext cx="8469086" cy="4308648"/>
          </a:xfrm>
          <a:prstGeom prst="rect">
            <a:avLst/>
          </a:prstGeom>
        </p:spPr>
      </p:pic>
    </p:spTree>
    <p:extLst>
      <p:ext uri="{BB962C8B-B14F-4D97-AF65-F5344CB8AC3E}">
        <p14:creationId xmlns:p14="http://schemas.microsoft.com/office/powerpoint/2010/main" val="3039613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E42B21-E6F1-B17D-C560-7FD3756B05B2}"/>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7C9EED95-56A7-B541-08D7-8E38C834BC2B}"/>
              </a:ext>
            </a:extLst>
          </p:cNvPr>
          <p:cNvSpPr>
            <a:spLocks noGrp="1"/>
          </p:cNvSpPr>
          <p:nvPr>
            <p:ph idx="1"/>
          </p:nvPr>
        </p:nvSpPr>
        <p:spPr/>
        <p:txBody>
          <a:bodyPr>
            <a:normAutofit/>
          </a:bodyPr>
          <a:lstStyle/>
          <a:p>
            <a:pPr marL="0" indent="0" algn="just">
              <a:buNone/>
            </a:pPr>
            <a:r>
              <a:rPr lang="es-MX" sz="2000" dirty="0"/>
              <a:t>Durante la práctica se implementó un sistema de registros utilizando SLF4J dentro del microservicio de estudiantes. Los logs permitieron monitorear las operaciones de consulta, registro y comunicación entre microservicios, facilitando la supervisión del sistema y la detección de posibles errores. Además, se comprobó mediante pruebas realizadas con Bruno, Eureka y </a:t>
            </a:r>
            <a:r>
              <a:rPr lang="es-MX" sz="2000" dirty="0" err="1"/>
              <a:t>DBeaver</a:t>
            </a:r>
            <a:r>
              <a:rPr lang="es-MX" sz="2000" dirty="0"/>
              <a:t> que los registros generados reflejan correctamente las operaciones ejecutadas por la aplicación.</a:t>
            </a:r>
          </a:p>
        </p:txBody>
      </p:sp>
    </p:spTree>
    <p:extLst>
      <p:ext uri="{BB962C8B-B14F-4D97-AF65-F5344CB8AC3E}">
        <p14:creationId xmlns:p14="http://schemas.microsoft.com/office/powerpoint/2010/main" val="269372249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489</Words>
  <Application>Microsoft Office PowerPoint</Application>
  <PresentationFormat>Panorámica</PresentationFormat>
  <Paragraphs>37</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Aptos Display</vt:lpstr>
      <vt:lpstr>Arial</vt:lpstr>
      <vt:lpstr>Century Gothic</vt:lpstr>
      <vt:lpstr>Tema de Office</vt:lpstr>
      <vt:lpstr>Presentación de PowerPoint</vt:lpstr>
      <vt:lpstr>Introducción </vt:lpstr>
      <vt:lpstr>Justificación </vt:lpstr>
      <vt:lpstr>1. Registro de un estudiante mediante POST</vt:lpstr>
      <vt:lpstr>Segunda prueba </vt:lpstr>
      <vt:lpstr>2. Consulta de estudiantes mediante GET</vt:lpstr>
      <vt:lpstr>Segunda prueba</vt:lpstr>
      <vt:lpstr>3. Verificación de logs en consola</vt:lpstr>
      <vt:lpstr>4. Verificación en base de datos</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2026-05-30T18:00:15Z</dcterms:created>
  <dcterms:modified xsi:type="dcterms:W3CDTF">2026-05-30T18:26:00Z</dcterms:modified>
</cp:coreProperties>
</file>